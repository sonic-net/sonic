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94" r:id="rId6"/>
    <p:sldId id="289" r:id="rId7"/>
    <p:sldId id="260" r:id="rId8"/>
    <p:sldId id="261" r:id="rId9"/>
    <p:sldId id="263" r:id="rId10"/>
    <p:sldId id="265" r:id="rId11"/>
    <p:sldId id="291" r:id="rId12"/>
    <p:sldId id="287" r:id="rId13"/>
    <p:sldId id="293" r:id="rId14"/>
    <p:sldId id="286" r:id="rId15"/>
    <p:sldId id="266" r:id="rId16"/>
    <p:sldId id="290" r:id="rId17"/>
    <p:sldId id="262" r:id="rId18"/>
    <p:sldId id="264" r:id="rId19"/>
    <p:sldId id="267" r:id="rId20"/>
    <p:sldId id="292" r:id="rId21"/>
    <p:sldId id="278" r:id="rId22"/>
    <p:sldId id="279" r:id="rId23"/>
    <p:sldId id="281" r:id="rId24"/>
    <p:sldId id="282" r:id="rId25"/>
    <p:sldId id="28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11"/>
    <p:restoredTop sz="94691"/>
  </p:normalViewPr>
  <p:slideViewPr>
    <p:cSldViewPr snapToGrid="0" snapToObjects="1">
      <p:cViewPr varScale="1">
        <p:scale>
          <a:sx n="111" d="100"/>
          <a:sy n="111" d="100"/>
        </p:scale>
        <p:origin x="216" y="19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00AC1C-B646-3143-B070-B0746334FE92}" type="datetimeFigureOut">
              <a:rPr lang="en-US" smtClean="0"/>
              <a:t>3/31/26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C31695-59BA-194C-BA57-06D49A71AC7D}" type="slidenum">
              <a:rPr lang="en-US" smtClean="0"/>
              <a:t>‹#›</a:t>
            </a:fld>
            <a:endParaRPr lang="en-US"/>
          </a:p>
        </p:txBody>
      </p:sp>
    </p:spTree>
    <p:extLst>
      <p:ext uri="{BB962C8B-B14F-4D97-AF65-F5344CB8AC3E}">
        <p14:creationId xmlns:p14="http://schemas.microsoft.com/office/powerpoint/2010/main" val="2767739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defRPr sz="1600">
                <a:solidFill>
                  <a:srgbClr val="333333"/>
                </a:solidFill>
              </a:defRPr>
            </a:pPr>
            <a:r>
              <a:rPr lang="en-US" dirty="0"/>
              <a:t>However, different chassis platforms have different hardware profiles and operational needs</a:t>
            </a:r>
          </a:p>
          <a:p>
            <a:pPr>
              <a:spcAft>
                <a:spcPts val="600"/>
              </a:spcAft>
              <a:defRPr sz="1600">
                <a:solidFill>
                  <a:srgbClr val="333333"/>
                </a:solidFill>
              </a:defRPr>
            </a:pPr>
            <a:r>
              <a:rPr lang="en-US" dirty="0"/>
              <a:t>Not all platforms have the resources to run full </a:t>
            </a:r>
            <a:r>
              <a:rPr lang="en-US" dirty="0" err="1"/>
              <a:t>SONiC</a:t>
            </a:r>
            <a:r>
              <a:rPr lang="en-US" dirty="0"/>
              <a:t> instances on every line card</a:t>
            </a:r>
          </a:p>
          <a:p>
            <a:endParaRPr lang="en-US" dirty="0"/>
          </a:p>
        </p:txBody>
      </p:sp>
      <p:sp>
        <p:nvSpPr>
          <p:cNvPr id="4" name="Slide Number Placeholder 3"/>
          <p:cNvSpPr>
            <a:spLocks noGrp="1"/>
          </p:cNvSpPr>
          <p:nvPr>
            <p:ph type="sldNum" sz="quarter" idx="5"/>
          </p:nvPr>
        </p:nvSpPr>
        <p:spPr/>
        <p:txBody>
          <a:bodyPr/>
          <a:lstStyle/>
          <a:p>
            <a:fld id="{FCC31695-59BA-194C-BA57-06D49A71AC7D}" type="slidenum">
              <a:rPr lang="en-US" smtClean="0"/>
              <a:t>3</a:t>
            </a:fld>
            <a:endParaRPr lang="en-US"/>
          </a:p>
        </p:txBody>
      </p:sp>
    </p:spTree>
    <p:extLst>
      <p:ext uri="{BB962C8B-B14F-4D97-AF65-F5344CB8AC3E}">
        <p14:creationId xmlns:p14="http://schemas.microsoft.com/office/powerpoint/2010/main" val="3469488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0A40D-7E06-8CC8-D03B-65ED37805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D3286-0BD3-BAB4-84CF-3F2FD53FF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D59BA0-DF5C-E699-5BE1-DB81E081BF2F}"/>
              </a:ext>
            </a:extLst>
          </p:cNvPr>
          <p:cNvSpPr>
            <a:spLocks noGrp="1"/>
          </p:cNvSpPr>
          <p:nvPr>
            <p:ph type="body" idx="1"/>
          </p:nvPr>
        </p:nvSpPr>
        <p:spPr/>
        <p:txBody>
          <a:bodyPr/>
          <a:lstStyle/>
          <a:p>
            <a:r>
              <a:rPr lang="en-US" dirty="0"/>
              <a:t>(*) since system-port list is immutable after </a:t>
            </a:r>
            <a:r>
              <a:rPr lang="en-US" dirty="0" err="1"/>
              <a:t>create_switch</a:t>
            </a:r>
            <a:r>
              <a:rPr lang="en-US" dirty="0"/>
              <a:t> SAI API is called, OIR is limited to replacing the like-kind line-card in a slot.</a:t>
            </a:r>
          </a:p>
        </p:txBody>
      </p:sp>
      <p:sp>
        <p:nvSpPr>
          <p:cNvPr id="4" name="Slide Number Placeholder 3">
            <a:extLst>
              <a:ext uri="{FF2B5EF4-FFF2-40B4-BE49-F238E27FC236}">
                <a16:creationId xmlns:a16="http://schemas.microsoft.com/office/drawing/2014/main" id="{5B7F3F17-2292-35E7-77BE-46141A35EC33}"/>
              </a:ext>
            </a:extLst>
          </p:cNvPr>
          <p:cNvSpPr>
            <a:spLocks noGrp="1"/>
          </p:cNvSpPr>
          <p:nvPr>
            <p:ph type="sldNum" sz="quarter" idx="5"/>
          </p:nvPr>
        </p:nvSpPr>
        <p:spPr/>
        <p:txBody>
          <a:bodyPr/>
          <a:lstStyle/>
          <a:p>
            <a:fld id="{FCC31695-59BA-194C-BA57-06D49A71AC7D}" type="slidenum">
              <a:rPr lang="en-US" smtClean="0"/>
              <a:t>5</a:t>
            </a:fld>
            <a:endParaRPr lang="en-US"/>
          </a:p>
        </p:txBody>
      </p:sp>
    </p:spTree>
    <p:extLst>
      <p:ext uri="{BB962C8B-B14F-4D97-AF65-F5344CB8AC3E}">
        <p14:creationId xmlns:p14="http://schemas.microsoft.com/office/powerpoint/2010/main" val="4276559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since system-port list is immutable after </a:t>
            </a:r>
            <a:r>
              <a:rPr lang="en-US" dirty="0" err="1"/>
              <a:t>create_switch</a:t>
            </a:r>
            <a:r>
              <a:rPr lang="en-US" dirty="0"/>
              <a:t> SAI API is called, OIR is limited to replacing the like-kind line-card in a slot.</a:t>
            </a:r>
          </a:p>
        </p:txBody>
      </p:sp>
      <p:sp>
        <p:nvSpPr>
          <p:cNvPr id="4" name="Slide Number Placeholder 3"/>
          <p:cNvSpPr>
            <a:spLocks noGrp="1"/>
          </p:cNvSpPr>
          <p:nvPr>
            <p:ph type="sldNum" sz="quarter" idx="5"/>
          </p:nvPr>
        </p:nvSpPr>
        <p:spPr/>
        <p:txBody>
          <a:bodyPr/>
          <a:lstStyle/>
          <a:p>
            <a:fld id="{FCC31695-59BA-194C-BA57-06D49A71AC7D}" type="slidenum">
              <a:rPr lang="en-US" smtClean="0"/>
              <a:t>6</a:t>
            </a:fld>
            <a:endParaRPr lang="en-US"/>
          </a:p>
        </p:txBody>
      </p:sp>
    </p:spTree>
    <p:extLst>
      <p:ext uri="{BB962C8B-B14F-4D97-AF65-F5344CB8AC3E}">
        <p14:creationId xmlns:p14="http://schemas.microsoft.com/office/powerpoint/2010/main" val="3373343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Rationales for Opt-In: (1) feature code isolation during initial deployment/development, and (2) upgrade to Centralized Chassis architecture does not requires EEPROM reprogram</a:t>
            </a:r>
          </a:p>
        </p:txBody>
      </p:sp>
      <p:sp>
        <p:nvSpPr>
          <p:cNvPr id="4" name="Slide Number Placeholder 3"/>
          <p:cNvSpPr>
            <a:spLocks noGrp="1"/>
          </p:cNvSpPr>
          <p:nvPr>
            <p:ph type="sldNum" sz="quarter" idx="5"/>
          </p:nvPr>
        </p:nvSpPr>
        <p:spPr/>
        <p:txBody>
          <a:bodyPr/>
          <a:lstStyle/>
          <a:p>
            <a:fld id="{FCC31695-59BA-194C-BA57-06D49A71AC7D}" type="slidenum">
              <a:rPr lang="en-US" smtClean="0"/>
              <a:t>7</a:t>
            </a:fld>
            <a:endParaRPr lang="en-US"/>
          </a:p>
        </p:txBody>
      </p:sp>
    </p:spTree>
    <p:extLst>
      <p:ext uri="{BB962C8B-B14F-4D97-AF65-F5344CB8AC3E}">
        <p14:creationId xmlns:p14="http://schemas.microsoft.com/office/powerpoint/2010/main" val="499910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plugin in config-setup that allows platform to generate the default configuration for the chassis if existing configuration is not found. It is up to the platform to decide how the chassis configuration is generated, and this will affect how OIR will be handled.</a:t>
            </a:r>
          </a:p>
        </p:txBody>
      </p:sp>
      <p:sp>
        <p:nvSpPr>
          <p:cNvPr id="4" name="Slide Number Placeholder 3"/>
          <p:cNvSpPr>
            <a:spLocks noGrp="1"/>
          </p:cNvSpPr>
          <p:nvPr>
            <p:ph type="sldNum" sz="quarter" idx="5"/>
          </p:nvPr>
        </p:nvSpPr>
        <p:spPr/>
        <p:txBody>
          <a:bodyPr/>
          <a:lstStyle/>
          <a:p>
            <a:fld id="{FCC31695-59BA-194C-BA57-06D49A71AC7D}" type="slidenum">
              <a:rPr lang="en-US" smtClean="0"/>
              <a:t>11</a:t>
            </a:fld>
            <a:endParaRPr lang="en-US"/>
          </a:p>
        </p:txBody>
      </p:sp>
    </p:spTree>
    <p:extLst>
      <p:ext uri="{BB962C8B-B14F-4D97-AF65-F5344CB8AC3E}">
        <p14:creationId xmlns:p14="http://schemas.microsoft.com/office/powerpoint/2010/main" val="1282980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E7CC8F9C-2781-2A23-FC96-4BAA963734B5}"/>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huanlev/SONiC/blob/project/centralized-voq-hld/doc/centralized-chassis/voq_chassis_hld.md"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9FD9"/>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646331"/>
          </a:xfrm>
          <a:prstGeom prst="rect">
            <a:avLst/>
          </a:prstGeom>
          <a:noFill/>
        </p:spPr>
        <p:txBody>
          <a:bodyPr wrap="square">
            <a:spAutoFit/>
          </a:bodyPr>
          <a:lstStyle/>
          <a:p>
            <a:pPr algn="l">
              <a:defRPr sz="3600" b="1">
                <a:solidFill>
                  <a:srgbClr val="FFFFFF"/>
                </a:solidFill>
              </a:defRPr>
            </a:pPr>
            <a:r>
              <a:rPr lang="en-US" dirty="0"/>
              <a:t>Centralized Chassis</a:t>
            </a:r>
            <a:r>
              <a:rPr dirty="0"/>
              <a:t> </a:t>
            </a:r>
            <a:r>
              <a:rPr dirty="0" err="1"/>
              <a:t>SONiC</a:t>
            </a:r>
            <a:r>
              <a:rPr lang="en-US" dirty="0"/>
              <a:t> Platform</a:t>
            </a:r>
            <a:endParaRPr dirty="0"/>
          </a:p>
        </p:txBody>
      </p:sp>
      <p:sp>
        <p:nvSpPr>
          <p:cNvPr id="3" name="TextBox 2"/>
          <p:cNvSpPr txBox="1"/>
          <p:nvPr/>
        </p:nvSpPr>
        <p:spPr>
          <a:xfrm>
            <a:off x="914400" y="3474720"/>
            <a:ext cx="10058400" cy="1200329"/>
          </a:xfrm>
          <a:prstGeom prst="rect">
            <a:avLst/>
          </a:prstGeom>
          <a:noFill/>
        </p:spPr>
        <p:txBody>
          <a:bodyPr wrap="square">
            <a:spAutoFit/>
          </a:bodyPr>
          <a:lstStyle/>
          <a:p>
            <a:pPr algn="l">
              <a:defRPr sz="1800">
                <a:solidFill>
                  <a:srgbClr val="FFFFFF"/>
                </a:solidFill>
              </a:defRPr>
            </a:pPr>
            <a:r>
              <a:rPr dirty="0"/>
              <a:t>A Centralized Architecture for Chassis-Based Systems</a:t>
            </a:r>
            <a:br>
              <a:rPr dirty="0"/>
            </a:br>
            <a:br>
              <a:rPr dirty="0"/>
            </a:br>
            <a:r>
              <a:rPr dirty="0"/>
              <a:t>Cisco Systems</a:t>
            </a:r>
            <a:br>
              <a:rPr dirty="0"/>
            </a:br>
            <a:r>
              <a:rPr lang="en-US" dirty="0"/>
              <a:t>March</a:t>
            </a:r>
            <a:r>
              <a:rPr dirty="0"/>
              <a:t> 202</a:t>
            </a:r>
            <a:r>
              <a:rPr lang="en-US" dirty="0"/>
              <a:t>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9FD9"/>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1828800"/>
          </a:xfrm>
          <a:prstGeom prst="rect">
            <a:avLst/>
          </a:prstGeom>
          <a:noFill/>
        </p:spPr>
        <p:txBody>
          <a:bodyPr wrap="square">
            <a:spAutoFit/>
          </a:bodyPr>
          <a:lstStyle/>
          <a:p>
            <a:pPr algn="l">
              <a:defRPr sz="3200" b="1">
                <a:solidFill>
                  <a:srgbClr val="FFFFFF"/>
                </a:solidFill>
              </a:defRPr>
            </a:pPr>
            <a:r>
              <a:t>Context and Motivation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800" b="1">
                <a:solidFill>
                  <a:srgbClr val="333333"/>
                </a:solidFill>
              </a:defRPr>
            </a:pPr>
            <a:r>
              <a:t>SONiC Chassis Landscape Today</a:t>
            </a:r>
          </a:p>
        </p:txBody>
      </p:sp>
      <p:sp>
        <p:nvSpPr>
          <p:cNvPr id="3" name="TextBox 2"/>
          <p:cNvSpPr txBox="1"/>
          <p:nvPr/>
        </p:nvSpPr>
        <p:spPr>
          <a:xfrm>
            <a:off x="6531939" y="1382199"/>
            <a:ext cx="4901609" cy="2092881"/>
          </a:xfrm>
          <a:prstGeom prst="rect">
            <a:avLst/>
          </a:prstGeom>
          <a:noFill/>
          <a:ln>
            <a:solidFill>
              <a:schemeClr val="accent1"/>
            </a:solidFill>
          </a:ln>
        </p:spPr>
        <p:txBody>
          <a:bodyPr wrap="square">
            <a:spAutoFit/>
          </a:bodyPr>
          <a:lstStyle/>
          <a:p>
            <a:pPr>
              <a:spcAft>
                <a:spcPts val="600"/>
              </a:spcAft>
              <a:defRPr sz="1600">
                <a:solidFill>
                  <a:srgbClr val="333333"/>
                </a:solidFill>
              </a:defRPr>
            </a:pPr>
            <a:r>
              <a:rPr lang="en-US" sz="2000" dirty="0"/>
              <a:t>Distributed C</a:t>
            </a:r>
            <a:r>
              <a:rPr sz="2000" dirty="0"/>
              <a:t>hassis is the established </a:t>
            </a:r>
            <a:r>
              <a:rPr sz="2000" dirty="0" err="1"/>
              <a:t>SONiC</a:t>
            </a:r>
            <a:r>
              <a:rPr sz="2000" dirty="0"/>
              <a:t> architecture for modular systems</a:t>
            </a:r>
          </a:p>
          <a:p>
            <a:pPr>
              <a:spcAft>
                <a:spcPts val="600"/>
              </a:spcAft>
              <a:defRPr sz="1600">
                <a:solidFill>
                  <a:srgbClr val="333333"/>
                </a:solidFill>
              </a:defRPr>
            </a:pPr>
            <a:r>
              <a:rPr sz="2000" dirty="0"/>
              <a:t>Each line card runs a full </a:t>
            </a:r>
            <a:r>
              <a:rPr sz="2000" dirty="0" err="1"/>
              <a:t>SONiC</a:t>
            </a:r>
            <a:r>
              <a:rPr sz="2000" dirty="0"/>
              <a:t> instance with independent control plane</a:t>
            </a:r>
          </a:p>
          <a:p>
            <a:pPr>
              <a:spcAft>
                <a:spcPts val="600"/>
              </a:spcAft>
              <a:defRPr sz="1600">
                <a:solidFill>
                  <a:srgbClr val="333333"/>
                </a:solidFill>
              </a:defRPr>
            </a:pPr>
            <a:r>
              <a:rPr sz="2000" dirty="0"/>
              <a:t>Strengths: fault isolation per LC, independent scaling, proven in production</a:t>
            </a:r>
            <a:endParaRPr lang="en-US" sz="2000" dirty="0"/>
          </a:p>
        </p:txBody>
      </p:sp>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
        <p:nvSpPr>
          <p:cNvPr id="5" name="TextBox 4">
            <a:extLst>
              <a:ext uri="{FF2B5EF4-FFF2-40B4-BE49-F238E27FC236}">
                <a16:creationId xmlns:a16="http://schemas.microsoft.com/office/drawing/2014/main" id="{3295E4D2-B026-98F1-ADAA-2B62686A262C}"/>
              </a:ext>
            </a:extLst>
          </p:cNvPr>
          <p:cNvSpPr txBox="1"/>
          <p:nvPr/>
        </p:nvSpPr>
        <p:spPr>
          <a:xfrm>
            <a:off x="758454" y="1164162"/>
            <a:ext cx="4816549" cy="4016484"/>
          </a:xfrm>
          <a:prstGeom prst="rect">
            <a:avLst/>
          </a:prstGeom>
          <a:noFill/>
        </p:spPr>
        <p:txBody>
          <a:bodyPr wrap="square">
            <a:spAutoFit/>
          </a:bodyPr>
          <a:lstStyle/>
          <a:p>
            <a:pPr marL="342900" indent="-342900">
              <a:spcAft>
                <a:spcPts val="600"/>
              </a:spcAft>
              <a:buFont typeface="Arial" panose="020B0604020202020204" pitchFamily="34" charset="0"/>
              <a:buChar char="•"/>
              <a:defRPr sz="1600">
                <a:solidFill>
                  <a:srgbClr val="333333"/>
                </a:solidFill>
              </a:defRPr>
            </a:pPr>
            <a:r>
              <a:rPr lang="en-US" sz="2400" b="1" i="1" dirty="0"/>
              <a:t>Distributed Architecture </a:t>
            </a:r>
            <a:r>
              <a:rPr lang="en-US" sz="2400" dirty="0"/>
              <a:t>for Modular Chassis Systems, in either VOQ (chassis-</a:t>
            </a:r>
            <a:r>
              <a:rPr lang="en-US" sz="2400" dirty="0" err="1"/>
              <a:t>voq</a:t>
            </a:r>
            <a:r>
              <a:rPr lang="en-US" sz="2400" dirty="0"/>
              <a:t>) or Packet Fabric (chassis-packet)</a:t>
            </a:r>
          </a:p>
          <a:p>
            <a:pPr marL="342900" indent="-342900">
              <a:spcAft>
                <a:spcPts val="600"/>
              </a:spcAft>
              <a:buFont typeface="Arial" panose="020B0604020202020204" pitchFamily="34" charset="0"/>
              <a:buChar char="•"/>
              <a:defRPr sz="1600">
                <a:solidFill>
                  <a:srgbClr val="333333"/>
                </a:solidFill>
              </a:defRPr>
            </a:pPr>
            <a:r>
              <a:rPr lang="en-US" sz="2400" dirty="0"/>
              <a:t>Multi-NPU</a:t>
            </a:r>
          </a:p>
          <a:p>
            <a:pPr marL="342900" indent="-342900">
              <a:spcAft>
                <a:spcPts val="600"/>
              </a:spcAft>
              <a:buFont typeface="Arial" panose="020B0604020202020204" pitchFamily="34" charset="0"/>
              <a:buChar char="•"/>
              <a:defRPr sz="1600">
                <a:solidFill>
                  <a:srgbClr val="333333"/>
                </a:solidFill>
              </a:defRPr>
            </a:pPr>
            <a:r>
              <a:rPr lang="en-US" sz="2400" dirty="0"/>
              <a:t>Each NPU has its own </a:t>
            </a:r>
            <a:r>
              <a:rPr lang="en-US" sz="2400" dirty="0" err="1"/>
              <a:t>SONiC</a:t>
            </a:r>
            <a:r>
              <a:rPr lang="en-US" sz="2400" dirty="0"/>
              <a:t> network stack/services</a:t>
            </a:r>
          </a:p>
          <a:p>
            <a:pPr marL="342900" indent="-342900">
              <a:spcAft>
                <a:spcPts val="600"/>
              </a:spcAft>
              <a:buFont typeface="Arial" panose="020B0604020202020204" pitchFamily="34" charset="0"/>
              <a:buChar char="•"/>
              <a:defRPr sz="1600">
                <a:solidFill>
                  <a:srgbClr val="333333"/>
                </a:solidFill>
              </a:defRPr>
            </a:pPr>
            <a:r>
              <a:rPr lang="en-US" sz="2400" dirty="0"/>
              <a:t>Full-Mesh iBGP among switch NPUs to share their external routing information</a:t>
            </a:r>
            <a:endParaRPr sz="2400" dirty="0"/>
          </a:p>
        </p:txBody>
      </p:sp>
      <p:sp>
        <p:nvSpPr>
          <p:cNvPr id="7" name="TextBox 6">
            <a:extLst>
              <a:ext uri="{FF2B5EF4-FFF2-40B4-BE49-F238E27FC236}">
                <a16:creationId xmlns:a16="http://schemas.microsoft.com/office/drawing/2014/main" id="{A4F02694-E98C-DC4A-9BAF-460A635D092E}"/>
              </a:ext>
            </a:extLst>
          </p:cNvPr>
          <p:cNvSpPr txBox="1"/>
          <p:nvPr/>
        </p:nvSpPr>
        <p:spPr>
          <a:xfrm>
            <a:off x="6531939" y="3752252"/>
            <a:ext cx="5155900" cy="1708160"/>
          </a:xfrm>
          <a:prstGeom prst="rect">
            <a:avLst/>
          </a:prstGeom>
          <a:noFill/>
          <a:ln>
            <a:solidFill>
              <a:schemeClr val="accent1"/>
            </a:solidFill>
          </a:ln>
        </p:spPr>
        <p:txBody>
          <a:bodyPr wrap="square">
            <a:spAutoFit/>
          </a:bodyPr>
          <a:lstStyle/>
          <a:p>
            <a:pPr>
              <a:spcAft>
                <a:spcPts val="600"/>
              </a:spcAft>
              <a:defRPr sz="1600">
                <a:solidFill>
                  <a:srgbClr val="333333"/>
                </a:solidFill>
              </a:defRPr>
            </a:pPr>
            <a:r>
              <a:rPr lang="en-US" sz="2000" dirty="0"/>
              <a:t>However, it requires that every line-cards have the resources to run full </a:t>
            </a:r>
            <a:r>
              <a:rPr lang="en-US" sz="2000" dirty="0" err="1"/>
              <a:t>SONiC</a:t>
            </a:r>
            <a:r>
              <a:rPr lang="en-US" sz="2000" dirty="0"/>
              <a:t> instance, and the operators have the capability to manage all the </a:t>
            </a:r>
            <a:r>
              <a:rPr lang="en-US" sz="2000" dirty="0" err="1"/>
              <a:t>SONiC</a:t>
            </a:r>
            <a:r>
              <a:rPr lang="en-US" sz="2000" dirty="0"/>
              <a:t> instances in a chassis.</a:t>
            </a:r>
          </a:p>
          <a:p>
            <a:pPr>
              <a:spcAft>
                <a:spcPts val="600"/>
              </a:spcAft>
              <a:defRPr sz="1600">
                <a:solidFill>
                  <a:srgbClr val="333333"/>
                </a:solidFill>
              </a:defRPr>
            </a:pPr>
            <a:r>
              <a:rPr lang="en-US" sz="2000" dirty="0"/>
              <a:t>Hence, the case for </a:t>
            </a:r>
            <a:r>
              <a:rPr lang="en-US" sz="2000" b="1" i="1" dirty="0"/>
              <a:t>Centralized Architecture</a:t>
            </a:r>
            <a:r>
              <a:rPr lang="en-US" sz="2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800" b="1">
                <a:solidFill>
                  <a:srgbClr val="333333"/>
                </a:solidFill>
              </a:defRPr>
            </a:pPr>
            <a:r>
              <a:rPr dirty="0"/>
              <a:t>When Does a Centralized Architecture Make Sense?</a:t>
            </a:r>
          </a:p>
        </p:txBody>
      </p:sp>
      <p:sp>
        <p:nvSpPr>
          <p:cNvPr id="3" name="TextBox 2"/>
          <p:cNvSpPr txBox="1"/>
          <p:nvPr/>
        </p:nvSpPr>
        <p:spPr>
          <a:xfrm>
            <a:off x="457200" y="1097280"/>
            <a:ext cx="3228063" cy="461665"/>
          </a:xfrm>
          <a:prstGeom prst="rect">
            <a:avLst/>
          </a:prstGeom>
          <a:noFill/>
        </p:spPr>
        <p:txBody>
          <a:bodyPr wrap="none">
            <a:spAutoFit/>
          </a:bodyPr>
          <a:lstStyle/>
          <a:p>
            <a:pPr>
              <a:defRPr sz="1800" b="1">
                <a:solidFill>
                  <a:srgbClr val="049FD9"/>
                </a:solidFill>
              </a:defRPr>
            </a:pPr>
            <a:r>
              <a:rPr sz="2400" dirty="0"/>
              <a:t>Platform Characteristics</a:t>
            </a:r>
          </a:p>
        </p:txBody>
      </p:sp>
      <p:sp>
        <p:nvSpPr>
          <p:cNvPr id="4" name="TextBox 3"/>
          <p:cNvSpPr txBox="1"/>
          <p:nvPr/>
        </p:nvSpPr>
        <p:spPr>
          <a:xfrm>
            <a:off x="457200" y="1645920"/>
            <a:ext cx="5303520" cy="1762021"/>
          </a:xfrm>
          <a:prstGeom prst="rect">
            <a:avLst/>
          </a:prstGeom>
          <a:noFill/>
        </p:spPr>
        <p:txBody>
          <a:bodyPr wrap="square">
            <a:spAutoFit/>
          </a:bodyPr>
          <a:lstStyle/>
          <a:p>
            <a:pPr>
              <a:spcAft>
                <a:spcPts val="500"/>
              </a:spcAft>
              <a:defRPr sz="1400">
                <a:solidFill>
                  <a:srgbClr val="333333"/>
                </a:solidFill>
              </a:defRPr>
            </a:pPr>
            <a:r>
              <a:rPr sz="2400" dirty="0"/>
              <a:t>• Line cards with limited CPU/memory</a:t>
            </a:r>
          </a:p>
          <a:p>
            <a:pPr>
              <a:spcAft>
                <a:spcPts val="500"/>
              </a:spcAft>
              <a:defRPr sz="1400">
                <a:solidFill>
                  <a:srgbClr val="333333"/>
                </a:solidFill>
              </a:defRPr>
            </a:pPr>
            <a:r>
              <a:rPr sz="2400" dirty="0"/>
              <a:t>• Chassis with fewer slots (</a:t>
            </a:r>
            <a:r>
              <a:rPr lang="en-US" sz="2400" dirty="0"/>
              <a:t>4</a:t>
            </a:r>
            <a:r>
              <a:rPr sz="2400" dirty="0"/>
              <a:t>–8 LCs)</a:t>
            </a:r>
          </a:p>
          <a:p>
            <a:pPr>
              <a:spcAft>
                <a:spcPts val="500"/>
              </a:spcAft>
              <a:defRPr sz="1400">
                <a:solidFill>
                  <a:srgbClr val="333333"/>
                </a:solidFill>
              </a:defRPr>
            </a:pPr>
            <a:r>
              <a:rPr sz="2400" dirty="0"/>
              <a:t>• Platforms where LC resources are</a:t>
            </a:r>
          </a:p>
          <a:p>
            <a:pPr>
              <a:spcAft>
                <a:spcPts val="500"/>
              </a:spcAft>
              <a:defRPr sz="1400">
                <a:solidFill>
                  <a:srgbClr val="333333"/>
                </a:solidFill>
              </a:defRPr>
            </a:pPr>
            <a:r>
              <a:rPr sz="2400" dirty="0"/>
              <a:t>  dedicated to data-plane forwarding</a:t>
            </a:r>
          </a:p>
        </p:txBody>
      </p:sp>
      <p:sp>
        <p:nvSpPr>
          <p:cNvPr id="5" name="TextBox 4"/>
          <p:cNvSpPr txBox="1"/>
          <p:nvPr/>
        </p:nvSpPr>
        <p:spPr>
          <a:xfrm>
            <a:off x="6217920" y="1097280"/>
            <a:ext cx="2825774" cy="461665"/>
          </a:xfrm>
          <a:prstGeom prst="rect">
            <a:avLst/>
          </a:prstGeom>
          <a:noFill/>
        </p:spPr>
        <p:txBody>
          <a:bodyPr wrap="none">
            <a:spAutoFit/>
          </a:bodyPr>
          <a:lstStyle/>
          <a:p>
            <a:pPr>
              <a:defRPr sz="1800" b="1">
                <a:solidFill>
                  <a:srgbClr val="049FD9"/>
                </a:solidFill>
              </a:defRPr>
            </a:pPr>
            <a:r>
              <a:rPr sz="2400" dirty="0"/>
              <a:t>Operational Benefits</a:t>
            </a:r>
          </a:p>
        </p:txBody>
      </p:sp>
      <p:sp>
        <p:nvSpPr>
          <p:cNvPr id="6" name="TextBox 5"/>
          <p:cNvSpPr txBox="1"/>
          <p:nvPr/>
        </p:nvSpPr>
        <p:spPr>
          <a:xfrm>
            <a:off x="6217920" y="1645920"/>
            <a:ext cx="5303520" cy="2195473"/>
          </a:xfrm>
          <a:prstGeom prst="rect">
            <a:avLst/>
          </a:prstGeom>
          <a:noFill/>
        </p:spPr>
        <p:txBody>
          <a:bodyPr wrap="square">
            <a:spAutoFit/>
          </a:bodyPr>
          <a:lstStyle/>
          <a:p>
            <a:pPr>
              <a:spcAft>
                <a:spcPts val="500"/>
              </a:spcAft>
              <a:defRPr sz="1400">
                <a:solidFill>
                  <a:srgbClr val="333333"/>
                </a:solidFill>
              </a:defRPr>
            </a:pPr>
            <a:r>
              <a:rPr sz="2400" dirty="0"/>
              <a:t>• Single configuration for the chassis</a:t>
            </a:r>
          </a:p>
          <a:p>
            <a:pPr>
              <a:spcAft>
                <a:spcPts val="500"/>
              </a:spcAft>
              <a:defRPr sz="1400">
                <a:solidFill>
                  <a:srgbClr val="333333"/>
                </a:solidFill>
              </a:defRPr>
            </a:pPr>
            <a:r>
              <a:rPr sz="2400" dirty="0"/>
              <a:t>• Single SSH/CLI/</a:t>
            </a:r>
            <a:r>
              <a:rPr sz="2400" dirty="0" err="1"/>
              <a:t>gNMI</a:t>
            </a:r>
            <a:r>
              <a:rPr sz="2400" dirty="0"/>
              <a:t>/SNMP endpoint</a:t>
            </a:r>
          </a:p>
          <a:p>
            <a:pPr>
              <a:spcAft>
                <a:spcPts val="500"/>
              </a:spcAft>
              <a:defRPr sz="1400">
                <a:solidFill>
                  <a:srgbClr val="333333"/>
                </a:solidFill>
              </a:defRPr>
            </a:pPr>
            <a:r>
              <a:rPr sz="2400" dirty="0"/>
              <a:t>• Single routing</a:t>
            </a:r>
            <a:r>
              <a:rPr lang="en-US" sz="2400" dirty="0"/>
              <a:t>/BGP</a:t>
            </a:r>
            <a:r>
              <a:rPr sz="2400" dirty="0"/>
              <a:t> instance</a:t>
            </a:r>
            <a:r>
              <a:rPr lang="en-US" sz="2400" dirty="0"/>
              <a:t> </a:t>
            </a:r>
            <a:endParaRPr sz="2400" dirty="0"/>
          </a:p>
          <a:p>
            <a:pPr>
              <a:spcAft>
                <a:spcPts val="500"/>
              </a:spcAft>
              <a:defRPr sz="1400">
                <a:solidFill>
                  <a:srgbClr val="333333"/>
                </a:solidFill>
              </a:defRPr>
            </a:pPr>
            <a:r>
              <a:rPr sz="2400" dirty="0"/>
              <a:t>• Reduce operational complexity</a:t>
            </a:r>
          </a:p>
          <a:p>
            <a:pPr>
              <a:spcAft>
                <a:spcPts val="500"/>
              </a:spcAft>
              <a:defRPr sz="1400">
                <a:solidFill>
                  <a:srgbClr val="333333"/>
                </a:solidFill>
              </a:defRPr>
            </a:pPr>
            <a:r>
              <a:rPr sz="2400" dirty="0"/>
              <a:t>• Simpler image management</a:t>
            </a:r>
          </a:p>
        </p:txBody>
      </p:sp>
      <p:sp>
        <p:nvSpPr>
          <p:cNvPr id="7" name="TextBox 6"/>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32B19-5533-0AB3-E596-E8239A8520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E43065-3B97-A0A5-62D4-2C0C0BA03E0E}"/>
              </a:ext>
            </a:extLst>
          </p:cNvPr>
          <p:cNvSpPr txBox="1"/>
          <p:nvPr/>
        </p:nvSpPr>
        <p:spPr>
          <a:xfrm>
            <a:off x="457200" y="274320"/>
            <a:ext cx="7897739" cy="523220"/>
          </a:xfrm>
          <a:prstGeom prst="rect">
            <a:avLst/>
          </a:prstGeom>
          <a:noFill/>
        </p:spPr>
        <p:txBody>
          <a:bodyPr wrap="none">
            <a:spAutoFit/>
          </a:bodyPr>
          <a:lstStyle/>
          <a:p>
            <a:pPr>
              <a:defRPr sz="2800" b="1">
                <a:solidFill>
                  <a:srgbClr val="333333"/>
                </a:solidFill>
              </a:defRPr>
            </a:pPr>
            <a:r>
              <a:rPr dirty="0"/>
              <a:t>Wh</a:t>
            </a:r>
            <a:r>
              <a:rPr lang="en-US" dirty="0"/>
              <a:t>at will be supported in</a:t>
            </a:r>
            <a:r>
              <a:rPr dirty="0"/>
              <a:t> Centralized Architecture</a:t>
            </a:r>
            <a:r>
              <a:rPr lang="en-US" dirty="0"/>
              <a:t>?</a:t>
            </a:r>
            <a:endParaRPr dirty="0"/>
          </a:p>
        </p:txBody>
      </p:sp>
      <p:sp>
        <p:nvSpPr>
          <p:cNvPr id="6" name="TextBox 5">
            <a:extLst>
              <a:ext uri="{FF2B5EF4-FFF2-40B4-BE49-F238E27FC236}">
                <a16:creationId xmlns:a16="http://schemas.microsoft.com/office/drawing/2014/main" id="{29E91958-9979-E47F-54D3-A9D74C9BADFF}"/>
              </a:ext>
            </a:extLst>
          </p:cNvPr>
          <p:cNvSpPr txBox="1"/>
          <p:nvPr/>
        </p:nvSpPr>
        <p:spPr>
          <a:xfrm>
            <a:off x="580767" y="1040439"/>
            <a:ext cx="10310478" cy="4667945"/>
          </a:xfrm>
          <a:prstGeom prst="rect">
            <a:avLst/>
          </a:prstGeom>
          <a:noFill/>
        </p:spPr>
        <p:txBody>
          <a:bodyPr wrap="square">
            <a:spAutoFit/>
          </a:bodyPr>
          <a:lstStyle/>
          <a:p>
            <a:pPr marL="342900" indent="-342900">
              <a:spcAft>
                <a:spcPts val="500"/>
              </a:spcAft>
              <a:buFont typeface="Arial" panose="020B0604020202020204" pitchFamily="34" charset="0"/>
              <a:buChar char="•"/>
              <a:defRPr sz="1400">
                <a:solidFill>
                  <a:srgbClr val="333333"/>
                </a:solidFill>
              </a:defRPr>
            </a:pPr>
            <a:r>
              <a:rPr sz="2400" dirty="0"/>
              <a:t>Single </a:t>
            </a:r>
            <a:r>
              <a:rPr lang="en-US" sz="2400" dirty="0"/>
              <a:t>SSH/CLI/</a:t>
            </a:r>
            <a:r>
              <a:rPr lang="en-US" sz="2400" dirty="0" err="1"/>
              <a:t>gNMI</a:t>
            </a:r>
            <a:r>
              <a:rPr lang="en-US" sz="2400" dirty="0"/>
              <a:t>/SNMP for</a:t>
            </a:r>
            <a:r>
              <a:rPr sz="2400" dirty="0"/>
              <a:t> chassis</a:t>
            </a:r>
            <a:r>
              <a:rPr lang="en-US" sz="2400" dirty="0"/>
              <a:t> management</a:t>
            </a:r>
          </a:p>
          <a:p>
            <a:pPr marL="342900" indent="-342900">
              <a:spcAft>
                <a:spcPts val="500"/>
              </a:spcAft>
              <a:buFont typeface="Arial" panose="020B0604020202020204" pitchFamily="34" charset="0"/>
              <a:buChar char="•"/>
              <a:defRPr sz="1400">
                <a:solidFill>
                  <a:srgbClr val="333333"/>
                </a:solidFill>
              </a:defRPr>
            </a:pPr>
            <a:r>
              <a:rPr sz="2400" dirty="0"/>
              <a:t>Single routing</a:t>
            </a:r>
            <a:r>
              <a:rPr lang="en-US" sz="2400" dirty="0"/>
              <a:t>/BGP/</a:t>
            </a:r>
            <a:r>
              <a:rPr lang="en-US" sz="2400" dirty="0" err="1"/>
              <a:t>teamd</a:t>
            </a:r>
            <a:r>
              <a:rPr lang="en-US" sz="2400" dirty="0"/>
              <a:t>/</a:t>
            </a:r>
            <a:r>
              <a:rPr lang="en-US" sz="2400" dirty="0" err="1"/>
              <a:t>lldp</a:t>
            </a:r>
            <a:r>
              <a:rPr sz="2400" dirty="0"/>
              <a:t> instance</a:t>
            </a:r>
            <a:r>
              <a:rPr lang="en-US" sz="2400" dirty="0"/>
              <a:t> for all ports in a chassis </a:t>
            </a:r>
          </a:p>
          <a:p>
            <a:pPr marL="342900" indent="-342900">
              <a:spcAft>
                <a:spcPts val="500"/>
              </a:spcAft>
              <a:buFont typeface="Arial" panose="020B0604020202020204" pitchFamily="34" charset="0"/>
              <a:buChar char="•"/>
              <a:defRPr sz="1400">
                <a:solidFill>
                  <a:srgbClr val="333333"/>
                </a:solidFill>
              </a:defRPr>
            </a:pPr>
            <a:r>
              <a:rPr lang="en-US" sz="2400" dirty="0"/>
              <a:t>Single </a:t>
            </a:r>
            <a:r>
              <a:rPr lang="en-US" sz="2400" dirty="0" err="1"/>
              <a:t>SONiC</a:t>
            </a:r>
            <a:r>
              <a:rPr lang="en-US" sz="2400" dirty="0"/>
              <a:t> image for all Supervisor/Route-Processor and Line-cards in a chassis</a:t>
            </a:r>
          </a:p>
          <a:p>
            <a:pPr marL="342900" indent="-342900">
              <a:spcAft>
                <a:spcPts val="500"/>
              </a:spcAft>
              <a:buFont typeface="Arial" panose="020B0604020202020204" pitchFamily="34" charset="0"/>
              <a:buChar char="•"/>
              <a:defRPr sz="1400">
                <a:solidFill>
                  <a:srgbClr val="333333"/>
                </a:solidFill>
              </a:defRPr>
            </a:pPr>
            <a:r>
              <a:rPr lang="en-US" sz="2400" dirty="0"/>
              <a:t>Interested protocol packets punted to a remote Ethernet MAC. SAI API Enhancement and </a:t>
            </a:r>
            <a:r>
              <a:rPr lang="en-US" sz="2400" dirty="0" err="1"/>
              <a:t>SONiC</a:t>
            </a:r>
            <a:r>
              <a:rPr lang="en-US" sz="2400" dirty="0"/>
              <a:t> Orchestration is in-progress.</a:t>
            </a:r>
          </a:p>
          <a:p>
            <a:pPr marL="342900" indent="-342900">
              <a:spcAft>
                <a:spcPts val="500"/>
              </a:spcAft>
              <a:buFont typeface="Arial" panose="020B0604020202020204" pitchFamily="34" charset="0"/>
              <a:buChar char="•"/>
              <a:defRPr sz="1400">
                <a:solidFill>
                  <a:srgbClr val="333333"/>
                </a:solidFill>
              </a:defRPr>
            </a:pPr>
            <a:r>
              <a:rPr lang="en-US" sz="2400" dirty="0"/>
              <a:t>In the 1</a:t>
            </a:r>
            <a:r>
              <a:rPr lang="en-US" sz="2400" baseline="30000" dirty="0"/>
              <a:t>st</a:t>
            </a:r>
            <a:r>
              <a:rPr lang="en-US" sz="2400" dirty="0"/>
              <a:t> phase (mainly for T2 deployment)</a:t>
            </a:r>
          </a:p>
          <a:p>
            <a:pPr marL="800100" lvl="1" indent="-342900">
              <a:spcAft>
                <a:spcPts val="500"/>
              </a:spcAft>
              <a:buFont typeface="Arial" panose="020B0604020202020204" pitchFamily="34" charset="0"/>
              <a:buChar char="•"/>
              <a:defRPr sz="1400">
                <a:solidFill>
                  <a:srgbClr val="333333"/>
                </a:solidFill>
              </a:defRPr>
            </a:pPr>
            <a:r>
              <a:rPr lang="en-US" sz="2400" dirty="0"/>
              <a:t>L3 features</a:t>
            </a:r>
          </a:p>
          <a:p>
            <a:pPr marL="800100" lvl="1" indent="-342900">
              <a:spcAft>
                <a:spcPts val="500"/>
              </a:spcAft>
              <a:buFont typeface="Arial" panose="020B0604020202020204" pitchFamily="34" charset="0"/>
              <a:buChar char="•"/>
              <a:defRPr sz="1400">
                <a:solidFill>
                  <a:srgbClr val="333333"/>
                </a:solidFill>
              </a:defRPr>
            </a:pPr>
            <a:r>
              <a:rPr lang="en-US" sz="2400" dirty="0"/>
              <a:t>Single Supervisor/Route-Processor</a:t>
            </a:r>
          </a:p>
          <a:p>
            <a:pPr marL="800100" lvl="1" indent="-342900">
              <a:spcAft>
                <a:spcPts val="500"/>
              </a:spcAft>
              <a:buFont typeface="Arial" panose="020B0604020202020204" pitchFamily="34" charset="0"/>
              <a:buChar char="•"/>
              <a:defRPr sz="1400">
                <a:solidFill>
                  <a:srgbClr val="333333"/>
                </a:solidFill>
              </a:defRPr>
            </a:pPr>
            <a:r>
              <a:rPr lang="en-US" sz="2400" dirty="0"/>
              <a:t>(*) Limited line-card OIR</a:t>
            </a:r>
          </a:p>
          <a:p>
            <a:pPr>
              <a:spcAft>
                <a:spcPts val="500"/>
              </a:spcAft>
              <a:defRPr sz="1400">
                <a:solidFill>
                  <a:srgbClr val="333333"/>
                </a:solidFill>
              </a:defRPr>
            </a:pPr>
            <a:endParaRPr lang="en-US" sz="2400" dirty="0"/>
          </a:p>
        </p:txBody>
      </p:sp>
      <p:sp>
        <p:nvSpPr>
          <p:cNvPr id="7" name="TextBox 6">
            <a:extLst>
              <a:ext uri="{FF2B5EF4-FFF2-40B4-BE49-F238E27FC236}">
                <a16:creationId xmlns:a16="http://schemas.microsoft.com/office/drawing/2014/main" id="{B33FE985-EC2F-D6C4-8F28-1062D37DEA41}"/>
              </a:ext>
            </a:extLst>
          </p:cNvPr>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extLst>
      <p:ext uri="{BB962C8B-B14F-4D97-AF65-F5344CB8AC3E}">
        <p14:creationId xmlns:p14="http://schemas.microsoft.com/office/powerpoint/2010/main" val="4195083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D8908-24DB-449E-6954-7D4995350E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494920-7B48-0DC1-9388-87B6221CF97F}"/>
              </a:ext>
            </a:extLst>
          </p:cNvPr>
          <p:cNvSpPr txBox="1"/>
          <p:nvPr/>
        </p:nvSpPr>
        <p:spPr>
          <a:xfrm>
            <a:off x="457200" y="274320"/>
            <a:ext cx="8859285" cy="523220"/>
          </a:xfrm>
          <a:prstGeom prst="rect">
            <a:avLst/>
          </a:prstGeom>
          <a:noFill/>
        </p:spPr>
        <p:txBody>
          <a:bodyPr wrap="none">
            <a:spAutoFit/>
          </a:bodyPr>
          <a:lstStyle/>
          <a:p>
            <a:pPr>
              <a:defRPr sz="2800" b="1">
                <a:solidFill>
                  <a:srgbClr val="333333"/>
                </a:solidFill>
              </a:defRPr>
            </a:pPr>
            <a:r>
              <a:rPr dirty="0"/>
              <a:t>Wh</a:t>
            </a:r>
            <a:r>
              <a:rPr lang="en-US" dirty="0"/>
              <a:t>at will be supported in</a:t>
            </a:r>
            <a:r>
              <a:rPr dirty="0"/>
              <a:t> Centralized Architecture</a:t>
            </a:r>
            <a:r>
              <a:rPr lang="en-US" dirty="0"/>
              <a:t>? (</a:t>
            </a:r>
            <a:r>
              <a:rPr lang="en-US" dirty="0" err="1"/>
              <a:t>cont</a:t>
            </a:r>
            <a:r>
              <a:rPr lang="en-US" dirty="0"/>
              <a:t>)</a:t>
            </a:r>
            <a:endParaRPr dirty="0"/>
          </a:p>
        </p:txBody>
      </p:sp>
      <p:sp>
        <p:nvSpPr>
          <p:cNvPr id="7" name="TextBox 6">
            <a:extLst>
              <a:ext uri="{FF2B5EF4-FFF2-40B4-BE49-F238E27FC236}">
                <a16:creationId xmlns:a16="http://schemas.microsoft.com/office/drawing/2014/main" id="{0882254A-6F5D-B5EC-8C80-B5167DCAEFB3}"/>
              </a:ext>
            </a:extLst>
          </p:cNvPr>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
        <p:nvSpPr>
          <p:cNvPr id="3" name="TextBox 2">
            <a:extLst>
              <a:ext uri="{FF2B5EF4-FFF2-40B4-BE49-F238E27FC236}">
                <a16:creationId xmlns:a16="http://schemas.microsoft.com/office/drawing/2014/main" id="{69D2CBD6-BCF5-1769-3571-AA5AA1F2E08B}"/>
              </a:ext>
            </a:extLst>
          </p:cNvPr>
          <p:cNvSpPr txBox="1"/>
          <p:nvPr/>
        </p:nvSpPr>
        <p:spPr>
          <a:xfrm>
            <a:off x="1520457" y="3429000"/>
            <a:ext cx="7687340" cy="2031325"/>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rtlCol="0">
            <a:spAutoFit/>
          </a:bodyPr>
          <a:lstStyle/>
          <a:p>
            <a:r>
              <a:rPr lang="en-US" dirty="0" err="1">
                <a:solidFill>
                  <a:schemeClr val="tx2">
                    <a:alpha val="97000"/>
                  </a:schemeClr>
                </a:solidFill>
              </a:rPr>
              <a:t>SONiC</a:t>
            </a:r>
            <a:r>
              <a:rPr lang="en-US" dirty="0">
                <a:solidFill>
                  <a:schemeClr val="tx2">
                    <a:alpha val="97000"/>
                  </a:schemeClr>
                </a:solidFill>
              </a:rPr>
              <a:t> Virtual Output Queue (VOQ) forwarding (system ports, fabric, </a:t>
            </a:r>
            <a:r>
              <a:rPr lang="en-US" dirty="0" err="1">
                <a:solidFill>
                  <a:schemeClr val="tx2">
                    <a:alpha val="97000"/>
                  </a:schemeClr>
                </a:solidFill>
              </a:rPr>
              <a:t>encap</a:t>
            </a:r>
            <a:r>
              <a:rPr lang="en-US" dirty="0">
                <a:solidFill>
                  <a:schemeClr val="tx2">
                    <a:alpha val="97000"/>
                  </a:schemeClr>
                </a:solidFill>
              </a:rPr>
              <a:t> indices, cross-ASIC semantics) remains governed by VOQ-SAI and the distributed VOQ design. </a:t>
            </a:r>
          </a:p>
          <a:p>
            <a:endParaRPr lang="en-US" dirty="0">
              <a:solidFill>
                <a:schemeClr val="tx2">
                  <a:alpha val="97000"/>
                </a:schemeClr>
              </a:solidFill>
            </a:endParaRPr>
          </a:p>
          <a:p>
            <a:r>
              <a:rPr lang="en-US" dirty="0">
                <a:solidFill>
                  <a:schemeClr val="tx2">
                    <a:alpha val="97000"/>
                  </a:schemeClr>
                </a:solidFill>
              </a:rPr>
              <a:t>The Centralized architecture changes where </a:t>
            </a:r>
            <a:r>
              <a:rPr lang="en-US" dirty="0" err="1">
                <a:solidFill>
                  <a:schemeClr val="tx2">
                    <a:alpha val="97000"/>
                  </a:schemeClr>
                </a:solidFill>
              </a:rPr>
              <a:t>SONiC</a:t>
            </a:r>
            <a:r>
              <a:rPr lang="en-US" dirty="0">
                <a:solidFill>
                  <a:schemeClr val="tx2">
                    <a:alpha val="97000"/>
                  </a:schemeClr>
                </a:solidFill>
              </a:rPr>
              <a:t> services run and how selected databases are shared across the chassis, </a:t>
            </a:r>
            <a:r>
              <a:rPr lang="en-US" b="1" i="1" dirty="0">
                <a:solidFill>
                  <a:schemeClr val="tx2">
                    <a:alpha val="97000"/>
                  </a:schemeClr>
                </a:solidFill>
              </a:rPr>
              <a:t>not the fundamental VOQ forwarding model</a:t>
            </a:r>
            <a:r>
              <a:rPr lang="en-US" dirty="0">
                <a:solidFill>
                  <a:schemeClr val="tx2">
                    <a:alpha val="97000"/>
                  </a:schemeClr>
                </a:solidFill>
              </a:rPr>
              <a:t>.</a:t>
            </a:r>
          </a:p>
        </p:txBody>
      </p:sp>
      <p:sp>
        <p:nvSpPr>
          <p:cNvPr id="4" name="TextBox 3">
            <a:extLst>
              <a:ext uri="{FF2B5EF4-FFF2-40B4-BE49-F238E27FC236}">
                <a16:creationId xmlns:a16="http://schemas.microsoft.com/office/drawing/2014/main" id="{0685591B-76E0-6BB1-CAA1-8D44974B4919}"/>
              </a:ext>
            </a:extLst>
          </p:cNvPr>
          <p:cNvSpPr txBox="1"/>
          <p:nvPr/>
        </p:nvSpPr>
        <p:spPr>
          <a:xfrm>
            <a:off x="818707" y="1452443"/>
            <a:ext cx="5486567" cy="646331"/>
          </a:xfrm>
          <a:prstGeom prst="rect">
            <a:avLst/>
          </a:prstGeom>
          <a:noFill/>
        </p:spPr>
        <p:txBody>
          <a:bodyPr wrap="none" rtlCol="0">
            <a:spAutoFit/>
          </a:bodyPr>
          <a:lstStyle/>
          <a:p>
            <a:pPr marL="285750" indent="-285750">
              <a:buFont typeface="Arial" panose="020B0604020202020204" pitchFamily="34" charset="0"/>
              <a:buChar char="•"/>
            </a:pPr>
            <a:r>
              <a:rPr lang="en-US" dirty="0" err="1"/>
              <a:t>SONiC</a:t>
            </a:r>
            <a:r>
              <a:rPr lang="en-US" dirty="0"/>
              <a:t> Virtual Output Queue (VOQ) Forwarding (only)</a:t>
            </a:r>
          </a:p>
          <a:p>
            <a:endParaRPr lang="en-US" dirty="0"/>
          </a:p>
        </p:txBody>
      </p:sp>
    </p:spTree>
    <p:extLst>
      <p:ext uri="{BB962C8B-B14F-4D97-AF65-F5344CB8AC3E}">
        <p14:creationId xmlns:p14="http://schemas.microsoft.com/office/powerpoint/2010/main" val="3657798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582956" cy="523220"/>
          </a:xfrm>
          <a:prstGeom prst="rect">
            <a:avLst/>
          </a:prstGeom>
          <a:noFill/>
        </p:spPr>
        <p:txBody>
          <a:bodyPr wrap="none">
            <a:spAutoFit/>
          </a:bodyPr>
          <a:lstStyle/>
          <a:p>
            <a:pPr>
              <a:defRPr sz="2800" b="1">
                <a:solidFill>
                  <a:srgbClr val="333333"/>
                </a:solidFill>
              </a:defRPr>
            </a:pPr>
            <a:r>
              <a:rPr lang="en-US" dirty="0"/>
              <a:t>Centralized Architecture - </a:t>
            </a:r>
            <a:r>
              <a:rPr dirty="0"/>
              <a:t>Design Principles</a:t>
            </a:r>
          </a:p>
        </p:txBody>
      </p:sp>
      <p:sp>
        <p:nvSpPr>
          <p:cNvPr id="3" name="TextBox 2"/>
          <p:cNvSpPr txBox="1"/>
          <p:nvPr/>
        </p:nvSpPr>
        <p:spPr>
          <a:xfrm>
            <a:off x="640080" y="1188720"/>
            <a:ext cx="10515600" cy="2616101"/>
          </a:xfrm>
          <a:prstGeom prst="rect">
            <a:avLst/>
          </a:prstGeom>
          <a:noFill/>
        </p:spPr>
        <p:txBody>
          <a:bodyPr wrap="square">
            <a:spAutoFit/>
          </a:bodyPr>
          <a:lstStyle/>
          <a:p>
            <a:pPr marL="342900" indent="-342900">
              <a:spcAft>
                <a:spcPts val="600"/>
              </a:spcAft>
              <a:buFont typeface="Arial" panose="020B0604020202020204" pitchFamily="34" charset="0"/>
              <a:buChar char="•"/>
              <a:defRPr sz="1600">
                <a:solidFill>
                  <a:srgbClr val="333333"/>
                </a:solidFill>
              </a:defRPr>
            </a:pPr>
            <a:r>
              <a:rPr sz="2400" dirty="0"/>
              <a:t>"Centralize what you can, distribute what you must"</a:t>
            </a:r>
            <a:endParaRPr lang="en-US" sz="2400" dirty="0"/>
          </a:p>
          <a:p>
            <a:pPr marL="342900" indent="-342900">
              <a:spcAft>
                <a:spcPts val="600"/>
              </a:spcAft>
              <a:buFont typeface="Arial" panose="020B0604020202020204" pitchFamily="34" charset="0"/>
              <a:buChar char="•"/>
              <a:defRPr sz="1600">
                <a:solidFill>
                  <a:srgbClr val="333333"/>
                </a:solidFill>
              </a:defRPr>
            </a:pPr>
            <a:r>
              <a:rPr sz="2400" dirty="0"/>
              <a:t>Generally: centralized producers, distributed consumers</a:t>
            </a:r>
            <a:endParaRPr lang="en-US" sz="2400" dirty="0"/>
          </a:p>
          <a:p>
            <a:pPr marL="342900" indent="-342900">
              <a:spcAft>
                <a:spcPts val="600"/>
              </a:spcAft>
              <a:buFont typeface="Arial" panose="020B0604020202020204" pitchFamily="34" charset="0"/>
              <a:buChar char="•"/>
              <a:defRPr sz="1600">
                <a:solidFill>
                  <a:srgbClr val="333333"/>
                </a:solidFill>
              </a:defRPr>
            </a:pPr>
            <a:r>
              <a:rPr sz="2400" dirty="0"/>
              <a:t>Keep the design consistent with fixed-system </a:t>
            </a:r>
            <a:r>
              <a:rPr sz="2400" dirty="0" err="1"/>
              <a:t>SONiC</a:t>
            </a:r>
            <a:r>
              <a:rPr sz="2400" dirty="0"/>
              <a:t> as much as possible</a:t>
            </a:r>
            <a:endParaRPr lang="en-US" sz="2400" dirty="0"/>
          </a:p>
          <a:p>
            <a:pPr marL="342900" indent="-342900">
              <a:spcAft>
                <a:spcPts val="600"/>
              </a:spcAft>
              <a:buFont typeface="Arial" panose="020B0604020202020204" pitchFamily="34" charset="0"/>
              <a:buChar char="•"/>
              <a:defRPr sz="1600">
                <a:solidFill>
                  <a:srgbClr val="333333"/>
                </a:solidFill>
              </a:defRPr>
            </a:pPr>
            <a:r>
              <a:rPr sz="2400" dirty="0"/>
              <a:t>Build on the existing V</a:t>
            </a:r>
            <a:r>
              <a:rPr lang="en-US" sz="2400" dirty="0"/>
              <a:t>O</a:t>
            </a:r>
            <a:r>
              <a:rPr sz="2400" dirty="0"/>
              <a:t>Q data-plane foundation</a:t>
            </a:r>
            <a:endParaRPr lang="en-US" sz="2400" dirty="0"/>
          </a:p>
          <a:p>
            <a:pPr marL="342900" indent="-342900">
              <a:spcAft>
                <a:spcPts val="600"/>
              </a:spcAft>
              <a:buFont typeface="Arial" panose="020B0604020202020204" pitchFamily="34" charset="0"/>
              <a:buChar char="•"/>
              <a:defRPr sz="1600">
                <a:solidFill>
                  <a:srgbClr val="333333"/>
                </a:solidFill>
              </a:defRPr>
            </a:pPr>
            <a:r>
              <a:rPr sz="2400" b="1" i="1" dirty="0"/>
              <a:t>Opt-in</a:t>
            </a:r>
            <a:r>
              <a:rPr sz="2400" dirty="0"/>
              <a:t>: a build-time feature</a:t>
            </a:r>
            <a:r>
              <a:rPr lang="en-US" sz="2400" dirty="0"/>
              <a:t> configuration</a:t>
            </a:r>
            <a:r>
              <a:rPr sz="2400" dirty="0"/>
              <a:t> flag, disabled by default — zero impact to existing deployments</a:t>
            </a:r>
          </a:p>
        </p:txBody>
      </p:sp>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9FD9"/>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1828800"/>
          </a:xfrm>
          <a:prstGeom prst="rect">
            <a:avLst/>
          </a:prstGeom>
          <a:noFill/>
        </p:spPr>
        <p:txBody>
          <a:bodyPr wrap="square">
            <a:spAutoFit/>
          </a:bodyPr>
          <a:lstStyle/>
          <a:p>
            <a:pPr algn="l">
              <a:defRPr sz="3200" b="1">
                <a:solidFill>
                  <a:srgbClr val="FFFFFF"/>
                </a:solidFill>
              </a:defRPr>
            </a:pPr>
            <a:r>
              <a:t>Architecture Overview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5817746" cy="523220"/>
          </a:xfrm>
          <a:prstGeom prst="rect">
            <a:avLst/>
          </a:prstGeom>
          <a:noFill/>
        </p:spPr>
        <p:txBody>
          <a:bodyPr wrap="none">
            <a:spAutoFit/>
          </a:bodyPr>
          <a:lstStyle/>
          <a:p>
            <a:pPr>
              <a:defRPr sz="2800" b="1">
                <a:solidFill>
                  <a:srgbClr val="333333"/>
                </a:solidFill>
              </a:defRPr>
            </a:pPr>
            <a:r>
              <a:rPr lang="en-US" dirty="0"/>
              <a:t>Centralized VOQ Chassis Architecture:</a:t>
            </a:r>
            <a:endParaRPr dirty="0"/>
          </a:p>
        </p:txBody>
      </p:sp>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pic>
        <p:nvPicPr>
          <p:cNvPr id="1026" name="Picture 2">
            <a:extLst>
              <a:ext uri="{FF2B5EF4-FFF2-40B4-BE49-F238E27FC236}">
                <a16:creationId xmlns:a16="http://schemas.microsoft.com/office/drawing/2014/main" id="{30195F00-5F47-5C81-4FEF-94E55D4CB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10859"/>
            <a:ext cx="8439665" cy="53899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E7A1CFA-8543-3C49-209F-24B497BCA53A}"/>
              </a:ext>
            </a:extLst>
          </p:cNvPr>
          <p:cNvSpPr txBox="1"/>
          <p:nvPr/>
        </p:nvSpPr>
        <p:spPr>
          <a:xfrm>
            <a:off x="8204887" y="1409462"/>
            <a:ext cx="3459892" cy="2585323"/>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rtlCol="0">
            <a:spAutoFit/>
          </a:bodyPr>
          <a:lstStyle/>
          <a:p>
            <a:pPr marL="285750" indent="-285750">
              <a:buFontTx/>
              <a:buChar char="-"/>
            </a:pPr>
            <a:r>
              <a:rPr lang="en-US" dirty="0"/>
              <a:t>Centralized-chassis as a </a:t>
            </a:r>
            <a:r>
              <a:rPr lang="en-US" dirty="0" err="1"/>
              <a:t>SONiC</a:t>
            </a:r>
            <a:r>
              <a:rPr lang="en-US" dirty="0"/>
              <a:t> platform environment</a:t>
            </a:r>
          </a:p>
          <a:p>
            <a:pPr marL="285750" indent="-285750">
              <a:buFontTx/>
              <a:buChar char="-"/>
            </a:pPr>
            <a:r>
              <a:rPr lang="en-US" dirty="0"/>
              <a:t>Centralized services in Supervisor</a:t>
            </a:r>
          </a:p>
          <a:p>
            <a:pPr marL="285750" indent="-285750">
              <a:buFontTx/>
              <a:buChar char="-"/>
            </a:pPr>
            <a:r>
              <a:rPr lang="en-US" dirty="0"/>
              <a:t>Distributed per-namespace services in line-cards (and in Supervisor for CPU-less FC NPUs)</a:t>
            </a:r>
          </a:p>
          <a:p>
            <a:pPr marL="285750" indent="-285750">
              <a:buFontTx/>
              <a:buChar char="-"/>
            </a:pPr>
            <a:endParaRPr lang="en-US" dirty="0"/>
          </a:p>
        </p:txBody>
      </p:sp>
      <p:sp>
        <p:nvSpPr>
          <p:cNvPr id="6" name="Rectangle 5">
            <a:extLst>
              <a:ext uri="{FF2B5EF4-FFF2-40B4-BE49-F238E27FC236}">
                <a16:creationId xmlns:a16="http://schemas.microsoft.com/office/drawing/2014/main" id="{21DCDE16-A1C6-B4F3-4DA8-B6F22F689C03}"/>
              </a:ext>
            </a:extLst>
          </p:cNvPr>
          <p:cNvSpPr/>
          <p:nvPr/>
        </p:nvSpPr>
        <p:spPr>
          <a:xfrm>
            <a:off x="2596896" y="2574106"/>
            <a:ext cx="1060704" cy="26662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err="1">
                <a:solidFill>
                  <a:schemeClr val="tx1"/>
                </a:solidFill>
              </a:rPr>
              <a:t>swss</a:t>
            </a:r>
            <a:r>
              <a:rPr lang="en-US" sz="1200" dirty="0">
                <a:solidFill>
                  <a:schemeClr val="tx1"/>
                </a:solidFill>
              </a:rPr>
              <a:t>-central</a:t>
            </a:r>
          </a:p>
        </p:txBody>
      </p:sp>
      <p:sp>
        <p:nvSpPr>
          <p:cNvPr id="7" name="TextBox 6">
            <a:extLst>
              <a:ext uri="{FF2B5EF4-FFF2-40B4-BE49-F238E27FC236}">
                <a16:creationId xmlns:a16="http://schemas.microsoft.com/office/drawing/2014/main" id="{B3DA4C0D-6E02-58DF-6E0C-89CF0161942C}"/>
              </a:ext>
            </a:extLst>
          </p:cNvPr>
          <p:cNvSpPr txBox="1"/>
          <p:nvPr/>
        </p:nvSpPr>
        <p:spPr>
          <a:xfrm>
            <a:off x="3682012" y="2934732"/>
            <a:ext cx="1230017" cy="276999"/>
          </a:xfrm>
          <a:prstGeom prst="rect">
            <a:avLst/>
          </a:prstGeom>
          <a:noFill/>
        </p:spPr>
        <p:txBody>
          <a:bodyPr wrap="none" rtlCol="0">
            <a:spAutoFit/>
          </a:bodyPr>
          <a:lstStyle/>
          <a:p>
            <a:r>
              <a:rPr lang="en-US" sz="1200" dirty="0"/>
              <a:t>database-central</a:t>
            </a:r>
          </a:p>
        </p:txBody>
      </p:sp>
      <p:sp>
        <p:nvSpPr>
          <p:cNvPr id="8" name="TextBox 7">
            <a:extLst>
              <a:ext uri="{FF2B5EF4-FFF2-40B4-BE49-F238E27FC236}">
                <a16:creationId xmlns:a16="http://schemas.microsoft.com/office/drawing/2014/main" id="{73FA65E0-A85F-317A-2546-4A618147E1A8}"/>
              </a:ext>
            </a:extLst>
          </p:cNvPr>
          <p:cNvSpPr txBox="1"/>
          <p:nvPr/>
        </p:nvSpPr>
        <p:spPr>
          <a:xfrm>
            <a:off x="3675857" y="1903546"/>
            <a:ext cx="1236172" cy="276999"/>
          </a:xfrm>
          <a:prstGeom prst="rect">
            <a:avLst/>
          </a:prstGeom>
          <a:noFill/>
        </p:spPr>
        <p:txBody>
          <a:bodyPr wrap="none" rtlCol="0">
            <a:spAutoFit/>
          </a:bodyPr>
          <a:lstStyle/>
          <a:p>
            <a:r>
              <a:rPr lang="en-US" sz="1200" dirty="0"/>
              <a:t>database-chassis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199" y="274320"/>
            <a:ext cx="9255211" cy="523220"/>
          </a:xfrm>
          <a:prstGeom prst="rect">
            <a:avLst/>
          </a:prstGeom>
          <a:noFill/>
        </p:spPr>
        <p:txBody>
          <a:bodyPr wrap="square">
            <a:spAutoFit/>
          </a:bodyPr>
          <a:lstStyle/>
          <a:p>
            <a:pPr>
              <a:defRPr sz="2800" b="1">
                <a:solidFill>
                  <a:srgbClr val="333333"/>
                </a:solidFill>
              </a:defRPr>
            </a:pPr>
            <a:r>
              <a:rPr lang="en-US" dirty="0"/>
              <a:t>Centralized-Chassis Platform Boot/Initialization</a:t>
            </a:r>
            <a:endParaRPr dirty="0"/>
          </a:p>
        </p:txBody>
      </p:sp>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
        <p:nvSpPr>
          <p:cNvPr id="5" name="TextBox 4">
            <a:extLst>
              <a:ext uri="{FF2B5EF4-FFF2-40B4-BE49-F238E27FC236}">
                <a16:creationId xmlns:a16="http://schemas.microsoft.com/office/drawing/2014/main" id="{C6AF7D53-7FAC-FA64-753B-D1622758913D}"/>
              </a:ext>
            </a:extLst>
          </p:cNvPr>
          <p:cNvSpPr txBox="1"/>
          <p:nvPr/>
        </p:nvSpPr>
        <p:spPr>
          <a:xfrm>
            <a:off x="361312" y="1012954"/>
            <a:ext cx="10169609" cy="2677656"/>
          </a:xfrm>
          <a:prstGeom prst="rect">
            <a:avLst/>
          </a:prstGeom>
          <a:noFill/>
        </p:spPr>
        <p:txBody>
          <a:bodyPr wrap="square" rtlCol="0">
            <a:spAutoFit/>
          </a:bodyPr>
          <a:lstStyle/>
          <a:p>
            <a:pPr marL="285750" indent="-285750">
              <a:buFont typeface="Arial" panose="020B0604020202020204" pitchFamily="34" charset="0"/>
              <a:buChar char="•"/>
            </a:pPr>
            <a:r>
              <a:rPr lang="en-US" sz="2800" b="1" dirty="0" err="1"/>
              <a:t>rc.local</a:t>
            </a:r>
            <a:r>
              <a:rPr lang="en-US" sz="2800" b="1" dirty="0"/>
              <a:t> </a:t>
            </a:r>
            <a:r>
              <a:rPr lang="en-US" sz="2800" dirty="0"/>
              <a:t>if the </a:t>
            </a:r>
            <a:r>
              <a:rPr lang="en-US" sz="2800" dirty="0" err="1"/>
              <a:t>onie_platform</a:t>
            </a:r>
            <a:r>
              <a:rPr lang="en-US" sz="2800" dirty="0"/>
              <a:t> supports Centralized Chassis architecture, set </a:t>
            </a:r>
            <a:r>
              <a:rPr lang="en-US" sz="2800" dirty="0" err="1"/>
              <a:t>onie_platform</a:t>
            </a:r>
            <a:r>
              <a:rPr lang="en-US" sz="2800" dirty="0"/>
              <a:t> to “</a:t>
            </a:r>
            <a:r>
              <a:rPr lang="en-US" sz="2800" b="1" dirty="0"/>
              <a:t>centralized-chassis</a:t>
            </a:r>
            <a:r>
              <a:rPr lang="en-US" sz="2800" dirty="0"/>
              <a:t>”, and save the original </a:t>
            </a:r>
            <a:r>
              <a:rPr lang="en-US" sz="2800" dirty="0" err="1"/>
              <a:t>onie_platform</a:t>
            </a:r>
            <a:r>
              <a:rPr lang="en-US" sz="2800" dirty="0"/>
              <a:t> value to </a:t>
            </a:r>
            <a:r>
              <a:rPr lang="en-US" sz="2800" dirty="0" err="1"/>
              <a:t>onie_base_platform</a:t>
            </a:r>
            <a:endParaRPr lang="en-US" sz="2800" dirty="0"/>
          </a:p>
          <a:p>
            <a:endParaRPr lang="en-US" sz="2800" b="1" dirty="0"/>
          </a:p>
          <a:p>
            <a:pPr marL="285750" indent="-285750">
              <a:buFont typeface="Arial" panose="020B0604020202020204" pitchFamily="34" charset="0"/>
              <a:buChar char="•"/>
            </a:pPr>
            <a:r>
              <a:rPr lang="en-US" sz="2800" dirty="0"/>
              <a:t>Setup</a:t>
            </a:r>
            <a:r>
              <a:rPr lang="en-US" sz="2800" b="1" dirty="0"/>
              <a:t> </a:t>
            </a:r>
            <a:r>
              <a:rPr lang="en-US" sz="2800" b="1" dirty="0" err="1"/>
              <a:t>is_centralized_chassis</a:t>
            </a:r>
            <a:r>
              <a:rPr lang="en-US" sz="2800" b="1" dirty="0"/>
              <a:t>, slot and </a:t>
            </a:r>
            <a:r>
              <a:rPr lang="en-US" sz="2800" b="1" dirty="0" err="1"/>
              <a:t>npu_id</a:t>
            </a:r>
            <a:r>
              <a:rPr lang="en-US" sz="2800" b="1" dirty="0"/>
              <a:t> </a:t>
            </a:r>
            <a:r>
              <a:rPr lang="en-US" sz="2800" dirty="0"/>
              <a:t>for service creation/differentiation </a:t>
            </a:r>
            <a:endParaRPr lang="en-US" sz="28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AB63E-309C-50B6-282D-41BF304931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6E42F4-C561-BB8A-FF7B-8C8D23BDDB51}"/>
              </a:ext>
            </a:extLst>
          </p:cNvPr>
          <p:cNvSpPr txBox="1"/>
          <p:nvPr/>
        </p:nvSpPr>
        <p:spPr>
          <a:xfrm>
            <a:off x="457199" y="274320"/>
            <a:ext cx="9255211" cy="523220"/>
          </a:xfrm>
          <a:prstGeom prst="rect">
            <a:avLst/>
          </a:prstGeom>
          <a:noFill/>
        </p:spPr>
        <p:txBody>
          <a:bodyPr wrap="square">
            <a:spAutoFit/>
          </a:bodyPr>
          <a:lstStyle/>
          <a:p>
            <a:pPr>
              <a:defRPr sz="2800" b="1">
                <a:solidFill>
                  <a:srgbClr val="333333"/>
                </a:solidFill>
              </a:defRPr>
            </a:pPr>
            <a:r>
              <a:rPr lang="en-US" dirty="0"/>
              <a:t>Sample Orchestration Flow: Port Orchestration</a:t>
            </a:r>
            <a:endParaRPr dirty="0"/>
          </a:p>
        </p:txBody>
      </p:sp>
      <p:sp>
        <p:nvSpPr>
          <p:cNvPr id="4" name="TextBox 3">
            <a:extLst>
              <a:ext uri="{FF2B5EF4-FFF2-40B4-BE49-F238E27FC236}">
                <a16:creationId xmlns:a16="http://schemas.microsoft.com/office/drawing/2014/main" id="{023B99C7-F56E-2B3F-049C-C125B4796AEB}"/>
              </a:ext>
            </a:extLst>
          </p:cNvPr>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pic>
        <p:nvPicPr>
          <p:cNvPr id="2050" name="Picture 2" descr="A diagram of a diagram">
            <a:extLst>
              <a:ext uri="{FF2B5EF4-FFF2-40B4-BE49-F238E27FC236}">
                <a16:creationId xmlns:a16="http://schemas.microsoft.com/office/drawing/2014/main" id="{8A3D455F-ADF7-0CA4-DF55-3222E29AC2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96" y="1079002"/>
            <a:ext cx="9733700" cy="39872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9598960-C67E-7576-6868-B592C24EDA71}"/>
              </a:ext>
            </a:extLst>
          </p:cNvPr>
          <p:cNvSpPr txBox="1"/>
          <p:nvPr/>
        </p:nvSpPr>
        <p:spPr>
          <a:xfrm>
            <a:off x="543696" y="5455832"/>
            <a:ext cx="9953616" cy="1030312"/>
          </a:xfrm>
          <a:prstGeom prst="rect">
            <a:avLst/>
          </a:prstGeom>
          <a:noFill/>
        </p:spPr>
        <p:txBody>
          <a:bodyPr wrap="square" rtlCol="0">
            <a:noAutofit/>
          </a:bodyPr>
          <a:lstStyle/>
          <a:p>
            <a:r>
              <a:rPr lang="en-US" sz="1600" b="1" dirty="0"/>
              <a:t>config-setup:</a:t>
            </a:r>
          </a:p>
          <a:p>
            <a:pPr marL="342900" indent="-342900">
              <a:buFont typeface="+mj-lt"/>
              <a:buAutoNum type="arabicPeriod"/>
            </a:pPr>
            <a:r>
              <a:rPr lang="en-US" sz="1600" dirty="0"/>
              <a:t>In supervisor, load configuration, or if existing configuration is not available, generate default configuration</a:t>
            </a:r>
          </a:p>
          <a:p>
            <a:pPr marL="342900" indent="-342900">
              <a:buFont typeface="+mj-lt"/>
              <a:buAutoNum type="arabicPeriod"/>
            </a:pPr>
            <a:r>
              <a:rPr lang="en-US" sz="1600" dirty="0"/>
              <a:t>In line-cards, wait until CONFIG_DB_INITALIZED is set to “1”</a:t>
            </a:r>
          </a:p>
        </p:txBody>
      </p:sp>
    </p:spTree>
    <p:extLst>
      <p:ext uri="{BB962C8B-B14F-4D97-AF65-F5344CB8AC3E}">
        <p14:creationId xmlns:p14="http://schemas.microsoft.com/office/powerpoint/2010/main" val="3688466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849CF-1C07-A3E3-7212-04573DA6F8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9073A4-CA72-F017-E7D2-159007584DC9}"/>
              </a:ext>
            </a:extLst>
          </p:cNvPr>
          <p:cNvSpPr txBox="1"/>
          <p:nvPr/>
        </p:nvSpPr>
        <p:spPr>
          <a:xfrm>
            <a:off x="457200" y="274320"/>
            <a:ext cx="7525778" cy="523220"/>
          </a:xfrm>
          <a:prstGeom prst="rect">
            <a:avLst/>
          </a:prstGeom>
          <a:noFill/>
        </p:spPr>
        <p:txBody>
          <a:bodyPr wrap="none">
            <a:spAutoFit/>
          </a:bodyPr>
          <a:lstStyle/>
          <a:p>
            <a:pPr>
              <a:defRPr sz="2800" b="1">
                <a:solidFill>
                  <a:srgbClr val="333333"/>
                </a:solidFill>
              </a:defRPr>
            </a:pPr>
            <a:r>
              <a:rPr lang="en-US" dirty="0"/>
              <a:t>Centralized Chassis Architecture Building Blocks</a:t>
            </a:r>
            <a:endParaRPr dirty="0"/>
          </a:p>
        </p:txBody>
      </p:sp>
      <p:sp>
        <p:nvSpPr>
          <p:cNvPr id="3" name="TextBox 2">
            <a:extLst>
              <a:ext uri="{FF2B5EF4-FFF2-40B4-BE49-F238E27FC236}">
                <a16:creationId xmlns:a16="http://schemas.microsoft.com/office/drawing/2014/main" id="{5753675A-1900-EB70-D376-61B5633AE358}"/>
              </a:ext>
            </a:extLst>
          </p:cNvPr>
          <p:cNvSpPr txBox="1"/>
          <p:nvPr/>
        </p:nvSpPr>
        <p:spPr>
          <a:xfrm>
            <a:off x="605480" y="1110438"/>
            <a:ext cx="10676239" cy="3877985"/>
          </a:xfrm>
          <a:prstGeom prst="rect">
            <a:avLst/>
          </a:prstGeom>
          <a:noFill/>
        </p:spPr>
        <p:txBody>
          <a:bodyPr wrap="square">
            <a:spAutoFit/>
          </a:bodyPr>
          <a:lstStyle/>
          <a:p>
            <a:pPr marL="342900" indent="-342900">
              <a:spcAft>
                <a:spcPts val="600"/>
              </a:spcAft>
              <a:buFont typeface="Arial" panose="020B0604020202020204" pitchFamily="34" charset="0"/>
              <a:buChar char="•"/>
              <a:defRPr sz="1600">
                <a:solidFill>
                  <a:srgbClr val="333333"/>
                </a:solidFill>
              </a:defRPr>
            </a:pPr>
            <a:r>
              <a:rPr lang="en-US" sz="2400" b="1" dirty="0"/>
              <a:t>Hierarchical Port Naming</a:t>
            </a:r>
            <a:r>
              <a:rPr lang="en-US" sz="2400" dirty="0"/>
              <a:t>: port name is chassis-wide unique</a:t>
            </a:r>
          </a:p>
          <a:p>
            <a:pPr marL="342900" indent="-342900">
              <a:spcAft>
                <a:spcPts val="600"/>
              </a:spcAft>
              <a:buFont typeface="Arial" panose="020B0604020202020204" pitchFamily="34" charset="0"/>
              <a:buChar char="•"/>
              <a:defRPr sz="1600">
                <a:solidFill>
                  <a:srgbClr val="333333"/>
                </a:solidFill>
              </a:defRPr>
            </a:pPr>
            <a:r>
              <a:rPr lang="en-US" sz="2400" b="1" dirty="0"/>
              <a:t>Split Database Model</a:t>
            </a:r>
            <a:r>
              <a:rPr lang="en-US" sz="2400" dirty="0"/>
              <a:t>: new chassis-wide accessible </a:t>
            </a:r>
            <a:r>
              <a:rPr lang="en-US" sz="2400" b="1" dirty="0"/>
              <a:t>database-central </a:t>
            </a:r>
            <a:r>
              <a:rPr lang="en-US" sz="2400" dirty="0"/>
              <a:t>service</a:t>
            </a:r>
          </a:p>
          <a:p>
            <a:pPr marL="342900" indent="-342900">
              <a:spcAft>
                <a:spcPts val="600"/>
              </a:spcAft>
              <a:buFont typeface="Arial" panose="020B0604020202020204" pitchFamily="34" charset="0"/>
              <a:buChar char="•"/>
              <a:defRPr sz="1600">
                <a:solidFill>
                  <a:srgbClr val="333333"/>
                </a:solidFill>
              </a:defRPr>
            </a:pPr>
            <a:r>
              <a:rPr lang="en-US" sz="2400" b="1" dirty="0"/>
              <a:t>Feature/Service Placement: </a:t>
            </a:r>
            <a:r>
              <a:rPr lang="en-US" sz="2400" dirty="0"/>
              <a:t>where different </a:t>
            </a:r>
            <a:r>
              <a:rPr lang="en-US" sz="2400" dirty="0" err="1"/>
              <a:t>SONiC</a:t>
            </a:r>
            <a:r>
              <a:rPr lang="en-US" sz="2400" dirty="0"/>
              <a:t> services run</a:t>
            </a:r>
            <a:r>
              <a:rPr lang="en-US" sz="2400" b="1" dirty="0"/>
              <a:t> </a:t>
            </a:r>
          </a:p>
          <a:p>
            <a:pPr marL="342900" indent="-342900">
              <a:spcAft>
                <a:spcPts val="600"/>
              </a:spcAft>
              <a:buFont typeface="Arial" panose="020B0604020202020204" pitchFamily="34" charset="0"/>
              <a:buChar char="•"/>
              <a:defRPr sz="1600">
                <a:solidFill>
                  <a:srgbClr val="333333"/>
                </a:solidFill>
              </a:defRPr>
            </a:pPr>
            <a:r>
              <a:rPr lang="en-US" sz="2400" b="1" dirty="0"/>
              <a:t>Hybrid </a:t>
            </a:r>
            <a:r>
              <a:rPr lang="en-US" sz="2400" b="1" dirty="0" err="1"/>
              <a:t>ZMQ+Redis</a:t>
            </a:r>
            <a:r>
              <a:rPr lang="en-US" sz="2400" b="1" dirty="0"/>
              <a:t> State Distribution</a:t>
            </a:r>
            <a:r>
              <a:rPr lang="en-US" sz="2400" dirty="0"/>
              <a:t>: replicate state from Supervisor to per-namespace </a:t>
            </a:r>
            <a:r>
              <a:rPr lang="en-US" sz="2400" dirty="0" err="1"/>
              <a:t>orchagent</a:t>
            </a:r>
            <a:r>
              <a:rPr lang="en-US" sz="2400" dirty="0"/>
              <a:t> </a:t>
            </a:r>
            <a:r>
              <a:rPr lang="en-US" sz="2400" dirty="0" err="1"/>
              <a:t>swsw</a:t>
            </a:r>
            <a:r>
              <a:rPr lang="en-US" sz="2400" dirty="0"/>
              <a:t>@</a:t>
            </a:r>
          </a:p>
          <a:p>
            <a:pPr marL="342900" indent="-342900">
              <a:spcAft>
                <a:spcPts val="600"/>
              </a:spcAft>
              <a:buFont typeface="Arial" panose="020B0604020202020204" pitchFamily="34" charset="0"/>
              <a:buChar char="•"/>
              <a:defRPr sz="1600">
                <a:solidFill>
                  <a:srgbClr val="333333"/>
                </a:solidFill>
              </a:defRPr>
            </a:pPr>
            <a:r>
              <a:rPr lang="en-US" sz="2400" b="1" dirty="0"/>
              <a:t>Manageability</a:t>
            </a:r>
            <a:r>
              <a:rPr lang="en-US" sz="2400" dirty="0"/>
              <a:t>: Yang model changes, CLI, </a:t>
            </a:r>
            <a:r>
              <a:rPr lang="en-US" sz="2400" dirty="0" err="1"/>
              <a:t>gnmi</a:t>
            </a:r>
            <a:r>
              <a:rPr lang="en-US" sz="2400" dirty="0"/>
              <a:t>/</a:t>
            </a:r>
            <a:r>
              <a:rPr lang="en-US" sz="2400" dirty="0" err="1"/>
              <a:t>snmp</a:t>
            </a:r>
            <a:r>
              <a:rPr lang="en-US" sz="2400" dirty="0"/>
              <a:t> and sonic config utilities</a:t>
            </a:r>
          </a:p>
          <a:p>
            <a:pPr marL="342900" indent="-342900">
              <a:spcAft>
                <a:spcPts val="600"/>
              </a:spcAft>
              <a:buFont typeface="Arial" panose="020B0604020202020204" pitchFamily="34" charset="0"/>
              <a:buChar char="•"/>
              <a:defRPr sz="1600">
                <a:solidFill>
                  <a:srgbClr val="333333"/>
                </a:solidFill>
              </a:defRPr>
            </a:pPr>
            <a:r>
              <a:rPr lang="en-US" sz="2400" b="1" dirty="0"/>
              <a:t>Host Datapath Orchestration: </a:t>
            </a:r>
            <a:r>
              <a:rPr lang="en-US" sz="2400" dirty="0"/>
              <a:t>how it is being done currently, and future SAI API enhancement</a:t>
            </a:r>
          </a:p>
          <a:p>
            <a:pPr marL="342900" indent="-342900">
              <a:spcAft>
                <a:spcPts val="600"/>
              </a:spcAft>
              <a:buFont typeface="Arial" panose="020B0604020202020204" pitchFamily="34" charset="0"/>
              <a:buChar char="•"/>
              <a:defRPr sz="1600">
                <a:solidFill>
                  <a:srgbClr val="333333"/>
                </a:solidFill>
              </a:defRPr>
            </a:pPr>
            <a:r>
              <a:rPr lang="en-US" sz="2400" b="1" dirty="0"/>
              <a:t>Chassis Management</a:t>
            </a:r>
            <a:r>
              <a:rPr lang="en-US" sz="2400" dirty="0"/>
              <a:t>: manage line-card OIR and software version</a:t>
            </a:r>
          </a:p>
        </p:txBody>
      </p:sp>
      <p:sp>
        <p:nvSpPr>
          <p:cNvPr id="4" name="TextBox 3">
            <a:extLst>
              <a:ext uri="{FF2B5EF4-FFF2-40B4-BE49-F238E27FC236}">
                <a16:creationId xmlns:a16="http://schemas.microsoft.com/office/drawing/2014/main" id="{94047756-A24A-02EC-ED03-B0CDE56F7781}"/>
              </a:ext>
            </a:extLst>
          </p:cNvPr>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extLst>
      <p:ext uri="{BB962C8B-B14F-4D97-AF65-F5344CB8AC3E}">
        <p14:creationId xmlns:p14="http://schemas.microsoft.com/office/powerpoint/2010/main" val="66608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F2CED-0CFB-9227-4048-75F8D014A4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E015BB-E6D5-5C88-85D3-05C5373FB329}"/>
              </a:ext>
            </a:extLst>
          </p:cNvPr>
          <p:cNvSpPr txBox="1"/>
          <p:nvPr/>
        </p:nvSpPr>
        <p:spPr>
          <a:xfrm>
            <a:off x="457200" y="274320"/>
            <a:ext cx="1941044" cy="523220"/>
          </a:xfrm>
          <a:prstGeom prst="rect">
            <a:avLst/>
          </a:prstGeom>
          <a:noFill/>
        </p:spPr>
        <p:txBody>
          <a:bodyPr wrap="none">
            <a:spAutoFit/>
          </a:bodyPr>
          <a:lstStyle/>
          <a:p>
            <a:pPr>
              <a:defRPr sz="2800" b="1">
                <a:solidFill>
                  <a:srgbClr val="333333"/>
                </a:solidFill>
              </a:defRPr>
            </a:pPr>
            <a:r>
              <a:rPr lang="en-US" dirty="0"/>
              <a:t>Next Steps?</a:t>
            </a:r>
            <a:endParaRPr dirty="0"/>
          </a:p>
        </p:txBody>
      </p:sp>
      <p:sp>
        <p:nvSpPr>
          <p:cNvPr id="4" name="TextBox 3">
            <a:extLst>
              <a:ext uri="{FF2B5EF4-FFF2-40B4-BE49-F238E27FC236}">
                <a16:creationId xmlns:a16="http://schemas.microsoft.com/office/drawing/2014/main" id="{7386BAB0-F81E-3F38-E566-7DD90FA55788}"/>
              </a:ext>
            </a:extLst>
          </p:cNvPr>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
        <p:nvSpPr>
          <p:cNvPr id="6" name="TextBox 5">
            <a:extLst>
              <a:ext uri="{FF2B5EF4-FFF2-40B4-BE49-F238E27FC236}">
                <a16:creationId xmlns:a16="http://schemas.microsoft.com/office/drawing/2014/main" id="{AD00D8B6-F041-6ED1-93CD-FEB0689702D2}"/>
              </a:ext>
            </a:extLst>
          </p:cNvPr>
          <p:cNvSpPr txBox="1"/>
          <p:nvPr/>
        </p:nvSpPr>
        <p:spPr>
          <a:xfrm>
            <a:off x="548640" y="914400"/>
            <a:ext cx="8961120"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Centralized Chassis Architecture HLD link is </a:t>
            </a:r>
            <a:r>
              <a:rPr lang="en-US" sz="2800" dirty="0">
                <a:hlinkClick r:id="rId2"/>
              </a:rPr>
              <a:t>here</a:t>
            </a:r>
            <a:r>
              <a:rPr lang="en-US" sz="2800" dirty="0"/>
              <a:t>.</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Reviewing HLD for each of Centralized Chassis Building Blocks? Using PR or present to (various) Workgroups (Routing, SWSS, UMF/Manageability)?</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Release candidate/timeline</a:t>
            </a:r>
          </a:p>
        </p:txBody>
      </p:sp>
    </p:spTree>
    <p:extLst>
      <p:ext uri="{BB962C8B-B14F-4D97-AF65-F5344CB8AC3E}">
        <p14:creationId xmlns:p14="http://schemas.microsoft.com/office/powerpoint/2010/main" val="2674098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9FD9"/>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371600"/>
          </a:xfrm>
          <a:prstGeom prst="rect">
            <a:avLst/>
          </a:prstGeom>
          <a:noFill/>
        </p:spPr>
        <p:txBody>
          <a:bodyPr wrap="square">
            <a:spAutoFit/>
          </a:bodyPr>
          <a:lstStyle/>
          <a:p>
            <a:pPr algn="l">
              <a:defRPr sz="3600" b="1">
                <a:solidFill>
                  <a:srgbClr val="FFFFFF"/>
                </a:solidFill>
              </a:defRPr>
            </a:pPr>
            <a:r>
              <a:t>Thank You</a:t>
            </a:r>
          </a:p>
        </p:txBody>
      </p:sp>
      <p:sp>
        <p:nvSpPr>
          <p:cNvPr id="3" name="TextBox 2"/>
          <p:cNvSpPr txBox="1"/>
          <p:nvPr/>
        </p:nvSpPr>
        <p:spPr>
          <a:xfrm>
            <a:off x="914400" y="3474720"/>
            <a:ext cx="10058400" cy="1828800"/>
          </a:xfrm>
          <a:prstGeom prst="rect">
            <a:avLst/>
          </a:prstGeom>
          <a:noFill/>
        </p:spPr>
        <p:txBody>
          <a:bodyPr wrap="square">
            <a:spAutoFit/>
          </a:bodyPr>
          <a:lstStyle/>
          <a:p>
            <a:pPr algn="l">
              <a:defRPr sz="1800">
                <a:solidFill>
                  <a:srgbClr val="FFFFFF"/>
                </a:solidFill>
              </a:defRPr>
            </a:pPr>
            <a:r>
              <a:t>Questions &amp; Discussion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9FD9"/>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1828800"/>
          </a:xfrm>
          <a:prstGeom prst="rect">
            <a:avLst/>
          </a:prstGeom>
          <a:noFill/>
        </p:spPr>
        <p:txBody>
          <a:bodyPr wrap="square">
            <a:spAutoFit/>
          </a:bodyPr>
          <a:lstStyle/>
          <a:p>
            <a:pPr algn="l">
              <a:defRPr sz="3200" b="1">
                <a:solidFill>
                  <a:srgbClr val="FFFFFF"/>
                </a:solidFill>
              </a:defRPr>
            </a:pPr>
            <a:r>
              <a:t>Technical Deep Dives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B0378-9FCC-F010-F629-CAE342744D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C342D2-9525-0DEC-D85E-AFE4B880173E}"/>
              </a:ext>
            </a:extLst>
          </p:cNvPr>
          <p:cNvSpPr txBox="1"/>
          <p:nvPr/>
        </p:nvSpPr>
        <p:spPr>
          <a:xfrm>
            <a:off x="457200" y="274320"/>
            <a:ext cx="10972800" cy="731520"/>
          </a:xfrm>
          <a:prstGeom prst="rect">
            <a:avLst/>
          </a:prstGeom>
          <a:noFill/>
        </p:spPr>
        <p:txBody>
          <a:bodyPr wrap="none">
            <a:spAutoFit/>
          </a:bodyPr>
          <a:lstStyle/>
          <a:p>
            <a:pPr>
              <a:defRPr sz="2800" b="1">
                <a:solidFill>
                  <a:srgbClr val="333333"/>
                </a:solidFill>
              </a:defRPr>
            </a:pPr>
            <a:r>
              <a:rPr dirty="0"/>
              <a:t>Split Database Model</a:t>
            </a:r>
          </a:p>
        </p:txBody>
      </p:sp>
      <p:sp>
        <p:nvSpPr>
          <p:cNvPr id="3" name="TextBox 2">
            <a:extLst>
              <a:ext uri="{FF2B5EF4-FFF2-40B4-BE49-F238E27FC236}">
                <a16:creationId xmlns:a16="http://schemas.microsoft.com/office/drawing/2014/main" id="{3B653044-9FCA-F095-07AF-A6216403AE38}"/>
              </a:ext>
            </a:extLst>
          </p:cNvPr>
          <p:cNvSpPr txBox="1"/>
          <p:nvPr/>
        </p:nvSpPr>
        <p:spPr>
          <a:xfrm>
            <a:off x="605480" y="1110438"/>
            <a:ext cx="10676239" cy="3354765"/>
          </a:xfrm>
          <a:prstGeom prst="rect">
            <a:avLst/>
          </a:prstGeom>
          <a:noFill/>
        </p:spPr>
        <p:txBody>
          <a:bodyPr wrap="square">
            <a:spAutoFit/>
          </a:bodyPr>
          <a:lstStyle/>
          <a:p>
            <a:pPr marL="342900" indent="-342900">
              <a:spcAft>
                <a:spcPts val="600"/>
              </a:spcAft>
              <a:buFont typeface="Arial" panose="020B0604020202020204" pitchFamily="34" charset="0"/>
              <a:buChar char="•"/>
              <a:defRPr sz="1600">
                <a:solidFill>
                  <a:srgbClr val="333333"/>
                </a:solidFill>
              </a:defRPr>
            </a:pPr>
            <a:r>
              <a:rPr lang="en-US" sz="2400" dirty="0"/>
              <a:t>(</a:t>
            </a:r>
            <a:r>
              <a:rPr sz="2400" dirty="0"/>
              <a:t>New</a:t>
            </a:r>
            <a:r>
              <a:rPr lang="en-US" sz="2400" dirty="0"/>
              <a:t>)</a:t>
            </a:r>
            <a:r>
              <a:rPr sz="2400" dirty="0"/>
              <a:t> </a:t>
            </a:r>
            <a:r>
              <a:rPr sz="2400" b="1" dirty="0"/>
              <a:t>database-central </a:t>
            </a:r>
            <a:r>
              <a:rPr sz="2400" dirty="0"/>
              <a:t>service </a:t>
            </a:r>
            <a:r>
              <a:rPr lang="en-US" sz="2400" dirty="0"/>
              <a:t>in Supervisor </a:t>
            </a:r>
            <a:r>
              <a:rPr sz="2400" dirty="0"/>
              <a:t>— chassis-wide accessible from </a:t>
            </a:r>
            <a:r>
              <a:rPr lang="en-US" sz="2400" dirty="0"/>
              <a:t>Supervisor and line-cards in a chassis</a:t>
            </a:r>
            <a:endParaRPr sz="2400" dirty="0"/>
          </a:p>
          <a:p>
            <a:pPr marL="342900" indent="-342900">
              <a:spcAft>
                <a:spcPts val="600"/>
              </a:spcAft>
              <a:buFont typeface="Arial" panose="020B0604020202020204" pitchFamily="34" charset="0"/>
              <a:buChar char="•"/>
              <a:defRPr sz="1600">
                <a:solidFill>
                  <a:srgbClr val="333333"/>
                </a:solidFill>
              </a:defRPr>
            </a:pPr>
            <a:r>
              <a:rPr lang="en-US" sz="2400" dirty="0"/>
              <a:t>Database hosted in </a:t>
            </a:r>
            <a:r>
              <a:rPr lang="en-US" sz="2400" b="1" dirty="0"/>
              <a:t>database-central</a:t>
            </a:r>
            <a:r>
              <a:rPr sz="2400" dirty="0"/>
              <a:t>: CONFIG_DB, APPL_DB, STATE_DB, APPL_STATE_DB, CHASSIS_COUNTER_DB</a:t>
            </a:r>
          </a:p>
          <a:p>
            <a:pPr marL="342900" indent="-342900">
              <a:spcAft>
                <a:spcPts val="600"/>
              </a:spcAft>
              <a:buFont typeface="Arial" panose="020B0604020202020204" pitchFamily="34" charset="0"/>
              <a:buChar char="•"/>
              <a:defRPr sz="1600">
                <a:solidFill>
                  <a:srgbClr val="333333"/>
                </a:solidFill>
              </a:defRPr>
            </a:pPr>
            <a:r>
              <a:rPr sz="2400" dirty="0"/>
              <a:t>Per-namespace </a:t>
            </a:r>
            <a:r>
              <a:rPr lang="en-US" sz="2400" b="1" dirty="0"/>
              <a:t>database@</a:t>
            </a:r>
            <a:r>
              <a:rPr lang="en-US" sz="2400" dirty="0"/>
              <a:t> service still hosts</a:t>
            </a:r>
            <a:r>
              <a:rPr sz="2400" dirty="0"/>
              <a:t>: ASIC_DB, COUNTER_DB</a:t>
            </a:r>
            <a:endParaRPr lang="en-US" sz="2400" dirty="0"/>
          </a:p>
          <a:p>
            <a:pPr marL="342900" indent="-342900">
              <a:spcAft>
                <a:spcPts val="600"/>
              </a:spcAft>
              <a:buFont typeface="Arial" panose="020B0604020202020204" pitchFamily="34" charset="0"/>
              <a:buChar char="•"/>
              <a:defRPr sz="1600">
                <a:solidFill>
                  <a:srgbClr val="333333"/>
                </a:solidFill>
              </a:defRPr>
            </a:pPr>
            <a:r>
              <a:rPr lang="en-US" sz="2400" dirty="0"/>
              <a:t>Database in the existing </a:t>
            </a:r>
            <a:r>
              <a:rPr lang="en-US" sz="2400" b="1" dirty="0"/>
              <a:t>database-chassis</a:t>
            </a:r>
            <a:r>
              <a:rPr lang="en-US" sz="2400" dirty="0"/>
              <a:t> remain unchanged</a:t>
            </a:r>
            <a:endParaRPr sz="2400" dirty="0"/>
          </a:p>
          <a:p>
            <a:pPr marL="342900" indent="-342900">
              <a:spcAft>
                <a:spcPts val="600"/>
              </a:spcAft>
              <a:buFont typeface="Arial" panose="020B0604020202020204" pitchFamily="34" charset="0"/>
              <a:buChar char="•"/>
              <a:defRPr sz="1600">
                <a:solidFill>
                  <a:srgbClr val="333333"/>
                </a:solidFill>
              </a:defRPr>
            </a:pPr>
            <a:r>
              <a:rPr sz="2400" dirty="0"/>
              <a:t>Design </a:t>
            </a:r>
            <a:r>
              <a:rPr lang="en-US" sz="2400" dirty="0"/>
              <a:t>R</a:t>
            </a:r>
            <a:r>
              <a:rPr sz="2400" dirty="0"/>
              <a:t>ationale: plac</a:t>
            </a:r>
            <a:r>
              <a:rPr lang="en-US" sz="2400" dirty="0"/>
              <a:t>ing</a:t>
            </a:r>
            <a:r>
              <a:rPr sz="2400" dirty="0"/>
              <a:t> data close to its </a:t>
            </a:r>
            <a:r>
              <a:rPr lang="en-US" sz="2400" dirty="0"/>
              <a:t>active client</a:t>
            </a:r>
            <a:r>
              <a:rPr sz="2400" dirty="0"/>
              <a:t>, minimize cross-chassis </a:t>
            </a:r>
            <a:r>
              <a:rPr lang="en-US" sz="2400" dirty="0"/>
              <a:t>database</a:t>
            </a:r>
            <a:r>
              <a:rPr sz="2400" dirty="0"/>
              <a:t> traffic</a:t>
            </a:r>
          </a:p>
        </p:txBody>
      </p:sp>
      <p:sp>
        <p:nvSpPr>
          <p:cNvPr id="4" name="TextBox 3">
            <a:extLst>
              <a:ext uri="{FF2B5EF4-FFF2-40B4-BE49-F238E27FC236}">
                <a16:creationId xmlns:a16="http://schemas.microsoft.com/office/drawing/2014/main" id="{9DE751B6-563E-F407-ADDC-1BCA53CBA19E}"/>
              </a:ext>
            </a:extLst>
          </p:cNvPr>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extLst>
      <p:ext uri="{BB962C8B-B14F-4D97-AF65-F5344CB8AC3E}">
        <p14:creationId xmlns:p14="http://schemas.microsoft.com/office/powerpoint/2010/main" val="2034659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7313990" cy="523220"/>
          </a:xfrm>
          <a:prstGeom prst="rect">
            <a:avLst/>
          </a:prstGeom>
          <a:noFill/>
        </p:spPr>
        <p:txBody>
          <a:bodyPr wrap="none">
            <a:spAutoFit/>
          </a:bodyPr>
          <a:lstStyle/>
          <a:p>
            <a:pPr>
              <a:defRPr sz="2800" b="1">
                <a:solidFill>
                  <a:srgbClr val="333333"/>
                </a:solidFill>
              </a:defRPr>
            </a:pPr>
            <a:r>
              <a:rPr lang="en-US" dirty="0"/>
              <a:t>Service Placement</a:t>
            </a:r>
            <a:r>
              <a:rPr dirty="0"/>
              <a:t>: </a:t>
            </a:r>
            <a:r>
              <a:rPr lang="en-US" dirty="0"/>
              <a:t>Supervisor</a:t>
            </a:r>
            <a:r>
              <a:rPr dirty="0"/>
              <a:t> vs L</a:t>
            </a:r>
            <a:r>
              <a:rPr lang="en-US" dirty="0"/>
              <a:t>ine-Card</a:t>
            </a:r>
            <a:r>
              <a:rPr dirty="0"/>
              <a:t> Split</a:t>
            </a:r>
          </a:p>
        </p:txBody>
      </p:sp>
      <p:sp>
        <p:nvSpPr>
          <p:cNvPr id="3" name="TextBox 2"/>
          <p:cNvSpPr txBox="1"/>
          <p:nvPr/>
        </p:nvSpPr>
        <p:spPr>
          <a:xfrm>
            <a:off x="457200" y="1097280"/>
            <a:ext cx="4108945" cy="369332"/>
          </a:xfrm>
          <a:prstGeom prst="rect">
            <a:avLst/>
          </a:prstGeom>
          <a:noFill/>
        </p:spPr>
        <p:txBody>
          <a:bodyPr wrap="none">
            <a:spAutoFit/>
          </a:bodyPr>
          <a:lstStyle/>
          <a:p>
            <a:pPr>
              <a:defRPr sz="1800" b="1">
                <a:solidFill>
                  <a:srgbClr val="049FD9"/>
                </a:solidFill>
              </a:defRPr>
            </a:pPr>
            <a:r>
              <a:rPr lang="en-US" dirty="0"/>
              <a:t>Supervisor/</a:t>
            </a:r>
            <a:r>
              <a:rPr dirty="0"/>
              <a:t>Route</a:t>
            </a:r>
            <a:r>
              <a:rPr lang="en-US" dirty="0"/>
              <a:t>-</a:t>
            </a:r>
            <a:r>
              <a:rPr dirty="0"/>
              <a:t>Processor (Centralized)</a:t>
            </a:r>
          </a:p>
        </p:txBody>
      </p:sp>
      <p:sp>
        <p:nvSpPr>
          <p:cNvPr id="4" name="TextBox 3"/>
          <p:cNvSpPr txBox="1"/>
          <p:nvPr/>
        </p:nvSpPr>
        <p:spPr>
          <a:xfrm>
            <a:off x="457200" y="1645920"/>
            <a:ext cx="5303520" cy="2200602"/>
          </a:xfrm>
          <a:prstGeom prst="rect">
            <a:avLst/>
          </a:prstGeom>
          <a:noFill/>
        </p:spPr>
        <p:txBody>
          <a:bodyPr wrap="square">
            <a:spAutoFit/>
          </a:bodyPr>
          <a:lstStyle/>
          <a:p>
            <a:pPr>
              <a:spcAft>
                <a:spcPts val="500"/>
              </a:spcAft>
              <a:defRPr sz="1400">
                <a:solidFill>
                  <a:srgbClr val="333333"/>
                </a:solidFill>
              </a:defRPr>
            </a:pPr>
            <a:r>
              <a:rPr dirty="0"/>
              <a:t>• database-central (chassis-wide DBs)</a:t>
            </a:r>
            <a:r>
              <a:rPr lang="en-US" dirty="0"/>
              <a:t>: </a:t>
            </a:r>
            <a:r>
              <a:rPr dirty="0"/>
              <a:t>CONFIG_DB, APPL_DB, STATE_DB</a:t>
            </a:r>
          </a:p>
          <a:p>
            <a:pPr>
              <a:spcAft>
                <a:spcPts val="500"/>
              </a:spcAft>
              <a:defRPr sz="1400">
                <a:solidFill>
                  <a:srgbClr val="333333"/>
                </a:solidFill>
              </a:defRPr>
            </a:pPr>
            <a:r>
              <a:rPr dirty="0"/>
              <a:t>• Manageability: </a:t>
            </a:r>
            <a:r>
              <a:rPr dirty="0" err="1"/>
              <a:t>gNMI</a:t>
            </a:r>
            <a:r>
              <a:rPr dirty="0"/>
              <a:t>, SNMP, CLI, REST</a:t>
            </a:r>
          </a:p>
          <a:p>
            <a:pPr>
              <a:spcAft>
                <a:spcPts val="500"/>
              </a:spcAft>
              <a:defRPr sz="1400">
                <a:solidFill>
                  <a:srgbClr val="333333"/>
                </a:solidFill>
              </a:defRPr>
            </a:pPr>
            <a:r>
              <a:rPr dirty="0"/>
              <a:t>• Network Protocols: BGP, LACP, LLDP</a:t>
            </a:r>
          </a:p>
          <a:p>
            <a:pPr>
              <a:spcAft>
                <a:spcPts val="500"/>
              </a:spcAft>
              <a:defRPr sz="1400">
                <a:solidFill>
                  <a:srgbClr val="333333"/>
                </a:solidFill>
              </a:defRPr>
            </a:pPr>
            <a:r>
              <a:rPr dirty="0"/>
              <a:t>• </a:t>
            </a:r>
            <a:r>
              <a:rPr dirty="0" err="1"/>
              <a:t>swss</a:t>
            </a:r>
            <a:r>
              <a:rPr dirty="0"/>
              <a:t>-central: *</a:t>
            </a:r>
            <a:r>
              <a:rPr dirty="0" err="1"/>
              <a:t>mgrd</a:t>
            </a:r>
            <a:r>
              <a:rPr dirty="0"/>
              <a:t>, config distribution</a:t>
            </a:r>
          </a:p>
          <a:p>
            <a:pPr>
              <a:spcAft>
                <a:spcPts val="500"/>
              </a:spcAft>
              <a:defRPr sz="1400">
                <a:solidFill>
                  <a:srgbClr val="333333"/>
                </a:solidFill>
              </a:defRPr>
            </a:pPr>
            <a:r>
              <a:rPr dirty="0"/>
              <a:t>• Chassis management</a:t>
            </a:r>
            <a:r>
              <a:rPr lang="en-US" dirty="0"/>
              <a:t> (</a:t>
            </a:r>
            <a:r>
              <a:rPr lang="en-US" dirty="0" err="1"/>
              <a:t>pmon</a:t>
            </a:r>
            <a:r>
              <a:rPr lang="en-US" dirty="0"/>
              <a:t>)</a:t>
            </a:r>
            <a:r>
              <a:rPr dirty="0"/>
              <a:t>: OIR, install, </a:t>
            </a:r>
            <a:r>
              <a:rPr lang="en-US" dirty="0"/>
              <a:t>Card-Monitor</a:t>
            </a:r>
            <a:endParaRPr dirty="0"/>
          </a:p>
          <a:p>
            <a:pPr>
              <a:spcAft>
                <a:spcPts val="500"/>
              </a:spcAft>
              <a:defRPr sz="1400">
                <a:solidFill>
                  <a:srgbClr val="333333"/>
                </a:solidFill>
              </a:defRPr>
            </a:pPr>
            <a:r>
              <a:rPr dirty="0"/>
              <a:t>• Host path orchestration (</a:t>
            </a:r>
            <a:r>
              <a:rPr dirty="0" err="1"/>
              <a:t>ciscoPktIOMgr</a:t>
            </a:r>
            <a:r>
              <a:rPr dirty="0"/>
              <a:t>)</a:t>
            </a:r>
          </a:p>
          <a:p>
            <a:pPr>
              <a:spcAft>
                <a:spcPts val="500"/>
              </a:spcAft>
              <a:defRPr sz="1400">
                <a:solidFill>
                  <a:srgbClr val="333333"/>
                </a:solidFill>
              </a:defRPr>
            </a:pPr>
            <a:r>
              <a:rPr dirty="0"/>
              <a:t>• Telemetry aggregation (</a:t>
            </a:r>
            <a:r>
              <a:rPr dirty="0" err="1"/>
              <a:t>statsCollectord</a:t>
            </a:r>
            <a:r>
              <a:rPr dirty="0"/>
              <a:t>)</a:t>
            </a:r>
          </a:p>
        </p:txBody>
      </p:sp>
      <p:sp>
        <p:nvSpPr>
          <p:cNvPr id="5" name="TextBox 4"/>
          <p:cNvSpPr txBox="1"/>
          <p:nvPr/>
        </p:nvSpPr>
        <p:spPr>
          <a:xfrm>
            <a:off x="6217920" y="1097280"/>
            <a:ext cx="5303520" cy="457200"/>
          </a:xfrm>
          <a:prstGeom prst="rect">
            <a:avLst/>
          </a:prstGeom>
          <a:noFill/>
        </p:spPr>
        <p:txBody>
          <a:bodyPr wrap="none">
            <a:spAutoFit/>
          </a:bodyPr>
          <a:lstStyle/>
          <a:p>
            <a:pPr>
              <a:defRPr sz="1800" b="1">
                <a:solidFill>
                  <a:srgbClr val="049FD9"/>
                </a:solidFill>
              </a:defRPr>
            </a:pPr>
            <a:r>
              <a:t>Line Card (Distributed)</a:t>
            </a:r>
          </a:p>
        </p:txBody>
      </p:sp>
      <p:sp>
        <p:nvSpPr>
          <p:cNvPr id="6" name="TextBox 5"/>
          <p:cNvSpPr txBox="1"/>
          <p:nvPr/>
        </p:nvSpPr>
        <p:spPr>
          <a:xfrm>
            <a:off x="6217920" y="1645920"/>
            <a:ext cx="5303520" cy="1985159"/>
          </a:xfrm>
          <a:prstGeom prst="rect">
            <a:avLst/>
          </a:prstGeom>
          <a:noFill/>
        </p:spPr>
        <p:txBody>
          <a:bodyPr wrap="square">
            <a:spAutoFit/>
          </a:bodyPr>
          <a:lstStyle/>
          <a:p>
            <a:pPr>
              <a:spcAft>
                <a:spcPts val="500"/>
              </a:spcAft>
              <a:defRPr sz="1400">
                <a:solidFill>
                  <a:srgbClr val="333333"/>
                </a:solidFill>
              </a:defRPr>
            </a:pPr>
            <a:r>
              <a:rPr dirty="0"/>
              <a:t>• database@&lt;ns&gt; (ASIC_DB, COUNTER_DB)</a:t>
            </a:r>
          </a:p>
          <a:p>
            <a:pPr>
              <a:spcAft>
                <a:spcPts val="500"/>
              </a:spcAft>
              <a:defRPr sz="1400">
                <a:solidFill>
                  <a:srgbClr val="333333"/>
                </a:solidFill>
              </a:defRPr>
            </a:pPr>
            <a:r>
              <a:rPr dirty="0"/>
              <a:t>• </a:t>
            </a:r>
            <a:r>
              <a:rPr dirty="0" err="1"/>
              <a:t>swss</a:t>
            </a:r>
            <a:r>
              <a:rPr dirty="0"/>
              <a:t>@&lt;ns&gt;: </a:t>
            </a:r>
            <a:r>
              <a:rPr dirty="0" err="1"/>
              <a:t>orchagent</a:t>
            </a:r>
            <a:r>
              <a:rPr dirty="0"/>
              <a:t>, </a:t>
            </a:r>
            <a:r>
              <a:rPr dirty="0" err="1"/>
              <a:t>portsyncd</a:t>
            </a:r>
            <a:r>
              <a:rPr dirty="0"/>
              <a:t>, </a:t>
            </a:r>
            <a:r>
              <a:rPr dirty="0" err="1"/>
              <a:t>portmgrd</a:t>
            </a:r>
            <a:endParaRPr dirty="0"/>
          </a:p>
          <a:p>
            <a:pPr>
              <a:spcAft>
                <a:spcPts val="500"/>
              </a:spcAft>
              <a:defRPr sz="1400">
                <a:solidFill>
                  <a:srgbClr val="333333"/>
                </a:solidFill>
              </a:defRPr>
            </a:pPr>
            <a:r>
              <a:rPr dirty="0"/>
              <a:t>• </a:t>
            </a:r>
            <a:r>
              <a:rPr dirty="0" err="1"/>
              <a:t>syncd</a:t>
            </a:r>
            <a:r>
              <a:rPr dirty="0"/>
              <a:t> / SAI / SDK</a:t>
            </a:r>
          </a:p>
          <a:p>
            <a:pPr>
              <a:spcAft>
                <a:spcPts val="500"/>
              </a:spcAft>
              <a:defRPr sz="1400">
                <a:solidFill>
                  <a:srgbClr val="333333"/>
                </a:solidFill>
              </a:defRPr>
            </a:pPr>
            <a:r>
              <a:rPr dirty="0"/>
              <a:t>• Platform services (PMON, card agent)</a:t>
            </a:r>
          </a:p>
          <a:p>
            <a:pPr>
              <a:spcAft>
                <a:spcPts val="500"/>
              </a:spcAft>
              <a:defRPr sz="1400">
                <a:solidFill>
                  <a:srgbClr val="333333"/>
                </a:solidFill>
              </a:defRPr>
            </a:pPr>
            <a:endParaRPr dirty="0"/>
          </a:p>
          <a:p>
            <a:pPr>
              <a:spcAft>
                <a:spcPts val="500"/>
              </a:spcAft>
              <a:defRPr sz="1400">
                <a:solidFill>
                  <a:srgbClr val="333333"/>
                </a:solidFill>
              </a:defRPr>
            </a:pPr>
            <a:r>
              <a:rPr dirty="0"/>
              <a:t>Each LC identified by SLOT + NPU ID</a:t>
            </a:r>
          </a:p>
          <a:p>
            <a:pPr>
              <a:spcAft>
                <a:spcPts val="500"/>
              </a:spcAft>
              <a:defRPr sz="1400">
                <a:solidFill>
                  <a:srgbClr val="333333"/>
                </a:solidFill>
              </a:defRPr>
            </a:pPr>
            <a:r>
              <a:rPr dirty="0"/>
              <a:t>environment parameters</a:t>
            </a:r>
          </a:p>
        </p:txBody>
      </p:sp>
      <p:sp>
        <p:nvSpPr>
          <p:cNvPr id="7" name="TextBox 6"/>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800" b="1">
                <a:solidFill>
                  <a:srgbClr val="333333"/>
                </a:solidFill>
              </a:defRPr>
            </a:pPr>
            <a:r>
              <a:t>Service Placement</a:t>
            </a:r>
          </a:p>
        </p:txBody>
      </p:sp>
      <p:graphicFrame>
        <p:nvGraphicFramePr>
          <p:cNvPr id="3" name="Table 2"/>
          <p:cNvGraphicFramePr>
            <a:graphicFrameLocks noGrp="1"/>
          </p:cNvGraphicFramePr>
          <p:nvPr>
            <p:extLst>
              <p:ext uri="{D42A27DB-BD31-4B8C-83A1-F6EECF244321}">
                <p14:modId xmlns:p14="http://schemas.microsoft.com/office/powerpoint/2010/main" val="2818584144"/>
              </p:ext>
            </p:extLst>
          </p:nvPr>
        </p:nvGraphicFramePr>
        <p:xfrm>
          <a:off x="822960" y="1371600"/>
          <a:ext cx="10515600" cy="374904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65760">
                <a:tc>
                  <a:txBody>
                    <a:bodyPr/>
                    <a:lstStyle/>
                    <a:p>
                      <a:pPr>
                        <a:defRPr sz="1300" b="1">
                          <a:solidFill>
                            <a:srgbClr val="FFFFFF"/>
                          </a:solidFill>
                        </a:defRPr>
                      </a:pPr>
                      <a:r>
                        <a:t>Service</a:t>
                      </a:r>
                    </a:p>
                  </a:txBody>
                  <a:tcPr>
                    <a:solidFill>
                      <a:srgbClr val="049FD9"/>
                    </a:solidFill>
                  </a:tcPr>
                </a:tc>
                <a:tc>
                  <a:txBody>
                    <a:bodyPr/>
                    <a:lstStyle/>
                    <a:p>
                      <a:pPr>
                        <a:defRPr sz="1300" b="1">
                          <a:solidFill>
                            <a:srgbClr val="FFFFFF"/>
                          </a:solidFill>
                        </a:defRPr>
                      </a:pPr>
                      <a:r>
                        <a:t>Location</a:t>
                      </a:r>
                    </a:p>
                  </a:txBody>
                  <a:tcPr>
                    <a:solidFill>
                      <a:srgbClr val="049FD9"/>
                    </a:solidFill>
                  </a:tcPr>
                </a:tc>
                <a:tc>
                  <a:txBody>
                    <a:bodyPr/>
                    <a:lstStyle/>
                    <a:p>
                      <a:pPr>
                        <a:defRPr sz="1300" b="1">
                          <a:solidFill>
                            <a:srgbClr val="FFFFFF"/>
                          </a:solidFill>
                        </a:defRPr>
                      </a:pPr>
                      <a:r>
                        <a:t>Notes</a:t>
                      </a:r>
                    </a:p>
                  </a:txBody>
                  <a:tcPr>
                    <a:solidFill>
                      <a:srgbClr val="049FD9"/>
                    </a:solidFill>
                  </a:tcPr>
                </a:tc>
                <a:extLst>
                  <a:ext uri="{0D108BD9-81ED-4DB2-BD59-A6C34878D82A}">
                    <a16:rowId xmlns:a16="http://schemas.microsoft.com/office/drawing/2014/main" val="10000"/>
                  </a:ext>
                </a:extLst>
              </a:tr>
              <a:tr h="365760">
                <a:tc>
                  <a:txBody>
                    <a:bodyPr/>
                    <a:lstStyle/>
                    <a:p>
                      <a:pPr>
                        <a:defRPr sz="1200">
                          <a:solidFill>
                            <a:srgbClr val="333333"/>
                          </a:solidFill>
                        </a:defRPr>
                      </a:pPr>
                      <a:r>
                        <a:t>database-central</a:t>
                      </a:r>
                    </a:p>
                  </a:txBody>
                  <a:tcPr/>
                </a:tc>
                <a:tc>
                  <a:txBody>
                    <a:bodyPr/>
                    <a:lstStyle/>
                    <a:p>
                      <a:pPr>
                        <a:defRPr sz="1200">
                          <a:solidFill>
                            <a:srgbClr val="333333"/>
                          </a:solidFill>
                        </a:defRPr>
                      </a:pPr>
                      <a:r>
                        <a:rPr lang="en-US" dirty="0"/>
                        <a:t>Supervisor</a:t>
                      </a:r>
                      <a:endParaRPr dirty="0"/>
                    </a:p>
                  </a:txBody>
                  <a:tcPr/>
                </a:tc>
                <a:tc>
                  <a:txBody>
                    <a:bodyPr/>
                    <a:lstStyle/>
                    <a:p>
                      <a:pPr>
                        <a:defRPr sz="1200">
                          <a:solidFill>
                            <a:srgbClr val="333333"/>
                          </a:solidFill>
                        </a:defRPr>
                      </a:pPr>
                      <a:r>
                        <a:t>CONFIG_DB, APPL_DB, STATE_DB, APPL_STATE_DB, CHASSIS_COUNTER_DB</a:t>
                      </a:r>
                    </a:p>
                  </a:txBody>
                  <a:tcPr/>
                </a:tc>
                <a:extLst>
                  <a:ext uri="{0D108BD9-81ED-4DB2-BD59-A6C34878D82A}">
                    <a16:rowId xmlns:a16="http://schemas.microsoft.com/office/drawing/2014/main" val="10001"/>
                  </a:ext>
                </a:extLst>
              </a:tr>
              <a:tr h="365760">
                <a:tc>
                  <a:txBody>
                    <a:bodyPr/>
                    <a:lstStyle/>
                    <a:p>
                      <a:pPr>
                        <a:defRPr sz="1200">
                          <a:solidFill>
                            <a:srgbClr val="333333"/>
                          </a:solidFill>
                        </a:defRPr>
                      </a:pPr>
                      <a:r>
                        <a:t>database@&lt;ns&gt;</a:t>
                      </a:r>
                    </a:p>
                  </a:txBody>
                  <a:tcPr/>
                </a:tc>
                <a:tc>
                  <a:txBody>
                    <a:bodyPr/>
                    <a:lstStyle/>
                    <a:p>
                      <a:pPr>
                        <a:defRPr sz="1200">
                          <a:solidFill>
                            <a:srgbClr val="333333"/>
                          </a:solidFill>
                        </a:defRPr>
                      </a:pPr>
                      <a:r>
                        <a:rPr lang="en-US" dirty="0"/>
                        <a:t>FC/</a:t>
                      </a:r>
                      <a:r>
                        <a:rPr dirty="0"/>
                        <a:t>LC</a:t>
                      </a:r>
                    </a:p>
                  </a:txBody>
                  <a:tcPr/>
                </a:tc>
                <a:tc>
                  <a:txBody>
                    <a:bodyPr/>
                    <a:lstStyle/>
                    <a:p>
                      <a:pPr>
                        <a:defRPr sz="1200">
                          <a:solidFill>
                            <a:srgbClr val="333333"/>
                          </a:solidFill>
                        </a:defRPr>
                      </a:pPr>
                      <a:r>
                        <a:t>ASIC_DB, COUNTER_DB per NPU namespace</a:t>
                      </a:r>
                    </a:p>
                  </a:txBody>
                  <a:tcPr/>
                </a:tc>
                <a:extLst>
                  <a:ext uri="{0D108BD9-81ED-4DB2-BD59-A6C34878D82A}">
                    <a16:rowId xmlns:a16="http://schemas.microsoft.com/office/drawing/2014/main" val="10002"/>
                  </a:ext>
                </a:extLst>
              </a:tr>
              <a:tr h="365760">
                <a:tc>
                  <a:txBody>
                    <a:bodyPr/>
                    <a:lstStyle/>
                    <a:p>
                      <a:pPr>
                        <a:defRPr sz="1200">
                          <a:solidFill>
                            <a:srgbClr val="333333"/>
                          </a:solidFill>
                        </a:defRPr>
                      </a:pPr>
                      <a:r>
                        <a:t>gNMI / SNMP / CLI / REST</a:t>
                      </a:r>
                    </a:p>
                  </a:txBody>
                  <a:tcPr/>
                </a:tc>
                <a:tc>
                  <a:txBody>
                    <a:bodyPr/>
                    <a:lstStyle/>
                    <a:p>
                      <a:pPr>
                        <a:defRPr sz="1200">
                          <a:solidFill>
                            <a:srgbClr val="333333"/>
                          </a:solidFill>
                        </a:defRPr>
                      </a:pPr>
                      <a:r>
                        <a:rPr lang="en-US" dirty="0"/>
                        <a:t>Supervisor</a:t>
                      </a:r>
                      <a:endParaRPr dirty="0"/>
                    </a:p>
                  </a:txBody>
                  <a:tcPr/>
                </a:tc>
                <a:tc>
                  <a:txBody>
                    <a:bodyPr/>
                    <a:lstStyle/>
                    <a:p>
                      <a:pPr>
                        <a:defRPr sz="1200">
                          <a:solidFill>
                            <a:srgbClr val="333333"/>
                          </a:solidFill>
                        </a:defRPr>
                      </a:pPr>
                      <a:r>
                        <a:t>Single management endpoint for the chassis</a:t>
                      </a:r>
                    </a:p>
                  </a:txBody>
                  <a:tcPr/>
                </a:tc>
                <a:extLst>
                  <a:ext uri="{0D108BD9-81ED-4DB2-BD59-A6C34878D82A}">
                    <a16:rowId xmlns:a16="http://schemas.microsoft.com/office/drawing/2014/main" val="10003"/>
                  </a:ext>
                </a:extLst>
              </a:tr>
              <a:tr h="365760">
                <a:tc>
                  <a:txBody>
                    <a:bodyPr/>
                    <a:lstStyle/>
                    <a:p>
                      <a:pPr>
                        <a:defRPr sz="1200">
                          <a:solidFill>
                            <a:srgbClr val="333333"/>
                          </a:solidFill>
                        </a:defRPr>
                      </a:pPr>
                      <a:r>
                        <a:t>BGP / LACP / LLDP / RADV</a:t>
                      </a:r>
                    </a:p>
                  </a:txBody>
                  <a:tcPr/>
                </a:tc>
                <a:tc>
                  <a:txBody>
                    <a:bodyPr/>
                    <a:lstStyle/>
                    <a:p>
                      <a:pPr>
                        <a:defRPr sz="1200">
                          <a:solidFill>
                            <a:srgbClr val="333333"/>
                          </a:solidFill>
                        </a:defRPr>
                      </a:pPr>
                      <a:r>
                        <a:rPr lang="en-US" dirty="0"/>
                        <a:t>Supervisor</a:t>
                      </a:r>
                      <a:endParaRPr dirty="0"/>
                    </a:p>
                  </a:txBody>
                  <a:tcPr/>
                </a:tc>
                <a:tc>
                  <a:txBody>
                    <a:bodyPr/>
                    <a:lstStyle/>
                    <a:p>
                      <a:pPr>
                        <a:defRPr sz="1200">
                          <a:solidFill>
                            <a:srgbClr val="333333"/>
                          </a:solidFill>
                        </a:defRPr>
                      </a:pPr>
                      <a:r>
                        <a:t>Single routing/protocol instance</a:t>
                      </a:r>
                    </a:p>
                  </a:txBody>
                  <a:tcPr/>
                </a:tc>
                <a:extLst>
                  <a:ext uri="{0D108BD9-81ED-4DB2-BD59-A6C34878D82A}">
                    <a16:rowId xmlns:a16="http://schemas.microsoft.com/office/drawing/2014/main" val="10004"/>
                  </a:ext>
                </a:extLst>
              </a:tr>
              <a:tr h="365760">
                <a:tc>
                  <a:txBody>
                    <a:bodyPr/>
                    <a:lstStyle/>
                    <a:p>
                      <a:pPr>
                        <a:defRPr sz="1200">
                          <a:solidFill>
                            <a:srgbClr val="333333"/>
                          </a:solidFill>
                        </a:defRPr>
                      </a:pPr>
                      <a:r>
                        <a:t>swss-central</a:t>
                      </a:r>
                    </a:p>
                  </a:txBody>
                  <a:tcPr/>
                </a:tc>
                <a:tc>
                  <a:txBody>
                    <a:bodyPr/>
                    <a:lstStyle/>
                    <a:p>
                      <a:pPr>
                        <a:defRPr sz="1200">
                          <a:solidFill>
                            <a:srgbClr val="333333"/>
                          </a:solidFill>
                        </a:defRPr>
                      </a:pPr>
                      <a:r>
                        <a:rPr lang="en-US" dirty="0"/>
                        <a:t>Supervisor</a:t>
                      </a:r>
                      <a:endParaRPr dirty="0"/>
                    </a:p>
                  </a:txBody>
                  <a:tcPr/>
                </a:tc>
                <a:tc>
                  <a:txBody>
                    <a:bodyPr/>
                    <a:lstStyle/>
                    <a:p>
                      <a:pPr>
                        <a:defRPr sz="1200">
                          <a:solidFill>
                            <a:srgbClr val="333333"/>
                          </a:solidFill>
                        </a:defRPr>
                      </a:pPr>
                      <a:r>
                        <a:rPr dirty="0"/>
                        <a:t>*</a:t>
                      </a:r>
                      <a:r>
                        <a:rPr dirty="0" err="1"/>
                        <a:t>mgrd</a:t>
                      </a:r>
                      <a:r>
                        <a:rPr dirty="0"/>
                        <a:t>, </a:t>
                      </a:r>
                      <a:r>
                        <a:rPr dirty="0" err="1"/>
                        <a:t>distributord</a:t>
                      </a:r>
                      <a:r>
                        <a:rPr dirty="0"/>
                        <a:t>, </a:t>
                      </a:r>
                      <a:r>
                        <a:rPr lang="en-US" dirty="0"/>
                        <a:t>config distribution</a:t>
                      </a:r>
                      <a:endParaRPr dirty="0"/>
                    </a:p>
                  </a:txBody>
                  <a:tcPr/>
                </a:tc>
                <a:extLst>
                  <a:ext uri="{0D108BD9-81ED-4DB2-BD59-A6C34878D82A}">
                    <a16:rowId xmlns:a16="http://schemas.microsoft.com/office/drawing/2014/main" val="10005"/>
                  </a:ext>
                </a:extLst>
              </a:tr>
              <a:tr h="365760">
                <a:tc>
                  <a:txBody>
                    <a:bodyPr/>
                    <a:lstStyle/>
                    <a:p>
                      <a:pPr>
                        <a:defRPr sz="1200">
                          <a:solidFill>
                            <a:srgbClr val="333333"/>
                          </a:solidFill>
                        </a:defRPr>
                      </a:pPr>
                      <a:r>
                        <a:rPr dirty="0" err="1"/>
                        <a:t>swss</a:t>
                      </a:r>
                      <a:r>
                        <a:rPr dirty="0"/>
                        <a:t>@&lt;ns&gt;</a:t>
                      </a:r>
                    </a:p>
                  </a:txBody>
                  <a:tcPr/>
                </a:tc>
                <a:tc>
                  <a:txBody>
                    <a:bodyPr/>
                    <a:lstStyle/>
                    <a:p>
                      <a:pPr>
                        <a:defRPr sz="1200">
                          <a:solidFill>
                            <a:srgbClr val="333333"/>
                          </a:solidFill>
                        </a:defRPr>
                      </a:pPr>
                      <a:r>
                        <a:rPr lang="en-US" dirty="0"/>
                        <a:t>FC/</a:t>
                      </a:r>
                      <a:r>
                        <a:rPr dirty="0"/>
                        <a:t>LC</a:t>
                      </a:r>
                    </a:p>
                  </a:txBody>
                  <a:tcPr/>
                </a:tc>
                <a:tc>
                  <a:txBody>
                    <a:bodyPr/>
                    <a:lstStyle/>
                    <a:p>
                      <a:pPr>
                        <a:defRPr sz="1200">
                          <a:solidFill>
                            <a:srgbClr val="333333"/>
                          </a:solidFill>
                        </a:defRPr>
                      </a:pPr>
                      <a:r>
                        <a:rPr dirty="0" err="1"/>
                        <a:t>orchagent</a:t>
                      </a:r>
                      <a:r>
                        <a:rPr dirty="0"/>
                        <a:t>, </a:t>
                      </a:r>
                      <a:r>
                        <a:rPr dirty="0" err="1"/>
                        <a:t>portsyncd</a:t>
                      </a:r>
                      <a:r>
                        <a:rPr dirty="0"/>
                        <a:t>, </a:t>
                      </a:r>
                      <a:r>
                        <a:rPr dirty="0" err="1"/>
                        <a:t>portmgrd</a:t>
                      </a:r>
                      <a:r>
                        <a:rPr dirty="0"/>
                        <a:t>, </a:t>
                      </a:r>
                      <a:r>
                        <a:rPr dirty="0" err="1"/>
                        <a:t>swssconfig</a:t>
                      </a:r>
                      <a:endParaRPr dirty="0"/>
                    </a:p>
                  </a:txBody>
                  <a:tcPr/>
                </a:tc>
                <a:extLst>
                  <a:ext uri="{0D108BD9-81ED-4DB2-BD59-A6C34878D82A}">
                    <a16:rowId xmlns:a16="http://schemas.microsoft.com/office/drawing/2014/main" val="10006"/>
                  </a:ext>
                </a:extLst>
              </a:tr>
              <a:tr h="365760">
                <a:tc>
                  <a:txBody>
                    <a:bodyPr/>
                    <a:lstStyle/>
                    <a:p>
                      <a:pPr>
                        <a:defRPr sz="1200">
                          <a:solidFill>
                            <a:srgbClr val="333333"/>
                          </a:solidFill>
                        </a:defRPr>
                      </a:pPr>
                      <a:r>
                        <a:t>syncd@&lt;ns&gt;</a:t>
                      </a:r>
                    </a:p>
                  </a:txBody>
                  <a:tcPr/>
                </a:tc>
                <a:tc>
                  <a:txBody>
                    <a:bodyPr/>
                    <a:lstStyle/>
                    <a:p>
                      <a:pPr>
                        <a:defRPr sz="1200">
                          <a:solidFill>
                            <a:srgbClr val="333333"/>
                          </a:solidFill>
                        </a:defRPr>
                      </a:pPr>
                      <a:r>
                        <a:rPr lang="en-US" dirty="0"/>
                        <a:t>FC/</a:t>
                      </a:r>
                      <a:r>
                        <a:rPr dirty="0"/>
                        <a:t>LC</a:t>
                      </a:r>
                    </a:p>
                  </a:txBody>
                  <a:tcPr/>
                </a:tc>
                <a:tc>
                  <a:txBody>
                    <a:bodyPr/>
                    <a:lstStyle/>
                    <a:p>
                      <a:pPr>
                        <a:defRPr sz="1200">
                          <a:solidFill>
                            <a:srgbClr val="333333"/>
                          </a:solidFill>
                        </a:defRPr>
                      </a:pPr>
                      <a:r>
                        <a:rPr dirty="0"/>
                        <a:t>SAI/SDK per NPU</a:t>
                      </a:r>
                    </a:p>
                  </a:txBody>
                  <a:tcPr/>
                </a:tc>
                <a:extLst>
                  <a:ext uri="{0D108BD9-81ED-4DB2-BD59-A6C34878D82A}">
                    <a16:rowId xmlns:a16="http://schemas.microsoft.com/office/drawing/2014/main" val="10007"/>
                  </a:ext>
                </a:extLst>
              </a:tr>
              <a:tr h="365760">
                <a:tc>
                  <a:txBody>
                    <a:bodyPr/>
                    <a:lstStyle/>
                    <a:p>
                      <a:pPr>
                        <a:defRPr sz="1200">
                          <a:solidFill>
                            <a:srgbClr val="333333"/>
                          </a:solidFill>
                        </a:defRPr>
                      </a:pPr>
                      <a:r>
                        <a:t>PMON / card agent</a:t>
                      </a:r>
                    </a:p>
                  </a:txBody>
                  <a:tcPr/>
                </a:tc>
                <a:tc>
                  <a:txBody>
                    <a:bodyPr/>
                    <a:lstStyle/>
                    <a:p>
                      <a:pPr>
                        <a:defRPr sz="1200">
                          <a:solidFill>
                            <a:srgbClr val="333333"/>
                          </a:solidFill>
                        </a:defRPr>
                      </a:pPr>
                      <a:r>
                        <a:rPr lang="en-US" dirty="0"/>
                        <a:t>All</a:t>
                      </a:r>
                      <a:endParaRPr dirty="0"/>
                    </a:p>
                  </a:txBody>
                  <a:tcPr/>
                </a:tc>
                <a:tc>
                  <a:txBody>
                    <a:bodyPr/>
                    <a:lstStyle/>
                    <a:p>
                      <a:pPr>
                        <a:defRPr sz="1200">
                          <a:solidFill>
                            <a:srgbClr val="333333"/>
                          </a:solidFill>
                        </a:defRPr>
                      </a:pPr>
                      <a:r>
                        <a:rPr dirty="0"/>
                        <a:t>Platform monitoring on RP and each LC</a:t>
                      </a:r>
                    </a:p>
                  </a:txBody>
                  <a:tcPr/>
                </a:tc>
                <a:extLst>
                  <a:ext uri="{0D108BD9-81ED-4DB2-BD59-A6C34878D82A}">
                    <a16:rowId xmlns:a16="http://schemas.microsoft.com/office/drawing/2014/main" val="10008"/>
                  </a:ext>
                </a:extLst>
              </a:tr>
              <a:tr h="365760">
                <a:tc>
                  <a:txBody>
                    <a:bodyPr/>
                    <a:lstStyle/>
                    <a:p>
                      <a:pPr>
                        <a:defRPr sz="1200">
                          <a:solidFill>
                            <a:srgbClr val="333333"/>
                          </a:solidFill>
                        </a:defRPr>
                      </a:pPr>
                      <a:r>
                        <a:t>CMON / install mgr</a:t>
                      </a:r>
                    </a:p>
                  </a:txBody>
                  <a:tcPr/>
                </a:tc>
                <a:tc>
                  <a:txBody>
                    <a:bodyPr/>
                    <a:lstStyle/>
                    <a:p>
                      <a:pPr>
                        <a:defRPr sz="1200">
                          <a:solidFill>
                            <a:srgbClr val="333333"/>
                          </a:solidFill>
                        </a:defRPr>
                      </a:pPr>
                      <a:r>
                        <a:rPr lang="en-US" dirty="0"/>
                        <a:t>Supervisor</a:t>
                      </a:r>
                      <a:endParaRPr dirty="0"/>
                    </a:p>
                  </a:txBody>
                  <a:tcPr/>
                </a:tc>
                <a:tc>
                  <a:txBody>
                    <a:bodyPr/>
                    <a:lstStyle/>
                    <a:p>
                      <a:pPr>
                        <a:defRPr sz="1200">
                          <a:solidFill>
                            <a:srgbClr val="333333"/>
                          </a:solidFill>
                        </a:defRPr>
                      </a:pPr>
                      <a:r>
                        <a:rPr dirty="0"/>
                        <a:t>LC state machine, OIR, image/firmware install</a:t>
                      </a:r>
                    </a:p>
                  </a:txBody>
                  <a:tcPr/>
                </a:tc>
                <a:extLst>
                  <a:ext uri="{0D108BD9-81ED-4DB2-BD59-A6C34878D82A}">
                    <a16:rowId xmlns:a16="http://schemas.microsoft.com/office/drawing/2014/main" val="10009"/>
                  </a:ext>
                </a:extLst>
              </a:tr>
            </a:tbl>
          </a:graphicData>
        </a:graphic>
      </p:graphicFrame>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5684890" cy="523220"/>
          </a:xfrm>
          <a:prstGeom prst="rect">
            <a:avLst/>
          </a:prstGeom>
          <a:noFill/>
        </p:spPr>
        <p:txBody>
          <a:bodyPr wrap="none">
            <a:spAutoFit/>
          </a:bodyPr>
          <a:lstStyle/>
          <a:p>
            <a:pPr>
              <a:defRPr sz="2800" b="1">
                <a:solidFill>
                  <a:srgbClr val="333333"/>
                </a:solidFill>
              </a:defRPr>
            </a:pPr>
            <a:r>
              <a:rPr lang="en-US" dirty="0"/>
              <a:t>Hybrid </a:t>
            </a:r>
            <a:r>
              <a:rPr lang="en-US" dirty="0" err="1"/>
              <a:t>ZMQ+Redis</a:t>
            </a:r>
            <a:r>
              <a:rPr lang="en-US" dirty="0"/>
              <a:t> State Distribution</a:t>
            </a:r>
            <a:endParaRPr dirty="0"/>
          </a:p>
        </p:txBody>
      </p:sp>
      <p:sp>
        <p:nvSpPr>
          <p:cNvPr id="3" name="TextBox 2"/>
          <p:cNvSpPr txBox="1"/>
          <p:nvPr/>
        </p:nvSpPr>
        <p:spPr>
          <a:xfrm>
            <a:off x="640080" y="1188720"/>
            <a:ext cx="10515600" cy="1800493"/>
          </a:xfrm>
          <a:prstGeom prst="rect">
            <a:avLst/>
          </a:prstGeom>
          <a:noFill/>
        </p:spPr>
        <p:txBody>
          <a:bodyPr wrap="square">
            <a:spAutoFit/>
          </a:bodyPr>
          <a:lstStyle/>
          <a:p>
            <a:pPr marL="285750" indent="-285750">
              <a:spcAft>
                <a:spcPts val="600"/>
              </a:spcAft>
              <a:buFont typeface="Arial" panose="020B0604020202020204" pitchFamily="34" charset="0"/>
              <a:buChar char="•"/>
              <a:defRPr sz="1600">
                <a:solidFill>
                  <a:srgbClr val="333333"/>
                </a:solidFill>
              </a:defRPr>
            </a:pPr>
            <a:r>
              <a:rPr lang="en-US" sz="2400" dirty="0"/>
              <a:t>Overview: </a:t>
            </a:r>
            <a:r>
              <a:rPr lang="en-US" sz="2400" dirty="0" err="1"/>
              <a:t>SONiC</a:t>
            </a:r>
            <a:r>
              <a:rPr lang="en-US" sz="2400" dirty="0"/>
              <a:t> Redis Pub/Sub Primitives in </a:t>
            </a:r>
            <a:r>
              <a:rPr lang="en-US" sz="2400" dirty="0" err="1"/>
              <a:t>swsscommon</a:t>
            </a:r>
            <a:endParaRPr lang="en-US" sz="2400" dirty="0"/>
          </a:p>
          <a:p>
            <a:pPr marL="285750" indent="-285750">
              <a:spcAft>
                <a:spcPts val="600"/>
              </a:spcAft>
              <a:buFont typeface="Arial" panose="020B0604020202020204" pitchFamily="34" charset="0"/>
              <a:buChar char="•"/>
              <a:defRPr sz="1600">
                <a:solidFill>
                  <a:srgbClr val="333333"/>
                </a:solidFill>
              </a:defRPr>
            </a:pPr>
            <a:r>
              <a:rPr lang="en-US" sz="2400" dirty="0"/>
              <a:t>IPC Performance: Redis vs Hybrid</a:t>
            </a:r>
          </a:p>
          <a:p>
            <a:pPr marL="285750" indent="-285750">
              <a:spcAft>
                <a:spcPts val="600"/>
              </a:spcAft>
              <a:buFont typeface="Arial" panose="020B0604020202020204" pitchFamily="34" charset="0"/>
              <a:buChar char="•"/>
              <a:defRPr sz="1600">
                <a:solidFill>
                  <a:srgbClr val="333333"/>
                </a:solidFill>
              </a:defRPr>
            </a:pPr>
            <a:r>
              <a:rPr lang="en-US" sz="2400" dirty="0"/>
              <a:t>Route Distribution Flow</a:t>
            </a:r>
          </a:p>
          <a:p>
            <a:pPr marL="285750" indent="-285750">
              <a:spcAft>
                <a:spcPts val="600"/>
              </a:spcAft>
              <a:buFont typeface="Arial" panose="020B0604020202020204" pitchFamily="34" charset="0"/>
              <a:buChar char="•"/>
              <a:defRPr sz="1600">
                <a:solidFill>
                  <a:srgbClr val="333333"/>
                </a:solidFill>
              </a:defRPr>
            </a:pPr>
            <a:r>
              <a:rPr lang="en-US" sz="2400" dirty="0" err="1"/>
              <a:t>ZMQ+Redis</a:t>
            </a:r>
            <a:r>
              <a:rPr lang="en-US" sz="2400" dirty="0"/>
              <a:t> Hybrid Approach</a:t>
            </a:r>
            <a:endParaRPr sz="2400" dirty="0"/>
          </a:p>
        </p:txBody>
      </p:sp>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43C27-D704-6D97-5351-6BDE05A616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70A3C5-A732-C6FF-0AEA-388ED333F881}"/>
              </a:ext>
            </a:extLst>
          </p:cNvPr>
          <p:cNvSpPr txBox="1"/>
          <p:nvPr/>
        </p:nvSpPr>
        <p:spPr>
          <a:xfrm>
            <a:off x="457200" y="274320"/>
            <a:ext cx="2598147" cy="523220"/>
          </a:xfrm>
          <a:prstGeom prst="rect">
            <a:avLst/>
          </a:prstGeom>
          <a:noFill/>
        </p:spPr>
        <p:txBody>
          <a:bodyPr wrap="none">
            <a:spAutoFit/>
          </a:bodyPr>
          <a:lstStyle/>
          <a:p>
            <a:pPr>
              <a:defRPr sz="2800" b="1">
                <a:solidFill>
                  <a:srgbClr val="333333"/>
                </a:solidFill>
              </a:defRPr>
            </a:pPr>
            <a:r>
              <a:rPr lang="en-US" dirty="0"/>
              <a:t>Manageability -</a:t>
            </a:r>
            <a:endParaRPr dirty="0"/>
          </a:p>
        </p:txBody>
      </p:sp>
      <p:sp>
        <p:nvSpPr>
          <p:cNvPr id="3" name="TextBox 2">
            <a:extLst>
              <a:ext uri="{FF2B5EF4-FFF2-40B4-BE49-F238E27FC236}">
                <a16:creationId xmlns:a16="http://schemas.microsoft.com/office/drawing/2014/main" id="{7342ADA7-7037-D7E3-4D65-F4AA4BB8AFCF}"/>
              </a:ext>
            </a:extLst>
          </p:cNvPr>
          <p:cNvSpPr txBox="1"/>
          <p:nvPr/>
        </p:nvSpPr>
        <p:spPr>
          <a:xfrm>
            <a:off x="640080" y="1188720"/>
            <a:ext cx="10515600" cy="2693045"/>
          </a:xfrm>
          <a:prstGeom prst="rect">
            <a:avLst/>
          </a:prstGeom>
          <a:noFill/>
        </p:spPr>
        <p:txBody>
          <a:bodyPr wrap="square">
            <a:spAutoFit/>
          </a:bodyPr>
          <a:lstStyle/>
          <a:p>
            <a:pPr marL="285750" indent="-285750">
              <a:spcAft>
                <a:spcPts val="600"/>
              </a:spcAft>
              <a:buFont typeface="Arial" panose="020B0604020202020204" pitchFamily="34" charset="0"/>
              <a:buChar char="•"/>
              <a:defRPr sz="1600">
                <a:solidFill>
                  <a:srgbClr val="333333"/>
                </a:solidFill>
              </a:defRPr>
            </a:pPr>
            <a:r>
              <a:rPr lang="en-US" sz="2400" dirty="0"/>
              <a:t>Yang Model Changes</a:t>
            </a:r>
          </a:p>
          <a:p>
            <a:pPr marL="285750" indent="-285750">
              <a:spcAft>
                <a:spcPts val="600"/>
              </a:spcAft>
              <a:buFont typeface="Arial" panose="020B0604020202020204" pitchFamily="34" charset="0"/>
              <a:buChar char="•"/>
              <a:defRPr sz="1600">
                <a:solidFill>
                  <a:srgbClr val="333333"/>
                </a:solidFill>
              </a:defRPr>
            </a:pPr>
            <a:r>
              <a:rPr lang="en-US" sz="2400" dirty="0"/>
              <a:t>Centralized-Chassis Default Configuration</a:t>
            </a:r>
          </a:p>
          <a:p>
            <a:pPr marL="285750" indent="-285750">
              <a:spcAft>
                <a:spcPts val="600"/>
              </a:spcAft>
              <a:buFont typeface="Arial" panose="020B0604020202020204" pitchFamily="34" charset="0"/>
              <a:buChar char="•"/>
              <a:defRPr sz="1600">
                <a:solidFill>
                  <a:srgbClr val="333333"/>
                </a:solidFill>
              </a:defRPr>
            </a:pPr>
            <a:r>
              <a:rPr lang="en-US" sz="2400" dirty="0"/>
              <a:t>SNMP</a:t>
            </a:r>
          </a:p>
          <a:p>
            <a:pPr marL="285750" indent="-285750">
              <a:spcAft>
                <a:spcPts val="600"/>
              </a:spcAft>
              <a:buFont typeface="Arial" panose="020B0604020202020204" pitchFamily="34" charset="0"/>
              <a:buChar char="•"/>
              <a:defRPr sz="1600">
                <a:solidFill>
                  <a:srgbClr val="333333"/>
                </a:solidFill>
              </a:defRPr>
            </a:pPr>
            <a:r>
              <a:rPr lang="en-US" sz="2400" dirty="0"/>
              <a:t>Telemetry</a:t>
            </a:r>
          </a:p>
          <a:p>
            <a:pPr marL="285750" indent="-285750">
              <a:spcAft>
                <a:spcPts val="600"/>
              </a:spcAft>
              <a:buFont typeface="Arial" panose="020B0604020202020204" pitchFamily="34" charset="0"/>
              <a:buChar char="•"/>
              <a:defRPr sz="1600">
                <a:solidFill>
                  <a:srgbClr val="333333"/>
                </a:solidFill>
              </a:defRPr>
            </a:pPr>
            <a:r>
              <a:rPr lang="en-US" sz="2400" dirty="0" err="1"/>
              <a:t>SONiC</a:t>
            </a:r>
            <a:r>
              <a:rPr lang="en-US" sz="2400" dirty="0"/>
              <a:t> config utilities</a:t>
            </a:r>
          </a:p>
          <a:p>
            <a:pPr marL="285750" indent="-285750">
              <a:spcAft>
                <a:spcPts val="600"/>
              </a:spcAft>
              <a:buFont typeface="Arial" panose="020B0604020202020204" pitchFamily="34" charset="0"/>
              <a:buChar char="•"/>
              <a:defRPr sz="1600">
                <a:solidFill>
                  <a:srgbClr val="333333"/>
                </a:solidFill>
              </a:defRPr>
            </a:pPr>
            <a:r>
              <a:rPr lang="en-US" sz="2400" dirty="0"/>
              <a:t>CLI</a:t>
            </a:r>
            <a:endParaRPr sz="2400" dirty="0"/>
          </a:p>
        </p:txBody>
      </p:sp>
      <p:sp>
        <p:nvSpPr>
          <p:cNvPr id="4" name="TextBox 3">
            <a:extLst>
              <a:ext uri="{FF2B5EF4-FFF2-40B4-BE49-F238E27FC236}">
                <a16:creationId xmlns:a16="http://schemas.microsoft.com/office/drawing/2014/main" id="{0DE74CA0-8D07-D22A-9131-C018F5F597E0}"/>
              </a:ext>
            </a:extLst>
          </p:cNvPr>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extLst>
      <p:ext uri="{BB962C8B-B14F-4D97-AF65-F5344CB8AC3E}">
        <p14:creationId xmlns:p14="http://schemas.microsoft.com/office/powerpoint/2010/main" val="3390610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4562596" cy="523220"/>
          </a:xfrm>
          <a:prstGeom prst="rect">
            <a:avLst/>
          </a:prstGeom>
          <a:noFill/>
        </p:spPr>
        <p:txBody>
          <a:bodyPr wrap="none">
            <a:spAutoFit/>
          </a:bodyPr>
          <a:lstStyle/>
          <a:p>
            <a:pPr>
              <a:defRPr sz="2800" b="1">
                <a:solidFill>
                  <a:srgbClr val="333333"/>
                </a:solidFill>
              </a:defRPr>
            </a:pPr>
            <a:r>
              <a:rPr dirty="0"/>
              <a:t>Host </a:t>
            </a:r>
            <a:r>
              <a:rPr lang="en-US" dirty="0"/>
              <a:t>Data-Path Orchestration</a:t>
            </a:r>
            <a:endParaRPr dirty="0"/>
          </a:p>
        </p:txBody>
      </p:sp>
      <p:sp>
        <p:nvSpPr>
          <p:cNvPr id="7" name="TextBox 6"/>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3340210" cy="523220"/>
          </a:xfrm>
          <a:prstGeom prst="rect">
            <a:avLst/>
          </a:prstGeom>
          <a:noFill/>
        </p:spPr>
        <p:txBody>
          <a:bodyPr wrap="none">
            <a:spAutoFit/>
          </a:bodyPr>
          <a:lstStyle/>
          <a:p>
            <a:pPr>
              <a:defRPr sz="2800" b="1">
                <a:solidFill>
                  <a:srgbClr val="333333"/>
                </a:solidFill>
              </a:defRPr>
            </a:pPr>
            <a:r>
              <a:rPr dirty="0"/>
              <a:t>Chassis Management</a:t>
            </a:r>
          </a:p>
        </p:txBody>
      </p:sp>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304902" cy="523220"/>
          </a:xfrm>
          <a:prstGeom prst="rect">
            <a:avLst/>
          </a:prstGeom>
          <a:noFill/>
        </p:spPr>
        <p:txBody>
          <a:bodyPr wrap="none">
            <a:spAutoFit/>
          </a:bodyPr>
          <a:lstStyle/>
          <a:p>
            <a:pPr>
              <a:defRPr sz="2800" b="1">
                <a:solidFill>
                  <a:srgbClr val="333333"/>
                </a:solidFill>
              </a:defRPr>
            </a:pPr>
            <a:r>
              <a:rPr dirty="0"/>
              <a:t>Serviceability: Logs, Core Dumps, Show Tech</a:t>
            </a:r>
            <a:r>
              <a:rPr lang="en-US" dirty="0"/>
              <a:t> (Pradeep)</a:t>
            </a:r>
            <a:endParaRPr dirty="0"/>
          </a:p>
        </p:txBody>
      </p:sp>
      <p:sp>
        <p:nvSpPr>
          <p:cNvPr id="3" name="TextBox 2"/>
          <p:cNvSpPr txBox="1"/>
          <p:nvPr/>
        </p:nvSpPr>
        <p:spPr>
          <a:xfrm>
            <a:off x="457200" y="1097280"/>
            <a:ext cx="5303520" cy="457200"/>
          </a:xfrm>
          <a:prstGeom prst="rect">
            <a:avLst/>
          </a:prstGeom>
          <a:noFill/>
        </p:spPr>
        <p:txBody>
          <a:bodyPr wrap="none">
            <a:spAutoFit/>
          </a:bodyPr>
          <a:lstStyle/>
          <a:p>
            <a:pPr>
              <a:defRPr sz="1800" b="1">
                <a:solidFill>
                  <a:srgbClr val="049FD9"/>
                </a:solidFill>
              </a:defRPr>
            </a:pPr>
            <a:r>
              <a:t>Syslog &amp; Core Dumps</a:t>
            </a:r>
          </a:p>
        </p:txBody>
      </p:sp>
      <p:sp>
        <p:nvSpPr>
          <p:cNvPr id="4" name="TextBox 3"/>
          <p:cNvSpPr txBox="1"/>
          <p:nvPr/>
        </p:nvSpPr>
        <p:spPr>
          <a:xfrm>
            <a:off x="457200" y="1645920"/>
            <a:ext cx="5303520" cy="4572000"/>
          </a:xfrm>
          <a:prstGeom prst="rect">
            <a:avLst/>
          </a:prstGeom>
          <a:noFill/>
        </p:spPr>
        <p:txBody>
          <a:bodyPr wrap="square">
            <a:spAutoFit/>
          </a:bodyPr>
          <a:lstStyle/>
          <a:p>
            <a:pPr>
              <a:spcAft>
                <a:spcPts val="500"/>
              </a:spcAft>
              <a:defRPr sz="1400">
                <a:solidFill>
                  <a:srgbClr val="333333"/>
                </a:solidFill>
              </a:defRPr>
            </a:pPr>
            <a:r>
              <a:t>• Logs stored in local file system</a:t>
            </a:r>
          </a:p>
          <a:p>
            <a:pPr>
              <a:spcAft>
                <a:spcPts val="500"/>
              </a:spcAft>
              <a:defRPr sz="1400">
                <a:solidFill>
                  <a:srgbClr val="333333"/>
                </a:solidFill>
              </a:defRPr>
            </a:pPr>
            <a:r>
              <a:t>• Auto-rotation and compression</a:t>
            </a:r>
          </a:p>
          <a:p>
            <a:pPr>
              <a:spcAft>
                <a:spcPts val="500"/>
              </a:spcAft>
              <a:defRPr sz="1400">
                <a:solidFill>
                  <a:srgbClr val="333333"/>
                </a:solidFill>
              </a:defRPr>
            </a:pPr>
            <a:r>
              <a:t>• Namespace-aware configuration and</a:t>
            </a:r>
          </a:p>
          <a:p>
            <a:pPr>
              <a:spcAft>
                <a:spcPts val="500"/>
              </a:spcAft>
              <a:defRPr sz="1400">
                <a:solidFill>
                  <a:srgbClr val="333333"/>
                </a:solidFill>
              </a:defRPr>
            </a:pPr>
            <a:r>
              <a:t>  show CLIs</a:t>
            </a:r>
          </a:p>
          <a:p>
            <a:pPr>
              <a:spcAft>
                <a:spcPts val="500"/>
              </a:spcAft>
              <a:defRPr sz="1400">
                <a:solidFill>
                  <a:srgbClr val="333333"/>
                </a:solidFill>
              </a:defRPr>
            </a:pPr>
            <a:r>
              <a:t>• Core files stored locally on crash</a:t>
            </a:r>
          </a:p>
          <a:p>
            <a:pPr>
              <a:spcAft>
                <a:spcPts val="500"/>
              </a:spcAft>
              <a:defRPr sz="1400">
                <a:solidFill>
                  <a:srgbClr val="333333"/>
                </a:solidFill>
              </a:defRPr>
            </a:pPr>
            <a:r>
              <a:t>• Backtrace generated and logged to syslog</a:t>
            </a:r>
          </a:p>
          <a:p>
            <a:pPr>
              <a:spcAft>
                <a:spcPts val="500"/>
              </a:spcAft>
              <a:defRPr sz="1400">
                <a:solidFill>
                  <a:srgbClr val="333333"/>
                </a:solidFill>
              </a:defRPr>
            </a:pPr>
            <a:r>
              <a:t>• Configurable disk usage for core retention</a:t>
            </a:r>
          </a:p>
        </p:txBody>
      </p:sp>
      <p:sp>
        <p:nvSpPr>
          <p:cNvPr id="5" name="TextBox 4"/>
          <p:cNvSpPr txBox="1"/>
          <p:nvPr/>
        </p:nvSpPr>
        <p:spPr>
          <a:xfrm>
            <a:off x="6217920" y="1097280"/>
            <a:ext cx="5303520" cy="457200"/>
          </a:xfrm>
          <a:prstGeom prst="rect">
            <a:avLst/>
          </a:prstGeom>
          <a:noFill/>
        </p:spPr>
        <p:txBody>
          <a:bodyPr wrap="none">
            <a:spAutoFit/>
          </a:bodyPr>
          <a:lstStyle/>
          <a:p>
            <a:pPr>
              <a:defRPr sz="1800" b="1">
                <a:solidFill>
                  <a:srgbClr val="049FD9"/>
                </a:solidFill>
              </a:defRPr>
            </a:pPr>
            <a:r>
              <a:t>Show Tech Support</a:t>
            </a:r>
          </a:p>
        </p:txBody>
      </p:sp>
      <p:sp>
        <p:nvSpPr>
          <p:cNvPr id="6" name="TextBox 5"/>
          <p:cNvSpPr txBox="1"/>
          <p:nvPr/>
        </p:nvSpPr>
        <p:spPr>
          <a:xfrm>
            <a:off x="6217920" y="1645920"/>
            <a:ext cx="5303520" cy="4572000"/>
          </a:xfrm>
          <a:prstGeom prst="rect">
            <a:avLst/>
          </a:prstGeom>
          <a:noFill/>
        </p:spPr>
        <p:txBody>
          <a:bodyPr wrap="square">
            <a:spAutoFit/>
          </a:bodyPr>
          <a:lstStyle/>
          <a:p>
            <a:pPr>
              <a:spcAft>
                <a:spcPts val="500"/>
              </a:spcAft>
              <a:defRPr sz="1400">
                <a:solidFill>
                  <a:srgbClr val="333333"/>
                </a:solidFill>
              </a:defRPr>
            </a:pPr>
            <a:r>
              <a:t>• Tech support dumps stored in</a:t>
            </a:r>
          </a:p>
          <a:p>
            <a:pPr>
              <a:spcAft>
                <a:spcPts val="500"/>
              </a:spcAft>
              <a:defRPr sz="1400">
                <a:solidFill>
                  <a:srgbClr val="333333"/>
                </a:solidFill>
              </a:defRPr>
            </a:pPr>
            <a:r>
              <a:t>  distributed fashion</a:t>
            </a:r>
          </a:p>
          <a:p>
            <a:pPr>
              <a:spcAft>
                <a:spcPts val="500"/>
              </a:spcAft>
              <a:defRPr sz="1400">
                <a:solidFill>
                  <a:srgbClr val="333333"/>
                </a:solidFill>
              </a:defRPr>
            </a:pPr>
            <a:r>
              <a:t>• Namespace and location-based execution</a:t>
            </a:r>
          </a:p>
          <a:p>
            <a:pPr>
              <a:spcAft>
                <a:spcPts val="500"/>
              </a:spcAft>
              <a:defRPr sz="1400">
                <a:solidFill>
                  <a:srgbClr val="333333"/>
                </a:solidFill>
              </a:defRPr>
            </a:pPr>
            <a:r>
              <a:t>  from RP</a:t>
            </a:r>
          </a:p>
          <a:p>
            <a:pPr>
              <a:spcAft>
                <a:spcPts val="500"/>
              </a:spcAft>
              <a:defRPr sz="1400">
                <a:solidFill>
                  <a:srgbClr val="333333"/>
                </a:solidFill>
              </a:defRPr>
            </a:pPr>
            <a:r>
              <a:t>• Collection at RP or LC level</a:t>
            </a:r>
          </a:p>
          <a:p>
            <a:pPr>
              <a:spcAft>
                <a:spcPts val="500"/>
              </a:spcAft>
              <a:defRPr sz="1400">
                <a:solidFill>
                  <a:srgbClr val="333333"/>
                </a:solidFill>
              </a:defRPr>
            </a:pPr>
            <a:r>
              <a:t>• Support for component-specific</a:t>
            </a:r>
          </a:p>
          <a:p>
            <a:pPr>
              <a:spcAft>
                <a:spcPts val="500"/>
              </a:spcAft>
              <a:defRPr sz="1400">
                <a:solidFill>
                  <a:srgbClr val="333333"/>
                </a:solidFill>
              </a:defRPr>
            </a:pPr>
            <a:r>
              <a:t>  dump collection</a:t>
            </a:r>
          </a:p>
          <a:p>
            <a:pPr>
              <a:spcAft>
                <a:spcPts val="500"/>
              </a:spcAft>
              <a:defRPr sz="1400">
                <a:solidFill>
                  <a:srgbClr val="333333"/>
                </a:solidFill>
              </a:defRPr>
            </a:pPr>
            <a:r>
              <a:t>• Show tech auto-collected on core</a:t>
            </a:r>
          </a:p>
          <a:p>
            <a:pPr>
              <a:spcAft>
                <a:spcPts val="500"/>
              </a:spcAft>
              <a:defRPr sz="1400">
                <a:solidFill>
                  <a:srgbClr val="333333"/>
                </a:solidFill>
              </a:defRPr>
            </a:pPr>
            <a:r>
              <a:t>  dump detection</a:t>
            </a:r>
          </a:p>
        </p:txBody>
      </p:sp>
      <p:sp>
        <p:nvSpPr>
          <p:cNvPr id="7" name="TextBox 6"/>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49FD9"/>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1828800"/>
          </a:xfrm>
          <a:prstGeom prst="rect">
            <a:avLst/>
          </a:prstGeom>
          <a:noFill/>
        </p:spPr>
        <p:txBody>
          <a:bodyPr wrap="square">
            <a:spAutoFit/>
          </a:bodyPr>
          <a:lstStyle/>
          <a:p>
            <a:pPr algn="l">
              <a:defRPr sz="3200" b="1">
                <a:solidFill>
                  <a:srgbClr val="FFFFFF"/>
                </a:solidFill>
              </a:defRPr>
            </a:pPr>
            <a:r>
              <a:t>Status and Summary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800" b="1">
                <a:solidFill>
                  <a:srgbClr val="333333"/>
                </a:solidFill>
              </a:defRPr>
            </a:pPr>
            <a:r>
              <a:t>Current Status</a:t>
            </a:r>
          </a:p>
        </p:txBody>
      </p:sp>
      <p:graphicFrame>
        <p:nvGraphicFramePr>
          <p:cNvPr id="3" name="Table 2"/>
          <p:cNvGraphicFramePr>
            <a:graphicFrameLocks noGrp="1"/>
          </p:cNvGraphicFramePr>
          <p:nvPr/>
        </p:nvGraphicFramePr>
        <p:xfrm>
          <a:off x="822960" y="1371600"/>
          <a:ext cx="10515600" cy="475488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65760">
                <a:tc>
                  <a:txBody>
                    <a:bodyPr/>
                    <a:lstStyle/>
                    <a:p>
                      <a:pPr>
                        <a:defRPr sz="1300" b="1">
                          <a:solidFill>
                            <a:srgbClr val="FFFFFF"/>
                          </a:solidFill>
                        </a:defRPr>
                      </a:pPr>
                      <a:r>
                        <a:t>Area</a:t>
                      </a:r>
                    </a:p>
                  </a:txBody>
                  <a:tcPr>
                    <a:solidFill>
                      <a:srgbClr val="049FD9"/>
                    </a:solidFill>
                  </a:tcPr>
                </a:tc>
                <a:tc>
                  <a:txBody>
                    <a:bodyPr/>
                    <a:lstStyle/>
                    <a:p>
                      <a:pPr>
                        <a:defRPr sz="1300" b="1">
                          <a:solidFill>
                            <a:srgbClr val="FFFFFF"/>
                          </a:solidFill>
                        </a:defRPr>
                      </a:pPr>
                      <a:r>
                        <a:t>Status</a:t>
                      </a:r>
                    </a:p>
                  </a:txBody>
                  <a:tcPr>
                    <a:solidFill>
                      <a:srgbClr val="049FD9"/>
                    </a:solidFill>
                  </a:tcPr>
                </a:tc>
                <a:tc>
                  <a:txBody>
                    <a:bodyPr/>
                    <a:lstStyle/>
                    <a:p>
                      <a:pPr>
                        <a:defRPr sz="1300" b="1">
                          <a:solidFill>
                            <a:srgbClr val="FFFFFF"/>
                          </a:solidFill>
                        </a:defRPr>
                      </a:pPr>
                      <a:r>
                        <a:t>Details</a:t>
                      </a:r>
                    </a:p>
                  </a:txBody>
                  <a:tcPr>
                    <a:solidFill>
                      <a:srgbClr val="049FD9"/>
                    </a:solidFill>
                  </a:tcPr>
                </a:tc>
                <a:extLst>
                  <a:ext uri="{0D108BD9-81ED-4DB2-BD59-A6C34878D82A}">
                    <a16:rowId xmlns:a16="http://schemas.microsoft.com/office/drawing/2014/main" val="10000"/>
                  </a:ext>
                </a:extLst>
              </a:tr>
              <a:tr h="365760">
                <a:tc>
                  <a:txBody>
                    <a:bodyPr/>
                    <a:lstStyle/>
                    <a:p>
                      <a:pPr>
                        <a:defRPr sz="1200">
                          <a:solidFill>
                            <a:srgbClr val="333333"/>
                          </a:solidFill>
                        </a:defRPr>
                      </a:pPr>
                      <a:r>
                        <a:t>Database placement</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database-central service and all DB configuration</a:t>
                      </a:r>
                    </a:p>
                  </a:txBody>
                  <a:tcPr/>
                </a:tc>
                <a:extLst>
                  <a:ext uri="{0D108BD9-81ED-4DB2-BD59-A6C34878D82A}">
                    <a16:rowId xmlns:a16="http://schemas.microsoft.com/office/drawing/2014/main" val="10001"/>
                  </a:ext>
                </a:extLst>
              </a:tr>
              <a:tr h="365760">
                <a:tc>
                  <a:txBody>
                    <a:bodyPr/>
                    <a:lstStyle/>
                    <a:p>
                      <a:pPr>
                        <a:defRPr sz="1200">
                          <a:solidFill>
                            <a:srgbClr val="333333"/>
                          </a:solidFill>
                        </a:defRPr>
                      </a:pPr>
                      <a:r>
                        <a:t>Centralized manageability</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gNMI, SNMP, mgmt-framework on RP</a:t>
                      </a:r>
                    </a:p>
                  </a:txBody>
                  <a:tcPr/>
                </a:tc>
                <a:extLst>
                  <a:ext uri="{0D108BD9-81ED-4DB2-BD59-A6C34878D82A}">
                    <a16:rowId xmlns:a16="http://schemas.microsoft.com/office/drawing/2014/main" val="10002"/>
                  </a:ext>
                </a:extLst>
              </a:tr>
              <a:tr h="365760">
                <a:tc>
                  <a:txBody>
                    <a:bodyPr/>
                    <a:lstStyle/>
                    <a:p>
                      <a:pPr>
                        <a:defRPr sz="1200">
                          <a:solidFill>
                            <a:srgbClr val="333333"/>
                          </a:solidFill>
                        </a:defRPr>
                      </a:pPr>
                      <a:r>
                        <a:t>Network protocol services</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BGP, LACP, LLDP, RADV on RP</a:t>
                      </a:r>
                    </a:p>
                  </a:txBody>
                  <a:tcPr/>
                </a:tc>
                <a:extLst>
                  <a:ext uri="{0D108BD9-81ED-4DB2-BD59-A6C34878D82A}">
                    <a16:rowId xmlns:a16="http://schemas.microsoft.com/office/drawing/2014/main" val="10003"/>
                  </a:ext>
                </a:extLst>
              </a:tr>
              <a:tr h="365760">
                <a:tc>
                  <a:txBody>
                    <a:bodyPr/>
                    <a:lstStyle/>
                    <a:p>
                      <a:pPr>
                        <a:defRPr sz="1200">
                          <a:solidFill>
                            <a:srgbClr val="333333"/>
                          </a:solidFill>
                        </a:defRPr>
                      </a:pPr>
                      <a:r>
                        <a:t>SONiC YANG models</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Single-Instance VOQ chassis model</a:t>
                      </a:r>
                    </a:p>
                  </a:txBody>
                  <a:tcPr/>
                </a:tc>
                <a:extLst>
                  <a:ext uri="{0D108BD9-81ED-4DB2-BD59-A6C34878D82A}">
                    <a16:rowId xmlns:a16="http://schemas.microsoft.com/office/drawing/2014/main" val="10004"/>
                  </a:ext>
                </a:extLst>
              </a:tr>
              <a:tr h="365760">
                <a:tc>
                  <a:txBody>
                    <a:bodyPr/>
                    <a:lstStyle/>
                    <a:p>
                      <a:pPr>
                        <a:defRPr sz="1200">
                          <a:solidFill>
                            <a:srgbClr val="333333"/>
                          </a:solidFill>
                        </a:defRPr>
                      </a:pPr>
                      <a:r>
                        <a:t>VOQ data plane</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Switching validated across NPUs and LCs</a:t>
                      </a:r>
                    </a:p>
                  </a:txBody>
                  <a:tcPr/>
                </a:tc>
                <a:extLst>
                  <a:ext uri="{0D108BD9-81ED-4DB2-BD59-A6C34878D82A}">
                    <a16:rowId xmlns:a16="http://schemas.microsoft.com/office/drawing/2014/main" val="10005"/>
                  </a:ext>
                </a:extLst>
              </a:tr>
              <a:tr h="365760">
                <a:tc>
                  <a:txBody>
                    <a:bodyPr/>
                    <a:lstStyle/>
                    <a:p>
                      <a:pPr>
                        <a:defRPr sz="1200">
                          <a:solidFill>
                            <a:srgbClr val="333333"/>
                          </a:solidFill>
                        </a:defRPr>
                      </a:pPr>
                      <a:r>
                        <a:t>Host data path</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Punt/inject for control-plane traffic</a:t>
                      </a:r>
                    </a:p>
                  </a:txBody>
                  <a:tcPr/>
                </a:tc>
                <a:extLst>
                  <a:ext uri="{0D108BD9-81ED-4DB2-BD59-A6C34878D82A}">
                    <a16:rowId xmlns:a16="http://schemas.microsoft.com/office/drawing/2014/main" val="10006"/>
                  </a:ext>
                </a:extLst>
              </a:tr>
              <a:tr h="365760">
                <a:tc>
                  <a:txBody>
                    <a:bodyPr/>
                    <a:lstStyle/>
                    <a:p>
                      <a:pPr>
                        <a:defRPr sz="1200">
                          <a:solidFill>
                            <a:srgbClr val="333333"/>
                          </a:solidFill>
                        </a:defRPr>
                      </a:pPr>
                      <a:r>
                        <a:t>Chassis management</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LC state machine, OIR, auto-upgrade, sensors</a:t>
                      </a:r>
                    </a:p>
                  </a:txBody>
                  <a:tcPr/>
                </a:tc>
                <a:extLst>
                  <a:ext uri="{0D108BD9-81ED-4DB2-BD59-A6C34878D82A}">
                    <a16:rowId xmlns:a16="http://schemas.microsoft.com/office/drawing/2014/main" val="10007"/>
                  </a:ext>
                </a:extLst>
              </a:tr>
              <a:tr h="365760">
                <a:tc>
                  <a:txBody>
                    <a:bodyPr/>
                    <a:lstStyle/>
                    <a:p>
                      <a:pPr>
                        <a:defRPr sz="1200">
                          <a:solidFill>
                            <a:srgbClr val="333333"/>
                          </a:solidFill>
                        </a:defRPr>
                      </a:pPr>
                      <a:r>
                        <a:t>Feature/host service config</a:t>
                      </a:r>
                    </a:p>
                  </a:txBody>
                  <a:tcPr/>
                </a:tc>
                <a:tc>
                  <a:txBody>
                    <a:bodyPr/>
                    <a:lstStyle/>
                    <a:p>
                      <a:pPr>
                        <a:defRPr sz="1200">
                          <a:solidFill>
                            <a:srgbClr val="333333"/>
                          </a:solidFill>
                        </a:defRPr>
                      </a:pPr>
                      <a:r>
                        <a:t>Completed</a:t>
                      </a:r>
                    </a:p>
                  </a:txBody>
                  <a:tcPr/>
                </a:tc>
                <a:tc>
                  <a:txBody>
                    <a:bodyPr/>
                    <a:lstStyle/>
                    <a:p>
                      <a:pPr>
                        <a:defRPr sz="1200">
                          <a:solidFill>
                            <a:srgbClr val="333333"/>
                          </a:solidFill>
                        </a:defRPr>
                      </a:pPr>
                      <a:r>
                        <a:t>Centralized configuration</a:t>
                      </a:r>
                    </a:p>
                  </a:txBody>
                  <a:tcPr/>
                </a:tc>
                <a:extLst>
                  <a:ext uri="{0D108BD9-81ED-4DB2-BD59-A6C34878D82A}">
                    <a16:rowId xmlns:a16="http://schemas.microsoft.com/office/drawing/2014/main" val="10008"/>
                  </a:ext>
                </a:extLst>
              </a:tr>
              <a:tr h="365760">
                <a:tc>
                  <a:txBody>
                    <a:bodyPr/>
                    <a:lstStyle/>
                    <a:p>
                      <a:pPr>
                        <a:defRPr sz="1200">
                          <a:solidFill>
                            <a:srgbClr val="333333"/>
                          </a:solidFill>
                        </a:defRPr>
                      </a:pPr>
                      <a:r>
                        <a:t>SAI/SDK punt to remote CPU</a:t>
                      </a:r>
                    </a:p>
                  </a:txBody>
                  <a:tcPr/>
                </a:tc>
                <a:tc>
                  <a:txBody>
                    <a:bodyPr/>
                    <a:lstStyle/>
                    <a:p>
                      <a:pPr>
                        <a:defRPr sz="1200">
                          <a:solidFill>
                            <a:srgbClr val="333333"/>
                          </a:solidFill>
                        </a:defRPr>
                      </a:pPr>
                      <a:r>
                        <a:t>In Progress</a:t>
                      </a:r>
                    </a:p>
                  </a:txBody>
                  <a:tcPr/>
                </a:tc>
                <a:tc>
                  <a:txBody>
                    <a:bodyPr/>
                    <a:lstStyle/>
                    <a:p>
                      <a:pPr>
                        <a:defRPr sz="1200">
                          <a:solidFill>
                            <a:srgbClr val="333333"/>
                          </a:solidFill>
                        </a:defRPr>
                      </a:pPr>
                      <a:endParaRPr/>
                    </a:p>
                  </a:txBody>
                  <a:tcPr/>
                </a:tc>
                <a:extLst>
                  <a:ext uri="{0D108BD9-81ED-4DB2-BD59-A6C34878D82A}">
                    <a16:rowId xmlns:a16="http://schemas.microsoft.com/office/drawing/2014/main" val="10009"/>
                  </a:ext>
                </a:extLst>
              </a:tr>
              <a:tr h="365760">
                <a:tc>
                  <a:txBody>
                    <a:bodyPr/>
                    <a:lstStyle/>
                    <a:p>
                      <a:pPr>
                        <a:defRPr sz="1200">
                          <a:solidFill>
                            <a:srgbClr val="333333"/>
                          </a:solidFill>
                        </a:defRPr>
                      </a:pPr>
                      <a:r>
                        <a:t>Version mismatch handling</a:t>
                      </a:r>
                    </a:p>
                  </a:txBody>
                  <a:tcPr/>
                </a:tc>
                <a:tc>
                  <a:txBody>
                    <a:bodyPr/>
                    <a:lstStyle/>
                    <a:p>
                      <a:pPr>
                        <a:defRPr sz="1200">
                          <a:solidFill>
                            <a:srgbClr val="333333"/>
                          </a:solidFill>
                        </a:defRPr>
                      </a:pPr>
                      <a:r>
                        <a:t>In Progress</a:t>
                      </a:r>
                    </a:p>
                  </a:txBody>
                  <a:tcPr/>
                </a:tc>
                <a:tc>
                  <a:txBody>
                    <a:bodyPr/>
                    <a:lstStyle/>
                    <a:p>
                      <a:pPr>
                        <a:defRPr sz="1200">
                          <a:solidFill>
                            <a:srgbClr val="333333"/>
                          </a:solidFill>
                        </a:defRPr>
                      </a:pPr>
                      <a:r>
                        <a:t>Software version mismatch and error handling</a:t>
                      </a:r>
                    </a:p>
                  </a:txBody>
                  <a:tcPr/>
                </a:tc>
                <a:extLst>
                  <a:ext uri="{0D108BD9-81ED-4DB2-BD59-A6C34878D82A}">
                    <a16:rowId xmlns:a16="http://schemas.microsoft.com/office/drawing/2014/main" val="10010"/>
                  </a:ext>
                </a:extLst>
              </a:tr>
              <a:tr h="365760">
                <a:tc>
                  <a:txBody>
                    <a:bodyPr/>
                    <a:lstStyle/>
                    <a:p>
                      <a:pPr>
                        <a:defRPr sz="1200">
                          <a:solidFill>
                            <a:srgbClr val="333333"/>
                          </a:solidFill>
                        </a:defRPr>
                      </a:pPr>
                      <a:r>
                        <a:t>Telemetry</a:t>
                      </a:r>
                    </a:p>
                  </a:txBody>
                  <a:tcPr/>
                </a:tc>
                <a:tc>
                  <a:txBody>
                    <a:bodyPr/>
                    <a:lstStyle/>
                    <a:p>
                      <a:pPr>
                        <a:defRPr sz="1200">
                          <a:solidFill>
                            <a:srgbClr val="333333"/>
                          </a:solidFill>
                        </a:defRPr>
                      </a:pPr>
                      <a:r>
                        <a:t>In Progress</a:t>
                      </a:r>
                    </a:p>
                  </a:txBody>
                  <a:tcPr/>
                </a:tc>
                <a:tc>
                  <a:txBody>
                    <a:bodyPr/>
                    <a:lstStyle/>
                    <a:p>
                      <a:pPr>
                        <a:defRPr sz="1200">
                          <a:solidFill>
                            <a:srgbClr val="333333"/>
                          </a:solidFill>
                        </a:defRPr>
                      </a:pPr>
                      <a:r>
                        <a:t>CHASSIS_COUNTER_DB, statsCollectord</a:t>
                      </a:r>
                    </a:p>
                  </a:txBody>
                  <a:tcPr/>
                </a:tc>
                <a:extLst>
                  <a:ext uri="{0D108BD9-81ED-4DB2-BD59-A6C34878D82A}">
                    <a16:rowId xmlns:a16="http://schemas.microsoft.com/office/drawing/2014/main" val="10011"/>
                  </a:ext>
                </a:extLst>
              </a:tr>
              <a:tr h="365760">
                <a:tc>
                  <a:txBody>
                    <a:bodyPr/>
                    <a:lstStyle/>
                    <a:p>
                      <a:pPr>
                        <a:defRPr sz="1200">
                          <a:solidFill>
                            <a:srgbClr val="333333"/>
                          </a:solidFill>
                        </a:defRPr>
                      </a:pPr>
                      <a:r>
                        <a:t>ZMQ-based state distribution</a:t>
                      </a:r>
                    </a:p>
                  </a:txBody>
                  <a:tcPr/>
                </a:tc>
                <a:tc>
                  <a:txBody>
                    <a:bodyPr/>
                    <a:lstStyle/>
                    <a:p>
                      <a:pPr>
                        <a:defRPr sz="1200">
                          <a:solidFill>
                            <a:srgbClr val="333333"/>
                          </a:solidFill>
                        </a:defRPr>
                      </a:pPr>
                      <a:r>
                        <a:t>In Progress</a:t>
                      </a:r>
                    </a:p>
                  </a:txBody>
                  <a:tcPr/>
                </a:tc>
                <a:tc>
                  <a:txBody>
                    <a:bodyPr/>
                    <a:lstStyle/>
                    <a:p>
                      <a:pPr>
                        <a:defRPr sz="1200">
                          <a:solidFill>
                            <a:srgbClr val="333333"/>
                          </a:solidFill>
                        </a:defRPr>
                      </a:pPr>
                      <a:r>
                        <a:t>Hybrid IPC for route/state distribution</a:t>
                      </a:r>
                    </a:p>
                  </a:txBody>
                  <a:tcPr/>
                </a:tc>
                <a:extLst>
                  <a:ext uri="{0D108BD9-81ED-4DB2-BD59-A6C34878D82A}">
                    <a16:rowId xmlns:a16="http://schemas.microsoft.com/office/drawing/2014/main" val="10012"/>
                  </a:ext>
                </a:extLst>
              </a:tr>
            </a:tbl>
          </a:graphicData>
        </a:graphic>
      </p:graphicFrame>
      <p:sp>
        <p:nvSpPr>
          <p:cNvPr id="4" name="TextBox 3"/>
          <p:cNvSpPr txBox="1"/>
          <p:nvPr/>
        </p:nvSpPr>
        <p:spPr>
          <a:xfrm>
            <a:off x="457200" y="6400800"/>
            <a:ext cx="10972800" cy="365760"/>
          </a:xfrm>
          <a:prstGeom prst="rect">
            <a:avLst/>
          </a:prstGeom>
          <a:noFill/>
        </p:spPr>
        <p:txBody>
          <a:bodyPr wrap="none">
            <a:spAutoFit/>
          </a:bodyPr>
          <a:lstStyle/>
          <a:p>
            <a:pPr algn="l">
              <a:defRPr sz="800">
                <a:solidFill>
                  <a:srgbClr val="666666"/>
                </a:solidFill>
              </a:defRPr>
            </a:pPr>
            <a:r>
              <a:t>© 2025 Cisco and/or its affiliates.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34742</TotalTime>
  <Words>1760</Words>
  <Application>Microsoft Macintosh PowerPoint</Application>
  <PresentationFormat>Widescreen</PresentationFormat>
  <Paragraphs>235</Paragraphs>
  <Slides>25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Huan Le (huanle)</cp:lastModifiedBy>
  <cp:revision>8</cp:revision>
  <dcterms:created xsi:type="dcterms:W3CDTF">2013-01-27T09:14:16Z</dcterms:created>
  <dcterms:modified xsi:type="dcterms:W3CDTF">2026-04-16T21:59:16Z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Cisco Confidential</vt:lpwstr>
  </property>
</Properties>
</file>