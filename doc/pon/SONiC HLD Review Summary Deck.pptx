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4" r:id="rId2"/>
    <p:sldId id="257" r:id="rId3"/>
    <p:sldId id="256" r:id="rId4"/>
    <p:sldId id="261" r:id="rId5"/>
    <p:sldId id="260" r:id="rId6"/>
    <p:sldId id="270" r:id="rId7"/>
    <p:sldId id="269" r:id="rId8"/>
    <p:sldId id="259" r:id="rId9"/>
    <p:sldId id="258" r:id="rId10"/>
    <p:sldId id="271" r:id="rId11"/>
    <p:sldId id="263" r:id="rId12"/>
    <p:sldId id="272" r:id="rId13"/>
    <p:sldId id="264" r:id="rId14"/>
    <p:sldId id="268" r:id="rId15"/>
    <p:sldId id="265" r:id="rId16"/>
    <p:sldId id="262" r:id="rId17"/>
    <p:sldId id="273"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195BFF1-CE80-C060-BB44-49B74E4732F7}" name="Gosselin-Harris, Kyle" initials="GHK" userId="S::kgosseli@ciena.com::29f9aa64-935c-4f81-9245-2296e0934f1a" providerId="AD"/>
  <p188:author id="{E96909F4-DC9B-7AE7-4C7E-98461F156D99}" name="Al-Dhaher, Ali" initials="AA" userId="S::aaldhahe@ciena.com::6e2f8e91-6831-4f6d-ac25-7a1c8e1c9f5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22"/>
    <p:restoredTop sz="94673"/>
  </p:normalViewPr>
  <p:slideViewPr>
    <p:cSldViewPr snapToGrid="0">
      <p:cViewPr varScale="1">
        <p:scale>
          <a:sx n="138" d="100"/>
          <a:sy n="138" d="100"/>
        </p:scale>
        <p:origin x="4328" y="2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5291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B4F83C-46CE-384C-AC26-98D5579F128C}" type="slidenum">
              <a:rPr lang="en-US" smtClean="0"/>
              <a:t>11</a:t>
            </a:fld>
            <a:endParaRPr lang="en-US"/>
          </a:p>
        </p:txBody>
      </p:sp>
    </p:spTree>
    <p:extLst>
      <p:ext uri="{BB962C8B-B14F-4D97-AF65-F5344CB8AC3E}">
        <p14:creationId xmlns:p14="http://schemas.microsoft.com/office/powerpoint/2010/main" val="2880340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82EA4-8F72-6731-95DB-A8520FD538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C9768C-6E83-E66C-BFCB-56EAC31CAC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3CA08B-C436-D713-E9CA-A82A56CCEF41}"/>
              </a:ext>
            </a:extLst>
          </p:cNvPr>
          <p:cNvSpPr>
            <a:spLocks noGrp="1"/>
          </p:cNvSpPr>
          <p:nvPr>
            <p:ph type="dt" sz="half" idx="10"/>
          </p:nvPr>
        </p:nvSpPr>
        <p:spPr/>
        <p:txBody>
          <a:bodyPr/>
          <a:lstStyle/>
          <a:p>
            <a:fld id="{C97B6716-44F8-004F-A4FA-D6CA9D612F66}" type="datetimeFigureOut">
              <a:rPr lang="en-US" smtClean="0"/>
              <a:t>8/3/26</a:t>
            </a:fld>
            <a:endParaRPr lang="en-US"/>
          </a:p>
        </p:txBody>
      </p:sp>
      <p:sp>
        <p:nvSpPr>
          <p:cNvPr id="5" name="Footer Placeholder 4">
            <a:extLst>
              <a:ext uri="{FF2B5EF4-FFF2-40B4-BE49-F238E27FC236}">
                <a16:creationId xmlns:a16="http://schemas.microsoft.com/office/drawing/2014/main" id="{577064CC-26CA-C85C-2137-DBBA3F0C54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2E410D-5F44-2E6E-5AE4-086C8FF1A840}"/>
              </a:ext>
            </a:extLst>
          </p:cNvPr>
          <p:cNvSpPr>
            <a:spLocks noGrp="1"/>
          </p:cNvSpPr>
          <p:nvPr>
            <p:ph type="sldNum" sz="quarter" idx="12"/>
          </p:nvPr>
        </p:nvSpPr>
        <p:spPr/>
        <p:txBody>
          <a:bodyPr/>
          <a:lstStyle/>
          <a:p>
            <a:fld id="{E57ACCAB-4A81-694A-8FFD-162965C566D2}" type="slidenum">
              <a:rPr lang="en-US" smtClean="0"/>
              <a:t>‹#›</a:t>
            </a:fld>
            <a:endParaRPr lang="en-US"/>
          </a:p>
        </p:txBody>
      </p:sp>
    </p:spTree>
    <p:extLst>
      <p:ext uri="{BB962C8B-B14F-4D97-AF65-F5344CB8AC3E}">
        <p14:creationId xmlns:p14="http://schemas.microsoft.com/office/powerpoint/2010/main" val="2386554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94B4E-DD58-675A-85E1-CC7CD96747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38C8C5-7B9B-59EA-EEA6-DF153BC97E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D4D567-10C3-D686-42C4-048919D76134}"/>
              </a:ext>
            </a:extLst>
          </p:cNvPr>
          <p:cNvSpPr>
            <a:spLocks noGrp="1"/>
          </p:cNvSpPr>
          <p:nvPr>
            <p:ph type="dt" sz="half" idx="10"/>
          </p:nvPr>
        </p:nvSpPr>
        <p:spPr/>
        <p:txBody>
          <a:bodyPr/>
          <a:lstStyle/>
          <a:p>
            <a:fld id="{C97B6716-44F8-004F-A4FA-D6CA9D612F66}" type="datetimeFigureOut">
              <a:rPr lang="en-US" smtClean="0"/>
              <a:t>8/3/26</a:t>
            </a:fld>
            <a:endParaRPr lang="en-US"/>
          </a:p>
        </p:txBody>
      </p:sp>
      <p:sp>
        <p:nvSpPr>
          <p:cNvPr id="5" name="Footer Placeholder 4">
            <a:extLst>
              <a:ext uri="{FF2B5EF4-FFF2-40B4-BE49-F238E27FC236}">
                <a16:creationId xmlns:a16="http://schemas.microsoft.com/office/drawing/2014/main" id="{735E17F2-4E0B-E09B-96AF-22CE8782B7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5088A0-DCCB-EA54-2875-1CA8F1A0F0D7}"/>
              </a:ext>
            </a:extLst>
          </p:cNvPr>
          <p:cNvSpPr>
            <a:spLocks noGrp="1"/>
          </p:cNvSpPr>
          <p:nvPr>
            <p:ph type="sldNum" sz="quarter" idx="12"/>
          </p:nvPr>
        </p:nvSpPr>
        <p:spPr/>
        <p:txBody>
          <a:bodyPr/>
          <a:lstStyle/>
          <a:p>
            <a:fld id="{E57ACCAB-4A81-694A-8FFD-162965C566D2}" type="slidenum">
              <a:rPr lang="en-US" smtClean="0"/>
              <a:t>‹#›</a:t>
            </a:fld>
            <a:endParaRPr lang="en-US"/>
          </a:p>
        </p:txBody>
      </p:sp>
    </p:spTree>
    <p:extLst>
      <p:ext uri="{BB962C8B-B14F-4D97-AF65-F5344CB8AC3E}">
        <p14:creationId xmlns:p14="http://schemas.microsoft.com/office/powerpoint/2010/main" val="3002741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D13A-E5CA-68DA-6303-7A73D443AF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B08B0A-1F02-1EC6-5768-A1647EF598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F9CC40-0583-7D46-A12F-2E9C44E71264}"/>
              </a:ext>
            </a:extLst>
          </p:cNvPr>
          <p:cNvSpPr>
            <a:spLocks noGrp="1"/>
          </p:cNvSpPr>
          <p:nvPr>
            <p:ph type="dt" sz="half" idx="10"/>
          </p:nvPr>
        </p:nvSpPr>
        <p:spPr/>
        <p:txBody>
          <a:bodyPr/>
          <a:lstStyle/>
          <a:p>
            <a:fld id="{C97B6716-44F8-004F-A4FA-D6CA9D612F66}" type="datetimeFigureOut">
              <a:rPr lang="en-US" smtClean="0"/>
              <a:t>8/3/26</a:t>
            </a:fld>
            <a:endParaRPr lang="en-US"/>
          </a:p>
        </p:txBody>
      </p:sp>
      <p:sp>
        <p:nvSpPr>
          <p:cNvPr id="5" name="Footer Placeholder 4">
            <a:extLst>
              <a:ext uri="{FF2B5EF4-FFF2-40B4-BE49-F238E27FC236}">
                <a16:creationId xmlns:a16="http://schemas.microsoft.com/office/drawing/2014/main" id="{09F52DDA-E95E-600F-1531-A2292AD86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6749AD-75DF-5355-2E2A-471A25374417}"/>
              </a:ext>
            </a:extLst>
          </p:cNvPr>
          <p:cNvSpPr>
            <a:spLocks noGrp="1"/>
          </p:cNvSpPr>
          <p:nvPr>
            <p:ph type="sldNum" sz="quarter" idx="12"/>
          </p:nvPr>
        </p:nvSpPr>
        <p:spPr/>
        <p:txBody>
          <a:bodyPr/>
          <a:lstStyle/>
          <a:p>
            <a:fld id="{E57ACCAB-4A81-694A-8FFD-162965C566D2}" type="slidenum">
              <a:rPr lang="en-US" smtClean="0"/>
              <a:t>‹#›</a:t>
            </a:fld>
            <a:endParaRPr lang="en-US"/>
          </a:p>
        </p:txBody>
      </p:sp>
    </p:spTree>
    <p:extLst>
      <p:ext uri="{BB962C8B-B14F-4D97-AF65-F5344CB8AC3E}">
        <p14:creationId xmlns:p14="http://schemas.microsoft.com/office/powerpoint/2010/main" val="3455113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A28AB-F649-34A2-00D1-8F4E661A66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FE9DF0-F06C-F943-0928-252ACED10F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929A96-E131-F8DF-05FE-E5B60C3B00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F1CD66-1D34-4758-BC98-CB9F460A83EF}"/>
              </a:ext>
            </a:extLst>
          </p:cNvPr>
          <p:cNvSpPr>
            <a:spLocks noGrp="1"/>
          </p:cNvSpPr>
          <p:nvPr>
            <p:ph type="dt" sz="half" idx="10"/>
          </p:nvPr>
        </p:nvSpPr>
        <p:spPr/>
        <p:txBody>
          <a:bodyPr/>
          <a:lstStyle/>
          <a:p>
            <a:fld id="{C97B6716-44F8-004F-A4FA-D6CA9D612F66}" type="datetimeFigureOut">
              <a:rPr lang="en-US" smtClean="0"/>
              <a:t>8/3/26</a:t>
            </a:fld>
            <a:endParaRPr lang="en-US"/>
          </a:p>
        </p:txBody>
      </p:sp>
      <p:sp>
        <p:nvSpPr>
          <p:cNvPr id="6" name="Footer Placeholder 5">
            <a:extLst>
              <a:ext uri="{FF2B5EF4-FFF2-40B4-BE49-F238E27FC236}">
                <a16:creationId xmlns:a16="http://schemas.microsoft.com/office/drawing/2014/main" id="{700A9F42-BC97-37F7-855C-5F8EF8F650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5EBB99-1810-609D-9DDD-C3342CEF2A5D}"/>
              </a:ext>
            </a:extLst>
          </p:cNvPr>
          <p:cNvSpPr>
            <a:spLocks noGrp="1"/>
          </p:cNvSpPr>
          <p:nvPr>
            <p:ph type="sldNum" sz="quarter" idx="12"/>
          </p:nvPr>
        </p:nvSpPr>
        <p:spPr/>
        <p:txBody>
          <a:bodyPr/>
          <a:lstStyle/>
          <a:p>
            <a:fld id="{E57ACCAB-4A81-694A-8FFD-162965C566D2}" type="slidenum">
              <a:rPr lang="en-US" smtClean="0"/>
              <a:t>‹#›</a:t>
            </a:fld>
            <a:endParaRPr lang="en-US"/>
          </a:p>
        </p:txBody>
      </p:sp>
    </p:spTree>
    <p:extLst>
      <p:ext uri="{BB962C8B-B14F-4D97-AF65-F5344CB8AC3E}">
        <p14:creationId xmlns:p14="http://schemas.microsoft.com/office/powerpoint/2010/main" val="165255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A45C-6A61-453A-4959-7835CAFBC99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C79E5B-1A36-4F54-0A05-2622CEA71D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B153D6-339C-C262-B5CB-1877FAD5C3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83AFAB-DCFB-1CD4-835E-FEB5B58906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00E861-0CFC-BCD0-9AA3-8FEBCE2DF1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077984-1209-1032-6FA0-1AF4EF3DC5D4}"/>
              </a:ext>
            </a:extLst>
          </p:cNvPr>
          <p:cNvSpPr>
            <a:spLocks noGrp="1"/>
          </p:cNvSpPr>
          <p:nvPr>
            <p:ph type="dt" sz="half" idx="10"/>
          </p:nvPr>
        </p:nvSpPr>
        <p:spPr/>
        <p:txBody>
          <a:bodyPr/>
          <a:lstStyle/>
          <a:p>
            <a:fld id="{C97B6716-44F8-004F-A4FA-D6CA9D612F66}" type="datetimeFigureOut">
              <a:rPr lang="en-US" smtClean="0"/>
              <a:t>8/3/26</a:t>
            </a:fld>
            <a:endParaRPr lang="en-US"/>
          </a:p>
        </p:txBody>
      </p:sp>
      <p:sp>
        <p:nvSpPr>
          <p:cNvPr id="8" name="Footer Placeholder 7">
            <a:extLst>
              <a:ext uri="{FF2B5EF4-FFF2-40B4-BE49-F238E27FC236}">
                <a16:creationId xmlns:a16="http://schemas.microsoft.com/office/drawing/2014/main" id="{9C82FED7-729E-5CC1-8D29-7AC365298C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FC8A11-4FFE-87BC-8A17-B8B921D9A8EC}"/>
              </a:ext>
            </a:extLst>
          </p:cNvPr>
          <p:cNvSpPr>
            <a:spLocks noGrp="1"/>
          </p:cNvSpPr>
          <p:nvPr>
            <p:ph type="sldNum" sz="quarter" idx="12"/>
          </p:nvPr>
        </p:nvSpPr>
        <p:spPr/>
        <p:txBody>
          <a:bodyPr/>
          <a:lstStyle/>
          <a:p>
            <a:fld id="{E57ACCAB-4A81-694A-8FFD-162965C566D2}" type="slidenum">
              <a:rPr lang="en-US" smtClean="0"/>
              <a:t>‹#›</a:t>
            </a:fld>
            <a:endParaRPr lang="en-US"/>
          </a:p>
        </p:txBody>
      </p:sp>
    </p:spTree>
    <p:extLst>
      <p:ext uri="{BB962C8B-B14F-4D97-AF65-F5344CB8AC3E}">
        <p14:creationId xmlns:p14="http://schemas.microsoft.com/office/powerpoint/2010/main" val="1054260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118A1-043C-E4D7-355F-4849367BBC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F092F4-1779-11E0-DA36-558C26A3624E}"/>
              </a:ext>
            </a:extLst>
          </p:cNvPr>
          <p:cNvSpPr>
            <a:spLocks noGrp="1"/>
          </p:cNvSpPr>
          <p:nvPr>
            <p:ph type="dt" sz="half" idx="10"/>
          </p:nvPr>
        </p:nvSpPr>
        <p:spPr/>
        <p:txBody>
          <a:bodyPr/>
          <a:lstStyle/>
          <a:p>
            <a:fld id="{C97B6716-44F8-004F-A4FA-D6CA9D612F66}" type="datetimeFigureOut">
              <a:rPr lang="en-US" smtClean="0"/>
              <a:t>8/3/26</a:t>
            </a:fld>
            <a:endParaRPr lang="en-US"/>
          </a:p>
        </p:txBody>
      </p:sp>
      <p:sp>
        <p:nvSpPr>
          <p:cNvPr id="4" name="Footer Placeholder 3">
            <a:extLst>
              <a:ext uri="{FF2B5EF4-FFF2-40B4-BE49-F238E27FC236}">
                <a16:creationId xmlns:a16="http://schemas.microsoft.com/office/drawing/2014/main" id="{7478EEB8-BD3A-12A5-6DD2-E90ABD58FA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3B302-E1F8-CCB4-DD1B-C6721F24BC26}"/>
              </a:ext>
            </a:extLst>
          </p:cNvPr>
          <p:cNvSpPr>
            <a:spLocks noGrp="1"/>
          </p:cNvSpPr>
          <p:nvPr>
            <p:ph type="sldNum" sz="quarter" idx="12"/>
          </p:nvPr>
        </p:nvSpPr>
        <p:spPr/>
        <p:txBody>
          <a:bodyPr/>
          <a:lstStyle/>
          <a:p>
            <a:fld id="{E57ACCAB-4A81-694A-8FFD-162965C566D2}" type="slidenum">
              <a:rPr lang="en-US" smtClean="0"/>
              <a:t>‹#›</a:t>
            </a:fld>
            <a:endParaRPr lang="en-US"/>
          </a:p>
        </p:txBody>
      </p:sp>
    </p:spTree>
    <p:extLst>
      <p:ext uri="{BB962C8B-B14F-4D97-AF65-F5344CB8AC3E}">
        <p14:creationId xmlns:p14="http://schemas.microsoft.com/office/powerpoint/2010/main" val="193506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E87478-41B7-40ED-017B-6F4275C7D9EC}"/>
              </a:ext>
            </a:extLst>
          </p:cNvPr>
          <p:cNvSpPr>
            <a:spLocks noGrp="1"/>
          </p:cNvSpPr>
          <p:nvPr>
            <p:ph type="dt" sz="half" idx="10"/>
          </p:nvPr>
        </p:nvSpPr>
        <p:spPr/>
        <p:txBody>
          <a:bodyPr/>
          <a:lstStyle/>
          <a:p>
            <a:fld id="{C97B6716-44F8-004F-A4FA-D6CA9D612F66}" type="datetimeFigureOut">
              <a:rPr lang="en-US" smtClean="0"/>
              <a:t>8/3/26</a:t>
            </a:fld>
            <a:endParaRPr lang="en-US"/>
          </a:p>
        </p:txBody>
      </p:sp>
      <p:sp>
        <p:nvSpPr>
          <p:cNvPr id="3" name="Footer Placeholder 2">
            <a:extLst>
              <a:ext uri="{FF2B5EF4-FFF2-40B4-BE49-F238E27FC236}">
                <a16:creationId xmlns:a16="http://schemas.microsoft.com/office/drawing/2014/main" id="{3EF00BB0-9141-5149-6653-A757F2A9EEC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0A53F3-C3AA-1BA2-840C-AB7DEE2F7813}"/>
              </a:ext>
            </a:extLst>
          </p:cNvPr>
          <p:cNvSpPr>
            <a:spLocks noGrp="1"/>
          </p:cNvSpPr>
          <p:nvPr>
            <p:ph type="sldNum" sz="quarter" idx="12"/>
          </p:nvPr>
        </p:nvSpPr>
        <p:spPr/>
        <p:txBody>
          <a:bodyPr/>
          <a:lstStyle/>
          <a:p>
            <a:fld id="{E57ACCAB-4A81-694A-8FFD-162965C566D2}" type="slidenum">
              <a:rPr lang="en-US" smtClean="0"/>
              <a:t>‹#›</a:t>
            </a:fld>
            <a:endParaRPr lang="en-US"/>
          </a:p>
        </p:txBody>
      </p:sp>
    </p:spTree>
    <p:extLst>
      <p:ext uri="{BB962C8B-B14F-4D97-AF65-F5344CB8AC3E}">
        <p14:creationId xmlns:p14="http://schemas.microsoft.com/office/powerpoint/2010/main" val="3460512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ACA48-FFE7-9916-19DA-D52539861F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FB49EE-7851-7E9F-88F3-CC91E4432B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9AEF27-7FE9-67F1-B6C9-55FB785F8B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D53B66-748B-BAB6-4EE3-82FB3C89F31C}"/>
              </a:ext>
            </a:extLst>
          </p:cNvPr>
          <p:cNvSpPr>
            <a:spLocks noGrp="1"/>
          </p:cNvSpPr>
          <p:nvPr>
            <p:ph type="dt" sz="half" idx="10"/>
          </p:nvPr>
        </p:nvSpPr>
        <p:spPr/>
        <p:txBody>
          <a:bodyPr/>
          <a:lstStyle/>
          <a:p>
            <a:fld id="{C97B6716-44F8-004F-A4FA-D6CA9D612F66}" type="datetimeFigureOut">
              <a:rPr lang="en-US" smtClean="0"/>
              <a:t>8/3/26</a:t>
            </a:fld>
            <a:endParaRPr lang="en-US"/>
          </a:p>
        </p:txBody>
      </p:sp>
      <p:sp>
        <p:nvSpPr>
          <p:cNvPr id="6" name="Footer Placeholder 5">
            <a:extLst>
              <a:ext uri="{FF2B5EF4-FFF2-40B4-BE49-F238E27FC236}">
                <a16:creationId xmlns:a16="http://schemas.microsoft.com/office/drawing/2014/main" id="{71D2DEB9-39FA-0666-9201-744B4AA7A0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4909F5-92F3-96F9-4430-C3B3366BEE62}"/>
              </a:ext>
            </a:extLst>
          </p:cNvPr>
          <p:cNvSpPr>
            <a:spLocks noGrp="1"/>
          </p:cNvSpPr>
          <p:nvPr>
            <p:ph type="sldNum" sz="quarter" idx="12"/>
          </p:nvPr>
        </p:nvSpPr>
        <p:spPr/>
        <p:txBody>
          <a:bodyPr/>
          <a:lstStyle/>
          <a:p>
            <a:fld id="{E57ACCAB-4A81-694A-8FFD-162965C566D2}" type="slidenum">
              <a:rPr lang="en-US" smtClean="0"/>
              <a:t>‹#›</a:t>
            </a:fld>
            <a:endParaRPr lang="en-US"/>
          </a:p>
        </p:txBody>
      </p:sp>
    </p:spTree>
    <p:extLst>
      <p:ext uri="{BB962C8B-B14F-4D97-AF65-F5344CB8AC3E}">
        <p14:creationId xmlns:p14="http://schemas.microsoft.com/office/powerpoint/2010/main" val="3818273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C8B0B-98DA-1329-BF5F-D0ACEDE1EB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526610-60FC-116C-CDA2-ACB3A1B242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275C63-97C1-B288-925F-1152624A16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24195-6F2C-2169-10EB-AC149B139009}"/>
              </a:ext>
            </a:extLst>
          </p:cNvPr>
          <p:cNvSpPr>
            <a:spLocks noGrp="1"/>
          </p:cNvSpPr>
          <p:nvPr>
            <p:ph type="dt" sz="half" idx="10"/>
          </p:nvPr>
        </p:nvSpPr>
        <p:spPr/>
        <p:txBody>
          <a:bodyPr/>
          <a:lstStyle/>
          <a:p>
            <a:fld id="{C97B6716-44F8-004F-A4FA-D6CA9D612F66}" type="datetimeFigureOut">
              <a:rPr lang="en-US" smtClean="0"/>
              <a:t>8/3/26</a:t>
            </a:fld>
            <a:endParaRPr lang="en-US"/>
          </a:p>
        </p:txBody>
      </p:sp>
      <p:sp>
        <p:nvSpPr>
          <p:cNvPr id="6" name="Footer Placeholder 5">
            <a:extLst>
              <a:ext uri="{FF2B5EF4-FFF2-40B4-BE49-F238E27FC236}">
                <a16:creationId xmlns:a16="http://schemas.microsoft.com/office/drawing/2014/main" id="{EC60C225-651A-5C41-7801-F3E7D9AC57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4F95DF-61C1-8909-2E8E-4FC671BA4708}"/>
              </a:ext>
            </a:extLst>
          </p:cNvPr>
          <p:cNvSpPr>
            <a:spLocks noGrp="1"/>
          </p:cNvSpPr>
          <p:nvPr>
            <p:ph type="sldNum" sz="quarter" idx="12"/>
          </p:nvPr>
        </p:nvSpPr>
        <p:spPr/>
        <p:txBody>
          <a:bodyPr/>
          <a:lstStyle/>
          <a:p>
            <a:fld id="{E57ACCAB-4A81-694A-8FFD-162965C566D2}" type="slidenum">
              <a:rPr lang="en-US" smtClean="0"/>
              <a:t>‹#›</a:t>
            </a:fld>
            <a:endParaRPr lang="en-US"/>
          </a:p>
        </p:txBody>
      </p:sp>
    </p:spTree>
    <p:extLst>
      <p:ext uri="{BB962C8B-B14F-4D97-AF65-F5344CB8AC3E}">
        <p14:creationId xmlns:p14="http://schemas.microsoft.com/office/powerpoint/2010/main" val="969425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A4B04-8865-557F-FDA4-646E35A059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8157749-ED19-3FF6-8D29-0E0C15630D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C55863-8B4D-6154-455D-82E58BB32CF8}"/>
              </a:ext>
            </a:extLst>
          </p:cNvPr>
          <p:cNvSpPr>
            <a:spLocks noGrp="1"/>
          </p:cNvSpPr>
          <p:nvPr>
            <p:ph type="dt" sz="half" idx="10"/>
          </p:nvPr>
        </p:nvSpPr>
        <p:spPr/>
        <p:txBody>
          <a:bodyPr/>
          <a:lstStyle/>
          <a:p>
            <a:fld id="{C97B6716-44F8-004F-A4FA-D6CA9D612F66}" type="datetimeFigureOut">
              <a:rPr lang="en-US" smtClean="0"/>
              <a:t>8/3/26</a:t>
            </a:fld>
            <a:endParaRPr lang="en-US"/>
          </a:p>
        </p:txBody>
      </p:sp>
      <p:sp>
        <p:nvSpPr>
          <p:cNvPr id="5" name="Footer Placeholder 4">
            <a:extLst>
              <a:ext uri="{FF2B5EF4-FFF2-40B4-BE49-F238E27FC236}">
                <a16:creationId xmlns:a16="http://schemas.microsoft.com/office/drawing/2014/main" id="{C6ABF58C-2BA6-A539-55A1-5BD19987C0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B79371-60FD-B334-576D-7CDE55D2C326}"/>
              </a:ext>
            </a:extLst>
          </p:cNvPr>
          <p:cNvSpPr>
            <a:spLocks noGrp="1"/>
          </p:cNvSpPr>
          <p:nvPr>
            <p:ph type="sldNum" sz="quarter" idx="12"/>
          </p:nvPr>
        </p:nvSpPr>
        <p:spPr/>
        <p:txBody>
          <a:bodyPr/>
          <a:lstStyle/>
          <a:p>
            <a:fld id="{E57ACCAB-4A81-694A-8FFD-162965C566D2}" type="slidenum">
              <a:rPr lang="en-US" smtClean="0"/>
              <a:t>‹#›</a:t>
            </a:fld>
            <a:endParaRPr lang="en-US"/>
          </a:p>
        </p:txBody>
      </p:sp>
    </p:spTree>
    <p:extLst>
      <p:ext uri="{BB962C8B-B14F-4D97-AF65-F5344CB8AC3E}">
        <p14:creationId xmlns:p14="http://schemas.microsoft.com/office/powerpoint/2010/main" val="1019521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346A7A-8068-9110-2F08-1855161160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6B5790-9852-8E6A-3F47-22FB7577FA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F6AE1-5EDF-DB9A-09E7-4C294B37A832}"/>
              </a:ext>
            </a:extLst>
          </p:cNvPr>
          <p:cNvSpPr>
            <a:spLocks noGrp="1"/>
          </p:cNvSpPr>
          <p:nvPr>
            <p:ph type="dt" sz="half" idx="10"/>
          </p:nvPr>
        </p:nvSpPr>
        <p:spPr/>
        <p:txBody>
          <a:bodyPr/>
          <a:lstStyle/>
          <a:p>
            <a:fld id="{C97B6716-44F8-004F-A4FA-D6CA9D612F66}" type="datetimeFigureOut">
              <a:rPr lang="en-US" smtClean="0"/>
              <a:t>8/3/26</a:t>
            </a:fld>
            <a:endParaRPr lang="en-US"/>
          </a:p>
        </p:txBody>
      </p:sp>
      <p:sp>
        <p:nvSpPr>
          <p:cNvPr id="5" name="Footer Placeholder 4">
            <a:extLst>
              <a:ext uri="{FF2B5EF4-FFF2-40B4-BE49-F238E27FC236}">
                <a16:creationId xmlns:a16="http://schemas.microsoft.com/office/drawing/2014/main" id="{62E2EE84-07D2-650A-2454-68C6CF2ED6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CA0941-A592-AFAD-FD99-6CA33ED9658D}"/>
              </a:ext>
            </a:extLst>
          </p:cNvPr>
          <p:cNvSpPr>
            <a:spLocks noGrp="1"/>
          </p:cNvSpPr>
          <p:nvPr>
            <p:ph type="sldNum" sz="quarter" idx="12"/>
          </p:nvPr>
        </p:nvSpPr>
        <p:spPr/>
        <p:txBody>
          <a:bodyPr/>
          <a:lstStyle/>
          <a:p>
            <a:fld id="{E57ACCAB-4A81-694A-8FFD-162965C566D2}" type="slidenum">
              <a:rPr lang="en-US" smtClean="0"/>
              <a:t>‹#›</a:t>
            </a:fld>
            <a:endParaRPr lang="en-US"/>
          </a:p>
        </p:txBody>
      </p:sp>
    </p:spTree>
    <p:extLst>
      <p:ext uri="{BB962C8B-B14F-4D97-AF65-F5344CB8AC3E}">
        <p14:creationId xmlns:p14="http://schemas.microsoft.com/office/powerpoint/2010/main" val="1254299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CCEBE2-DC55-E1D4-57AB-1ED472065C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FB3E7A-8667-5941-F045-0331037CED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9D5512-A78F-F4B4-9E3E-C63FD966B3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7B6716-44F8-004F-A4FA-D6CA9D612F66}" type="datetimeFigureOut">
              <a:rPr lang="en-US" smtClean="0"/>
              <a:t>8/3/26</a:t>
            </a:fld>
            <a:endParaRPr lang="en-US"/>
          </a:p>
        </p:txBody>
      </p:sp>
      <p:sp>
        <p:nvSpPr>
          <p:cNvPr id="5" name="Footer Placeholder 4">
            <a:extLst>
              <a:ext uri="{FF2B5EF4-FFF2-40B4-BE49-F238E27FC236}">
                <a16:creationId xmlns:a16="http://schemas.microsoft.com/office/drawing/2014/main" id="{818123F1-8AE1-949A-EAB3-67068DF1D5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5B06E1-960D-02BC-6CE3-6596F6AC93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7ACCAB-4A81-694A-8FFD-162965C566D2}" type="slidenum">
              <a:rPr lang="en-US" smtClean="0"/>
              <a:t>‹#›</a:t>
            </a:fld>
            <a:endParaRPr lang="en-US"/>
          </a:p>
        </p:txBody>
      </p:sp>
    </p:spTree>
    <p:extLst>
      <p:ext uri="{BB962C8B-B14F-4D97-AF65-F5344CB8AC3E}">
        <p14:creationId xmlns:p14="http://schemas.microsoft.com/office/powerpoint/2010/main" val="4190959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FED6EF-248D-C551-9BC5-248F108F81AB}"/>
              </a:ext>
            </a:extLst>
          </p:cNvPr>
          <p:cNvSpPr>
            <a:spLocks noGrp="1"/>
          </p:cNvSpPr>
          <p:nvPr>
            <p:ph type="ctrTitle"/>
          </p:nvPr>
        </p:nvSpPr>
        <p:spPr/>
        <p:txBody>
          <a:bodyPr/>
          <a:lstStyle/>
          <a:p>
            <a:r>
              <a:rPr lang="en-US" dirty="0" err="1"/>
              <a:t>SONiC</a:t>
            </a:r>
            <a:r>
              <a:rPr lang="en-US" dirty="0"/>
              <a:t> PON HLD Summary</a:t>
            </a:r>
          </a:p>
        </p:txBody>
      </p:sp>
      <p:sp>
        <p:nvSpPr>
          <p:cNvPr id="4" name="Subtitle 3">
            <a:extLst>
              <a:ext uri="{FF2B5EF4-FFF2-40B4-BE49-F238E27FC236}">
                <a16:creationId xmlns:a16="http://schemas.microsoft.com/office/drawing/2014/main" id="{C32A4130-EFCD-676D-B620-D1B3DCD15A4A}"/>
              </a:ext>
            </a:extLst>
          </p:cNvPr>
          <p:cNvSpPr>
            <a:spLocks noGrp="1"/>
          </p:cNvSpPr>
          <p:nvPr>
            <p:ph type="subTitle" idx="1"/>
          </p:nvPr>
        </p:nvSpPr>
        <p:spPr/>
        <p:txBody>
          <a:bodyPr/>
          <a:lstStyle/>
          <a:p>
            <a:r>
              <a:rPr lang="en-US" dirty="0"/>
              <a:t>Passive Optical Network for Datacenter OOB Management</a:t>
            </a:r>
          </a:p>
        </p:txBody>
      </p:sp>
      <p:sp>
        <p:nvSpPr>
          <p:cNvPr id="6" name="TextBox 5">
            <a:extLst>
              <a:ext uri="{FF2B5EF4-FFF2-40B4-BE49-F238E27FC236}">
                <a16:creationId xmlns:a16="http://schemas.microsoft.com/office/drawing/2014/main" id="{7E7231D1-0D45-2487-4B39-E2EF6118A1BB}"/>
              </a:ext>
            </a:extLst>
          </p:cNvPr>
          <p:cNvSpPr txBox="1"/>
          <p:nvPr/>
        </p:nvSpPr>
        <p:spPr>
          <a:xfrm>
            <a:off x="2207491" y="3992540"/>
            <a:ext cx="6096000" cy="369332"/>
          </a:xfrm>
          <a:prstGeom prst="rect">
            <a:avLst/>
          </a:prstGeom>
          <a:noFill/>
        </p:spPr>
        <p:txBody>
          <a:bodyPr wrap="square">
            <a:spAutoFit/>
          </a:bodyPr>
          <a:lstStyle/>
          <a:p>
            <a:r>
              <a:rPr lang="en-US" dirty="0"/>
              <a:t>https://</a:t>
            </a:r>
            <a:r>
              <a:rPr lang="en-US" dirty="0" err="1"/>
              <a:t>github.com</a:t>
            </a:r>
            <a:r>
              <a:rPr lang="en-US" dirty="0"/>
              <a:t>/sonic-net/</a:t>
            </a:r>
            <a:r>
              <a:rPr lang="en-US" dirty="0" err="1"/>
              <a:t>SONiC</a:t>
            </a:r>
            <a:r>
              <a:rPr lang="en-US" dirty="0"/>
              <a:t>/pull/2377</a:t>
            </a:r>
          </a:p>
        </p:txBody>
      </p:sp>
    </p:spTree>
    <p:extLst>
      <p:ext uri="{BB962C8B-B14F-4D97-AF65-F5344CB8AC3E}">
        <p14:creationId xmlns:p14="http://schemas.microsoft.com/office/powerpoint/2010/main" val="2035691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320EE-6145-7C74-BAA9-84B913C5C51E}"/>
            </a:ext>
          </a:extLst>
        </p:cNvPr>
        <p:cNvGrpSpPr/>
        <p:nvPr/>
      </p:nvGrpSpPr>
      <p:grpSpPr>
        <a:xfrm>
          <a:off x="0" y="0"/>
          <a:ext cx="0" cy="0"/>
          <a:chOff x="0" y="0"/>
          <a:chExt cx="0" cy="0"/>
        </a:xfrm>
      </p:grpSpPr>
      <p:sp>
        <p:nvSpPr>
          <p:cNvPr id="77" name="Cloud 76">
            <a:extLst>
              <a:ext uri="{FF2B5EF4-FFF2-40B4-BE49-F238E27FC236}">
                <a16:creationId xmlns:a16="http://schemas.microsoft.com/office/drawing/2014/main" id="{B3E7847C-58D3-C443-E8C6-2425AD1FB521}"/>
              </a:ext>
            </a:extLst>
          </p:cNvPr>
          <p:cNvSpPr/>
          <p:nvPr/>
        </p:nvSpPr>
        <p:spPr>
          <a:xfrm>
            <a:off x="2750305" y="3956997"/>
            <a:ext cx="5332226" cy="1368292"/>
          </a:xfrm>
          <a:prstGeom prst="cloud">
            <a:avLst/>
          </a:prstGeom>
          <a:ln/>
        </p:spPr>
        <p:style>
          <a:lnRef idx="1">
            <a:schemeClr val="dk1"/>
          </a:lnRef>
          <a:fillRef idx="2">
            <a:schemeClr val="dk1"/>
          </a:fillRef>
          <a:effectRef idx="1">
            <a:schemeClr val="dk1"/>
          </a:effectRef>
          <a:fontRef idx="minor">
            <a:schemeClr val="dk1"/>
          </a:fontRef>
        </p:style>
        <p:txBody>
          <a:bodyPr rtlCol="0" anchor="ctr">
            <a:noAutofit/>
          </a:bodyPr>
          <a:lstStyle/>
          <a:p>
            <a:pPr marL="0" marR="0" indent="0" defTabSz="228520" eaLnBrk="1" fontAlgn="auto" latinLnBrk="0" hangingPunct="1">
              <a:lnSpc>
                <a:spcPct val="100000"/>
              </a:lnSpc>
              <a:spcBef>
                <a:spcPts val="0"/>
              </a:spcBef>
              <a:spcAft>
                <a:spcPts val="0"/>
              </a:spcAft>
              <a:buClrTx/>
              <a:buSzTx/>
              <a:buFontTx/>
              <a:buNone/>
              <a:tabLst/>
            </a:pPr>
            <a:r>
              <a:rPr kumimoji="0" lang="en-US" sz="1100" b="0" i="0" u="none" strike="noStrike" kern="0" cap="none" spc="0" normalizeH="0" baseline="0" noProof="0" dirty="0">
                <a:ln>
                  <a:noFill/>
                </a:ln>
                <a:solidFill>
                  <a:schemeClr val="bg1"/>
                </a:solidFill>
                <a:effectLst/>
                <a:uLnTx/>
                <a:uFillTx/>
                <a:latin typeface="+mj-lt"/>
                <a:ea typeface="+mn-ea"/>
                <a:cs typeface="+mn-cs"/>
              </a:rPr>
              <a:t>PON Network</a:t>
            </a:r>
          </a:p>
        </p:txBody>
      </p:sp>
      <p:sp>
        <p:nvSpPr>
          <p:cNvPr id="114" name="Rectangle: Rounded Corners 103">
            <a:extLst>
              <a:ext uri="{FF2B5EF4-FFF2-40B4-BE49-F238E27FC236}">
                <a16:creationId xmlns:a16="http://schemas.microsoft.com/office/drawing/2014/main" id="{67AD2167-ADD1-45A1-2EC2-96AA3CDDAB0C}"/>
              </a:ext>
            </a:extLst>
          </p:cNvPr>
          <p:cNvSpPr/>
          <p:nvPr/>
        </p:nvSpPr>
        <p:spPr>
          <a:xfrm>
            <a:off x="4079375" y="3138969"/>
            <a:ext cx="2952075" cy="1071140"/>
          </a:xfrm>
          <a:prstGeom prst="roundRect">
            <a:avLst/>
          </a:prstGeom>
          <a:solidFill>
            <a:srgbClr val="0070C0"/>
          </a:solidFill>
          <a:ln/>
        </p:spPr>
        <p:style>
          <a:lnRef idx="3">
            <a:schemeClr val="lt1"/>
          </a:lnRef>
          <a:fillRef idx="1">
            <a:schemeClr val="accent4"/>
          </a:fillRef>
          <a:effectRef idx="1">
            <a:schemeClr val="accent4"/>
          </a:effectRef>
          <a:fontRef idx="minor">
            <a:schemeClr val="lt1"/>
          </a:fontRef>
        </p:style>
        <p:txBody>
          <a:bodyPr rtlCol="0" anchor="t"/>
          <a:lstStyle/>
          <a:p>
            <a:pPr algn="ctr"/>
            <a:r>
              <a:rPr lang="en-US" sz="600" err="1">
                <a:solidFill>
                  <a:schemeClr val="bg1"/>
                </a:solidFill>
              </a:rPr>
              <a:t>SONiC</a:t>
            </a:r>
            <a:r>
              <a:rPr lang="en-US" sz="600">
                <a:solidFill>
                  <a:schemeClr val="bg1"/>
                </a:solidFill>
              </a:rPr>
              <a:t> Router</a:t>
            </a:r>
          </a:p>
        </p:txBody>
      </p:sp>
      <p:sp>
        <p:nvSpPr>
          <p:cNvPr id="57" name="Title 1">
            <a:extLst>
              <a:ext uri="{FF2B5EF4-FFF2-40B4-BE49-F238E27FC236}">
                <a16:creationId xmlns:a16="http://schemas.microsoft.com/office/drawing/2014/main" id="{13A81D24-16C5-4BD7-E6A4-E5601699AE77}"/>
              </a:ext>
            </a:extLst>
          </p:cNvPr>
          <p:cNvSpPr>
            <a:spLocks noGrp="1"/>
          </p:cNvSpPr>
          <p:nvPr>
            <p:ph type="title"/>
          </p:nvPr>
        </p:nvSpPr>
        <p:spPr>
          <a:xfrm>
            <a:off x="1051560" y="0"/>
            <a:ext cx="10471034" cy="1014984"/>
          </a:xfrm>
        </p:spPr>
        <p:txBody>
          <a:bodyPr>
            <a:normAutofit/>
          </a:bodyPr>
          <a:lstStyle/>
          <a:p>
            <a:pPr>
              <a:defRPr sz="3600"/>
            </a:pPr>
            <a:r>
              <a:rPr lang="en-US" sz="3600" dirty="0"/>
              <a:t>Brief Overview of PON</a:t>
            </a:r>
            <a:endParaRPr lang="en-US" sz="3600"/>
          </a:p>
        </p:txBody>
      </p:sp>
      <p:graphicFrame>
        <p:nvGraphicFramePr>
          <p:cNvPr id="2" name="Table 1">
            <a:extLst>
              <a:ext uri="{FF2B5EF4-FFF2-40B4-BE49-F238E27FC236}">
                <a16:creationId xmlns:a16="http://schemas.microsoft.com/office/drawing/2014/main" id="{3767C8FB-D088-C821-CF28-280A89A9078F}"/>
              </a:ext>
            </a:extLst>
          </p:cNvPr>
          <p:cNvGraphicFramePr>
            <a:graphicFrameLocks noGrp="1"/>
          </p:cNvGraphicFramePr>
          <p:nvPr>
            <p:extLst>
              <p:ext uri="{D42A27DB-BD31-4B8C-83A1-F6EECF244321}">
                <p14:modId xmlns:p14="http://schemas.microsoft.com/office/powerpoint/2010/main" val="2146911326"/>
              </p:ext>
            </p:extLst>
          </p:nvPr>
        </p:nvGraphicFramePr>
        <p:xfrm>
          <a:off x="838200" y="1278606"/>
          <a:ext cx="10515600" cy="1276350"/>
        </p:xfrm>
        <a:graphic>
          <a:graphicData uri="http://schemas.openxmlformats.org/drawingml/2006/table">
            <a:tbl>
              <a:tblPr/>
              <a:tblGrid>
                <a:gridCol w="2271823">
                  <a:extLst>
                    <a:ext uri="{9D8B030D-6E8A-4147-A177-3AD203B41FA5}">
                      <a16:colId xmlns:a16="http://schemas.microsoft.com/office/drawing/2014/main" val="4066570352"/>
                    </a:ext>
                  </a:extLst>
                </a:gridCol>
                <a:gridCol w="8243777">
                  <a:extLst>
                    <a:ext uri="{9D8B030D-6E8A-4147-A177-3AD203B41FA5}">
                      <a16:colId xmlns:a16="http://schemas.microsoft.com/office/drawing/2014/main" val="471109233"/>
                    </a:ext>
                  </a:extLst>
                </a:gridCol>
              </a:tblGrid>
              <a:tr h="0">
                <a:tc>
                  <a:txBody>
                    <a:bodyPr/>
                    <a:lstStyle/>
                    <a:p>
                      <a:pPr algn="l">
                        <a:buNone/>
                      </a:pPr>
                      <a:r>
                        <a:rPr lang="en-US" sz="1050" b="0" i="0" dirty="0">
                          <a:solidFill>
                            <a:schemeClr val="tx1"/>
                          </a:solidFill>
                          <a:effectLst/>
                          <a:latin typeface="-apple-system"/>
                        </a:rPr>
                        <a:t>PON</a:t>
                      </a:r>
                    </a:p>
                  </a:txBody>
                  <a:tcPr marL="95250" marR="95250" marT="47625" marB="47625" anchor="ctr">
                    <a:lnL>
                      <a:noFill/>
                    </a:lnL>
                    <a:lnR>
                      <a:noFill/>
                    </a:lnR>
                    <a:lnT>
                      <a:noFill/>
                    </a:lnT>
                    <a:lnB>
                      <a:noFill/>
                    </a:lnB>
                    <a:noFill/>
                  </a:tcPr>
                </a:tc>
                <a:tc>
                  <a:txBody>
                    <a:bodyPr/>
                    <a:lstStyle/>
                    <a:p>
                      <a:pPr algn="l">
                        <a:buNone/>
                      </a:pPr>
                      <a:r>
                        <a:rPr lang="en-US" sz="1050" b="0" i="0" dirty="0">
                          <a:solidFill>
                            <a:schemeClr val="tx1"/>
                          </a:solidFill>
                          <a:effectLst/>
                          <a:latin typeface="-apple-system"/>
                        </a:rPr>
                        <a:t>Passive Optical Network</a:t>
                      </a:r>
                    </a:p>
                  </a:txBody>
                  <a:tcPr marL="95250" marR="95250" marT="47625" marB="47625" anchor="ctr">
                    <a:lnL>
                      <a:noFill/>
                    </a:lnL>
                    <a:lnR>
                      <a:noFill/>
                    </a:lnR>
                    <a:lnT>
                      <a:noFill/>
                    </a:lnT>
                    <a:lnB>
                      <a:noFill/>
                    </a:lnB>
                    <a:noFill/>
                  </a:tcPr>
                </a:tc>
                <a:extLst>
                  <a:ext uri="{0D108BD9-81ED-4DB2-BD59-A6C34878D82A}">
                    <a16:rowId xmlns:a16="http://schemas.microsoft.com/office/drawing/2014/main" val="28621391"/>
                  </a:ext>
                </a:extLst>
              </a:tr>
              <a:tr h="0">
                <a:tc>
                  <a:txBody>
                    <a:bodyPr/>
                    <a:lstStyle/>
                    <a:p>
                      <a:pPr algn="l">
                        <a:buNone/>
                      </a:pPr>
                      <a:r>
                        <a:rPr lang="en-US" sz="1050" b="0" i="0" dirty="0">
                          <a:solidFill>
                            <a:schemeClr val="tx1"/>
                          </a:solidFill>
                          <a:effectLst/>
                          <a:latin typeface="-apple-system"/>
                        </a:rPr>
                        <a:t>OLT</a:t>
                      </a:r>
                    </a:p>
                  </a:txBody>
                  <a:tcPr marL="95250" marR="95250" marT="47625" marB="47625" anchor="ctr">
                    <a:lnL>
                      <a:noFill/>
                    </a:lnL>
                    <a:lnR>
                      <a:noFill/>
                    </a:lnR>
                    <a:lnT>
                      <a:noFill/>
                    </a:lnT>
                    <a:lnB>
                      <a:noFill/>
                    </a:lnB>
                    <a:noFill/>
                  </a:tcPr>
                </a:tc>
                <a:tc>
                  <a:txBody>
                    <a:bodyPr/>
                    <a:lstStyle/>
                    <a:p>
                      <a:pPr algn="l">
                        <a:buNone/>
                      </a:pPr>
                      <a:r>
                        <a:rPr lang="en-US" sz="1050" b="0" i="0" dirty="0">
                          <a:solidFill>
                            <a:schemeClr val="tx1"/>
                          </a:solidFill>
                          <a:effectLst/>
                          <a:latin typeface="-apple-system"/>
                        </a:rPr>
                        <a:t>Optical Line Terminal — the PON head-end device managed by this feature.</a:t>
                      </a:r>
                    </a:p>
                  </a:txBody>
                  <a:tcPr marL="95250" marR="95250" marT="47625" marB="47625" anchor="ctr">
                    <a:lnL>
                      <a:noFill/>
                    </a:lnL>
                    <a:lnR>
                      <a:noFill/>
                    </a:lnR>
                    <a:lnT>
                      <a:noFill/>
                    </a:lnT>
                    <a:lnB>
                      <a:noFill/>
                    </a:lnB>
                    <a:noFill/>
                  </a:tcPr>
                </a:tc>
                <a:extLst>
                  <a:ext uri="{0D108BD9-81ED-4DB2-BD59-A6C34878D82A}">
                    <a16:rowId xmlns:a16="http://schemas.microsoft.com/office/drawing/2014/main" val="1851443551"/>
                  </a:ext>
                </a:extLst>
              </a:tr>
              <a:tr h="0">
                <a:tc>
                  <a:txBody>
                    <a:bodyPr/>
                    <a:lstStyle/>
                    <a:p>
                      <a:pPr algn="l">
                        <a:buNone/>
                      </a:pPr>
                      <a:r>
                        <a:rPr lang="en-US" sz="1050" b="0" i="0" dirty="0">
                          <a:solidFill>
                            <a:schemeClr val="tx1"/>
                          </a:solidFill>
                          <a:effectLst/>
                          <a:latin typeface="-apple-system"/>
                        </a:rPr>
                        <a:t>OLT Interface</a:t>
                      </a:r>
                    </a:p>
                  </a:txBody>
                  <a:tcPr marL="95250" marR="95250" marT="47625" marB="47625" anchor="ctr">
                    <a:lnL>
                      <a:noFill/>
                    </a:lnL>
                    <a:lnR>
                      <a:noFill/>
                    </a:lnR>
                    <a:lnT>
                      <a:noFill/>
                    </a:lnT>
                    <a:lnB>
                      <a:noFill/>
                    </a:lnB>
                    <a:noFill/>
                  </a:tcPr>
                </a:tc>
                <a:tc>
                  <a:txBody>
                    <a:bodyPr/>
                    <a:lstStyle/>
                    <a:p>
                      <a:pPr algn="l">
                        <a:buNone/>
                      </a:pPr>
                      <a:r>
                        <a:rPr lang="en-US" sz="1050" b="0" i="0">
                          <a:solidFill>
                            <a:schemeClr val="tx1"/>
                          </a:solidFill>
                          <a:effectLst/>
                          <a:latin typeface="-apple-system"/>
                        </a:rPr>
                        <a:t>An optical interface associated with an OLT, which is connected to a set of downstream ONUs.</a:t>
                      </a:r>
                    </a:p>
                  </a:txBody>
                  <a:tcPr marL="95250" marR="95250" marT="47625" marB="47625" anchor="ctr">
                    <a:lnL>
                      <a:noFill/>
                    </a:lnL>
                    <a:lnR>
                      <a:noFill/>
                    </a:lnR>
                    <a:lnT>
                      <a:noFill/>
                    </a:lnT>
                    <a:lnB>
                      <a:noFill/>
                    </a:lnB>
                    <a:noFill/>
                  </a:tcPr>
                </a:tc>
                <a:extLst>
                  <a:ext uri="{0D108BD9-81ED-4DB2-BD59-A6C34878D82A}">
                    <a16:rowId xmlns:a16="http://schemas.microsoft.com/office/drawing/2014/main" val="3222629030"/>
                  </a:ext>
                </a:extLst>
              </a:tr>
              <a:tr h="0">
                <a:tc>
                  <a:txBody>
                    <a:bodyPr/>
                    <a:lstStyle/>
                    <a:p>
                      <a:pPr algn="l">
                        <a:buNone/>
                      </a:pPr>
                      <a:r>
                        <a:rPr lang="en-US" sz="1050" b="0" i="0">
                          <a:solidFill>
                            <a:schemeClr val="tx1"/>
                          </a:solidFill>
                          <a:effectLst/>
                          <a:latin typeface="-apple-system"/>
                        </a:rPr>
                        <a:t>OLT Plug</a:t>
                      </a:r>
                    </a:p>
                  </a:txBody>
                  <a:tcPr marL="95250" marR="95250" marT="47625" marB="47625" anchor="ctr">
                    <a:lnL>
                      <a:noFill/>
                    </a:lnL>
                    <a:lnR>
                      <a:noFill/>
                    </a:lnR>
                    <a:lnT>
                      <a:noFill/>
                    </a:lnT>
                    <a:lnB>
                      <a:noFill/>
                    </a:lnB>
                    <a:noFill/>
                  </a:tcPr>
                </a:tc>
                <a:tc>
                  <a:txBody>
                    <a:bodyPr/>
                    <a:lstStyle/>
                    <a:p>
                      <a:pPr algn="l">
                        <a:buNone/>
                      </a:pPr>
                      <a:r>
                        <a:rPr lang="en-US" sz="1050" b="0" i="0" dirty="0">
                          <a:solidFill>
                            <a:schemeClr val="tx1"/>
                          </a:solidFill>
                          <a:effectLst/>
                          <a:latin typeface="-apple-system"/>
                        </a:rPr>
                        <a:t>aka micro OLT (</a:t>
                      </a:r>
                      <a:r>
                        <a:rPr lang="en-US" sz="1050" b="0" i="0" dirty="0" err="1">
                          <a:solidFill>
                            <a:schemeClr val="tx1"/>
                          </a:solidFill>
                          <a:effectLst/>
                          <a:latin typeface="-apple-system"/>
                        </a:rPr>
                        <a:t>uOLT</a:t>
                      </a:r>
                      <a:r>
                        <a:rPr lang="en-US" sz="1050" b="0" i="0" dirty="0">
                          <a:solidFill>
                            <a:schemeClr val="tx1"/>
                          </a:solidFill>
                          <a:effectLst/>
                          <a:latin typeface="-apple-system"/>
                        </a:rPr>
                        <a:t>) — a small form factor optical plug that combines the OLT function and the OLT interface into one device.</a:t>
                      </a:r>
                    </a:p>
                  </a:txBody>
                  <a:tcPr marL="95250" marR="95250" marT="47625" marB="47625" anchor="ctr">
                    <a:lnL>
                      <a:noFill/>
                    </a:lnL>
                    <a:lnR>
                      <a:noFill/>
                    </a:lnR>
                    <a:lnT>
                      <a:noFill/>
                    </a:lnT>
                    <a:lnB>
                      <a:noFill/>
                    </a:lnB>
                    <a:noFill/>
                  </a:tcPr>
                </a:tc>
                <a:extLst>
                  <a:ext uri="{0D108BD9-81ED-4DB2-BD59-A6C34878D82A}">
                    <a16:rowId xmlns:a16="http://schemas.microsoft.com/office/drawing/2014/main" val="3112612316"/>
                  </a:ext>
                </a:extLst>
              </a:tr>
              <a:tr h="0">
                <a:tc>
                  <a:txBody>
                    <a:bodyPr/>
                    <a:lstStyle/>
                    <a:p>
                      <a:pPr algn="l">
                        <a:buNone/>
                      </a:pPr>
                      <a:r>
                        <a:rPr lang="en-US" sz="1050" b="0" i="0" dirty="0">
                          <a:solidFill>
                            <a:schemeClr val="tx1"/>
                          </a:solidFill>
                          <a:effectLst/>
                          <a:latin typeface="-apple-system"/>
                        </a:rPr>
                        <a:t>ONU</a:t>
                      </a:r>
                    </a:p>
                  </a:txBody>
                  <a:tcPr marL="95250" marR="95250" marT="47625" marB="47625" anchor="ctr">
                    <a:lnL>
                      <a:noFill/>
                    </a:lnL>
                    <a:lnR>
                      <a:noFill/>
                    </a:lnR>
                    <a:lnT>
                      <a:noFill/>
                    </a:lnT>
                    <a:lnB>
                      <a:noFill/>
                    </a:lnB>
                    <a:noFill/>
                  </a:tcPr>
                </a:tc>
                <a:tc>
                  <a:txBody>
                    <a:bodyPr/>
                    <a:lstStyle/>
                    <a:p>
                      <a:pPr algn="l">
                        <a:buNone/>
                      </a:pPr>
                      <a:r>
                        <a:rPr lang="en-US" sz="1050" b="0" i="0" dirty="0">
                          <a:solidFill>
                            <a:schemeClr val="tx1"/>
                          </a:solidFill>
                          <a:effectLst/>
                          <a:latin typeface="-apple-system"/>
                        </a:rPr>
                        <a:t>Optical Network Unit — a PON subscriber-side endpoint.</a:t>
                      </a:r>
                    </a:p>
                  </a:txBody>
                  <a:tcPr marL="95250" marR="95250" marT="47625" marB="47625" anchor="ctr">
                    <a:lnL>
                      <a:noFill/>
                    </a:lnL>
                    <a:lnR>
                      <a:noFill/>
                    </a:lnR>
                    <a:lnT>
                      <a:noFill/>
                    </a:lnT>
                    <a:lnB>
                      <a:noFill/>
                    </a:lnB>
                    <a:noFill/>
                  </a:tcPr>
                </a:tc>
                <a:extLst>
                  <a:ext uri="{0D108BD9-81ED-4DB2-BD59-A6C34878D82A}">
                    <a16:rowId xmlns:a16="http://schemas.microsoft.com/office/drawing/2014/main" val="1341160620"/>
                  </a:ext>
                </a:extLst>
              </a:tr>
            </a:tbl>
          </a:graphicData>
        </a:graphic>
      </p:graphicFrame>
      <p:sp>
        <p:nvSpPr>
          <p:cNvPr id="62" name="TextBox 61">
            <a:extLst>
              <a:ext uri="{FF2B5EF4-FFF2-40B4-BE49-F238E27FC236}">
                <a16:creationId xmlns:a16="http://schemas.microsoft.com/office/drawing/2014/main" id="{01679A7A-115C-F2AE-BDD6-CE2DA706B79C}"/>
              </a:ext>
            </a:extLst>
          </p:cNvPr>
          <p:cNvSpPr txBox="1"/>
          <p:nvPr/>
        </p:nvSpPr>
        <p:spPr>
          <a:xfrm>
            <a:off x="2020107" y="5410254"/>
            <a:ext cx="1200337" cy="430887"/>
          </a:xfrm>
          <a:prstGeom prst="rect">
            <a:avLst/>
          </a:prstGeom>
          <a:noFill/>
        </p:spPr>
        <p:txBody>
          <a:bodyPr wrap="square" rtlCol="0">
            <a:spAutoFit/>
          </a:bodyPr>
          <a:lstStyle/>
          <a:p>
            <a:r>
              <a:rPr lang="en-US" sz="1100"/>
              <a:t>Managed devices</a:t>
            </a:r>
          </a:p>
        </p:txBody>
      </p:sp>
      <p:sp>
        <p:nvSpPr>
          <p:cNvPr id="71" name="Rectangle: Rounded Corners 103">
            <a:extLst>
              <a:ext uri="{FF2B5EF4-FFF2-40B4-BE49-F238E27FC236}">
                <a16:creationId xmlns:a16="http://schemas.microsoft.com/office/drawing/2014/main" id="{B8BB3EF3-3067-4E25-722F-170C255D41D4}"/>
              </a:ext>
            </a:extLst>
          </p:cNvPr>
          <p:cNvSpPr/>
          <p:nvPr/>
        </p:nvSpPr>
        <p:spPr>
          <a:xfrm>
            <a:off x="4828996" y="3822469"/>
            <a:ext cx="1450340" cy="201189"/>
          </a:xfrm>
          <a:prstGeom prst="roundRect">
            <a:avLst/>
          </a:prstGeom>
          <a:ln w="3175"/>
        </p:spPr>
        <p:style>
          <a:lnRef idx="3">
            <a:schemeClr val="lt1"/>
          </a:lnRef>
          <a:fillRef idx="1">
            <a:schemeClr val="accent3"/>
          </a:fillRef>
          <a:effectRef idx="1">
            <a:schemeClr val="accent3"/>
          </a:effectRef>
          <a:fontRef idx="minor">
            <a:schemeClr val="lt1"/>
          </a:fontRef>
        </p:style>
        <p:txBody>
          <a:bodyPr rtlCol="0" anchor="t"/>
          <a:lstStyle/>
          <a:p>
            <a:pPr algn="ctr"/>
            <a:r>
              <a:rPr lang="en-US" sz="600" dirty="0">
                <a:solidFill>
                  <a:schemeClr val="bg1"/>
                </a:solidFill>
              </a:rPr>
              <a:t>Forwarding Plane</a:t>
            </a:r>
          </a:p>
        </p:txBody>
      </p:sp>
      <p:sp>
        <p:nvSpPr>
          <p:cNvPr id="72" name="Rectangle: Rounded Corners 103">
            <a:extLst>
              <a:ext uri="{FF2B5EF4-FFF2-40B4-BE49-F238E27FC236}">
                <a16:creationId xmlns:a16="http://schemas.microsoft.com/office/drawing/2014/main" id="{7CECCEB5-F2F7-41C9-3C49-6D087DF36347}"/>
              </a:ext>
            </a:extLst>
          </p:cNvPr>
          <p:cNvSpPr/>
          <p:nvPr/>
        </p:nvSpPr>
        <p:spPr>
          <a:xfrm>
            <a:off x="4828996" y="4083912"/>
            <a:ext cx="1450340" cy="201189"/>
          </a:xfrm>
          <a:prstGeom prst="roundRect">
            <a:avLst/>
          </a:prstGeom>
          <a:ln w="3175"/>
        </p:spPr>
        <p:style>
          <a:lnRef idx="3">
            <a:schemeClr val="lt1"/>
          </a:lnRef>
          <a:fillRef idx="1">
            <a:schemeClr val="accent3"/>
          </a:fillRef>
          <a:effectRef idx="1">
            <a:schemeClr val="accent3"/>
          </a:effectRef>
          <a:fontRef idx="minor">
            <a:schemeClr val="lt1"/>
          </a:fontRef>
        </p:style>
        <p:txBody>
          <a:bodyPr rtlCol="0" anchor="t"/>
          <a:lstStyle/>
          <a:p>
            <a:pPr algn="ctr"/>
            <a:r>
              <a:rPr lang="en-US" sz="600" dirty="0">
                <a:solidFill>
                  <a:schemeClr val="bg1"/>
                </a:solidFill>
              </a:rPr>
              <a:t>OLT</a:t>
            </a:r>
          </a:p>
        </p:txBody>
      </p:sp>
      <p:sp>
        <p:nvSpPr>
          <p:cNvPr id="73" name="Rectangle: Rounded Corners 103">
            <a:extLst>
              <a:ext uri="{FF2B5EF4-FFF2-40B4-BE49-F238E27FC236}">
                <a16:creationId xmlns:a16="http://schemas.microsoft.com/office/drawing/2014/main" id="{E3559E67-45DE-E532-BD00-55E8FDB45E14}"/>
              </a:ext>
            </a:extLst>
          </p:cNvPr>
          <p:cNvSpPr/>
          <p:nvPr/>
        </p:nvSpPr>
        <p:spPr>
          <a:xfrm>
            <a:off x="4169368" y="4723638"/>
            <a:ext cx="563910" cy="201189"/>
          </a:xfrm>
          <a:prstGeom prst="roundRect">
            <a:avLst/>
          </a:prstGeom>
          <a:ln w="3175"/>
        </p:spPr>
        <p:style>
          <a:lnRef idx="3">
            <a:schemeClr val="lt1"/>
          </a:lnRef>
          <a:fillRef idx="1">
            <a:schemeClr val="accent3"/>
          </a:fillRef>
          <a:effectRef idx="1">
            <a:schemeClr val="accent3"/>
          </a:effectRef>
          <a:fontRef idx="minor">
            <a:schemeClr val="lt1"/>
          </a:fontRef>
        </p:style>
        <p:txBody>
          <a:bodyPr rtlCol="0" anchor="t"/>
          <a:lstStyle/>
          <a:p>
            <a:pPr algn="ctr"/>
            <a:r>
              <a:rPr lang="en-US" sz="600" dirty="0">
                <a:solidFill>
                  <a:schemeClr val="bg1"/>
                </a:solidFill>
              </a:rPr>
              <a:t>ONU</a:t>
            </a:r>
          </a:p>
        </p:txBody>
      </p:sp>
      <p:sp>
        <p:nvSpPr>
          <p:cNvPr id="74" name="Rectangle: Rounded Corners 103">
            <a:extLst>
              <a:ext uri="{FF2B5EF4-FFF2-40B4-BE49-F238E27FC236}">
                <a16:creationId xmlns:a16="http://schemas.microsoft.com/office/drawing/2014/main" id="{07C90074-8CDE-497B-A66F-D79BD6602A25}"/>
              </a:ext>
            </a:extLst>
          </p:cNvPr>
          <p:cNvSpPr/>
          <p:nvPr/>
        </p:nvSpPr>
        <p:spPr>
          <a:xfrm>
            <a:off x="5450424" y="4728666"/>
            <a:ext cx="563910" cy="201189"/>
          </a:xfrm>
          <a:prstGeom prst="roundRect">
            <a:avLst/>
          </a:prstGeom>
          <a:ln w="3175"/>
        </p:spPr>
        <p:style>
          <a:lnRef idx="3">
            <a:schemeClr val="lt1"/>
          </a:lnRef>
          <a:fillRef idx="1">
            <a:schemeClr val="accent3"/>
          </a:fillRef>
          <a:effectRef idx="1">
            <a:schemeClr val="accent3"/>
          </a:effectRef>
          <a:fontRef idx="minor">
            <a:schemeClr val="lt1"/>
          </a:fontRef>
        </p:style>
        <p:txBody>
          <a:bodyPr rtlCol="0" anchor="t"/>
          <a:lstStyle/>
          <a:p>
            <a:pPr algn="ctr"/>
            <a:r>
              <a:rPr lang="en-US" sz="600" dirty="0">
                <a:solidFill>
                  <a:schemeClr val="bg1"/>
                </a:solidFill>
              </a:rPr>
              <a:t>ONU</a:t>
            </a:r>
          </a:p>
        </p:txBody>
      </p:sp>
      <p:sp>
        <p:nvSpPr>
          <p:cNvPr id="75" name="TextBox 74">
            <a:extLst>
              <a:ext uri="{FF2B5EF4-FFF2-40B4-BE49-F238E27FC236}">
                <a16:creationId xmlns:a16="http://schemas.microsoft.com/office/drawing/2014/main" id="{DFFCDA5E-050B-ED77-30BF-6DF54E4C1E0E}"/>
              </a:ext>
            </a:extLst>
          </p:cNvPr>
          <p:cNvSpPr txBox="1"/>
          <p:nvPr/>
        </p:nvSpPr>
        <p:spPr>
          <a:xfrm>
            <a:off x="6013665" y="4615747"/>
            <a:ext cx="381836" cy="369332"/>
          </a:xfrm>
          <a:prstGeom prst="rect">
            <a:avLst/>
          </a:prstGeom>
          <a:noFill/>
        </p:spPr>
        <p:txBody>
          <a:bodyPr wrap="none" rtlCol="0">
            <a:spAutoFit/>
          </a:bodyPr>
          <a:lstStyle/>
          <a:p>
            <a:r>
              <a:rPr lang="en-US" dirty="0"/>
              <a:t>…</a:t>
            </a:r>
          </a:p>
        </p:txBody>
      </p:sp>
      <p:sp>
        <p:nvSpPr>
          <p:cNvPr id="76" name="Rectangle: Rounded Corners 103">
            <a:extLst>
              <a:ext uri="{FF2B5EF4-FFF2-40B4-BE49-F238E27FC236}">
                <a16:creationId xmlns:a16="http://schemas.microsoft.com/office/drawing/2014/main" id="{7DE0E13B-7F94-7CE5-1EDA-6E19D99935D2}"/>
              </a:ext>
            </a:extLst>
          </p:cNvPr>
          <p:cNvSpPr/>
          <p:nvPr/>
        </p:nvSpPr>
        <p:spPr>
          <a:xfrm>
            <a:off x="6467540" y="4723636"/>
            <a:ext cx="563910" cy="201189"/>
          </a:xfrm>
          <a:prstGeom prst="roundRect">
            <a:avLst/>
          </a:prstGeom>
          <a:ln w="3175"/>
        </p:spPr>
        <p:style>
          <a:lnRef idx="3">
            <a:schemeClr val="lt1"/>
          </a:lnRef>
          <a:fillRef idx="1">
            <a:schemeClr val="accent3"/>
          </a:fillRef>
          <a:effectRef idx="1">
            <a:schemeClr val="accent3"/>
          </a:effectRef>
          <a:fontRef idx="minor">
            <a:schemeClr val="lt1"/>
          </a:fontRef>
        </p:style>
        <p:txBody>
          <a:bodyPr rtlCol="0" anchor="t"/>
          <a:lstStyle/>
          <a:p>
            <a:pPr algn="ctr"/>
            <a:r>
              <a:rPr lang="en-US" sz="600" dirty="0">
                <a:solidFill>
                  <a:schemeClr val="bg1"/>
                </a:solidFill>
              </a:rPr>
              <a:t>ONU</a:t>
            </a:r>
          </a:p>
        </p:txBody>
      </p:sp>
      <p:pic>
        <p:nvPicPr>
          <p:cNvPr id="78" name="Graphic 77" descr="Server with solid fill">
            <a:extLst>
              <a:ext uri="{FF2B5EF4-FFF2-40B4-BE49-F238E27FC236}">
                <a16:creationId xmlns:a16="http://schemas.microsoft.com/office/drawing/2014/main" id="{7BF1D100-6EE3-8D3E-FEE9-4421AFD5EB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85883" y="5372692"/>
            <a:ext cx="488033" cy="488033"/>
          </a:xfrm>
          <a:prstGeom prst="rect">
            <a:avLst/>
          </a:prstGeom>
        </p:spPr>
      </p:pic>
      <p:cxnSp>
        <p:nvCxnSpPr>
          <p:cNvPr id="80" name="Straight Arrow Connector 79">
            <a:extLst>
              <a:ext uri="{FF2B5EF4-FFF2-40B4-BE49-F238E27FC236}">
                <a16:creationId xmlns:a16="http://schemas.microsoft.com/office/drawing/2014/main" id="{572B1631-A2D6-31D5-1E51-8F77A1C8DFDA}"/>
              </a:ext>
            </a:extLst>
          </p:cNvPr>
          <p:cNvCxnSpPr>
            <a:cxnSpLocks/>
          </p:cNvCxnSpPr>
          <p:nvPr/>
        </p:nvCxnSpPr>
        <p:spPr>
          <a:xfrm flipH="1">
            <a:off x="4037192" y="4928359"/>
            <a:ext cx="348323" cy="50775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56663BE1-7AD9-9BA8-19B0-5A516B15AE73}"/>
              </a:ext>
            </a:extLst>
          </p:cNvPr>
          <p:cNvSpPr txBox="1"/>
          <p:nvPr/>
        </p:nvSpPr>
        <p:spPr>
          <a:xfrm rot="18679161">
            <a:off x="3983834" y="5117597"/>
            <a:ext cx="309604" cy="184666"/>
          </a:xfrm>
          <a:prstGeom prst="rect">
            <a:avLst/>
          </a:prstGeom>
          <a:noFill/>
        </p:spPr>
        <p:txBody>
          <a:bodyPr wrap="square" rtlCol="0">
            <a:spAutoFit/>
          </a:bodyPr>
          <a:lstStyle/>
          <a:p>
            <a:r>
              <a:rPr lang="en-US" sz="600" b="1" dirty="0" err="1"/>
              <a:t>uni</a:t>
            </a:r>
            <a:endParaRPr lang="en-US" sz="600" b="1" dirty="0"/>
          </a:p>
        </p:txBody>
      </p:sp>
      <p:cxnSp>
        <p:nvCxnSpPr>
          <p:cNvPr id="83" name="Straight Arrow Connector 82">
            <a:extLst>
              <a:ext uri="{FF2B5EF4-FFF2-40B4-BE49-F238E27FC236}">
                <a16:creationId xmlns:a16="http://schemas.microsoft.com/office/drawing/2014/main" id="{1D846140-09C0-A80A-6821-887BD1F0B35B}"/>
              </a:ext>
            </a:extLst>
          </p:cNvPr>
          <p:cNvCxnSpPr>
            <a:cxnSpLocks/>
          </p:cNvCxnSpPr>
          <p:nvPr/>
        </p:nvCxnSpPr>
        <p:spPr>
          <a:xfrm>
            <a:off x="4498069" y="4921410"/>
            <a:ext cx="129555" cy="51470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84" name="TextBox 83">
            <a:extLst>
              <a:ext uri="{FF2B5EF4-FFF2-40B4-BE49-F238E27FC236}">
                <a16:creationId xmlns:a16="http://schemas.microsoft.com/office/drawing/2014/main" id="{1AE9D0ED-02D8-6E5C-77D1-6C577C79B17B}"/>
              </a:ext>
            </a:extLst>
          </p:cNvPr>
          <p:cNvSpPr txBox="1"/>
          <p:nvPr/>
        </p:nvSpPr>
        <p:spPr>
          <a:xfrm rot="4543285">
            <a:off x="4431298" y="5083427"/>
            <a:ext cx="376316" cy="184666"/>
          </a:xfrm>
          <a:prstGeom prst="rect">
            <a:avLst/>
          </a:prstGeom>
          <a:noFill/>
        </p:spPr>
        <p:txBody>
          <a:bodyPr wrap="square" rtlCol="0">
            <a:spAutoFit/>
          </a:bodyPr>
          <a:lstStyle/>
          <a:p>
            <a:r>
              <a:rPr lang="en-US" sz="600" b="1" dirty="0" err="1"/>
              <a:t>uni</a:t>
            </a:r>
            <a:endParaRPr lang="en-US" sz="600" b="1" dirty="0"/>
          </a:p>
        </p:txBody>
      </p:sp>
      <p:pic>
        <p:nvPicPr>
          <p:cNvPr id="86" name="Graphic 85" descr="Server with solid fill">
            <a:extLst>
              <a:ext uri="{FF2B5EF4-FFF2-40B4-BE49-F238E27FC236}">
                <a16:creationId xmlns:a16="http://schemas.microsoft.com/office/drawing/2014/main" id="{3F9631EB-73F2-C26A-9CC6-F139C21CF9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91485" y="5366711"/>
            <a:ext cx="488033" cy="488033"/>
          </a:xfrm>
          <a:prstGeom prst="rect">
            <a:avLst/>
          </a:prstGeom>
        </p:spPr>
      </p:pic>
      <p:pic>
        <p:nvPicPr>
          <p:cNvPr id="88" name="Graphic 87" descr="Server with solid fill">
            <a:extLst>
              <a:ext uri="{FF2B5EF4-FFF2-40B4-BE49-F238E27FC236}">
                <a16:creationId xmlns:a16="http://schemas.microsoft.com/office/drawing/2014/main" id="{4EAB367F-99B3-047D-E646-CD12A78ADA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70888" y="5390127"/>
            <a:ext cx="488033" cy="488033"/>
          </a:xfrm>
          <a:prstGeom prst="rect">
            <a:avLst/>
          </a:prstGeom>
        </p:spPr>
      </p:pic>
      <p:cxnSp>
        <p:nvCxnSpPr>
          <p:cNvPr id="89" name="Straight Arrow Connector 88">
            <a:extLst>
              <a:ext uri="{FF2B5EF4-FFF2-40B4-BE49-F238E27FC236}">
                <a16:creationId xmlns:a16="http://schemas.microsoft.com/office/drawing/2014/main" id="{81FF6D6F-8103-A597-BEBD-92CDCB1A9074}"/>
              </a:ext>
            </a:extLst>
          </p:cNvPr>
          <p:cNvCxnSpPr>
            <a:cxnSpLocks/>
          </p:cNvCxnSpPr>
          <p:nvPr/>
        </p:nvCxnSpPr>
        <p:spPr>
          <a:xfrm flipH="1">
            <a:off x="5622197" y="4929855"/>
            <a:ext cx="38292" cy="52369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9EBEF63F-AC32-0FD2-D5E1-5F8327C6D7B7}"/>
              </a:ext>
            </a:extLst>
          </p:cNvPr>
          <p:cNvSpPr txBox="1"/>
          <p:nvPr/>
        </p:nvSpPr>
        <p:spPr>
          <a:xfrm rot="16604311">
            <a:off x="5385290" y="5114652"/>
            <a:ext cx="350467" cy="184666"/>
          </a:xfrm>
          <a:prstGeom prst="rect">
            <a:avLst/>
          </a:prstGeom>
          <a:noFill/>
        </p:spPr>
        <p:txBody>
          <a:bodyPr wrap="square" rtlCol="0">
            <a:spAutoFit/>
          </a:bodyPr>
          <a:lstStyle/>
          <a:p>
            <a:r>
              <a:rPr lang="en-US" sz="600" b="1" dirty="0" err="1"/>
              <a:t>uni</a:t>
            </a:r>
            <a:endParaRPr lang="en-US" sz="600" b="1" dirty="0"/>
          </a:p>
        </p:txBody>
      </p:sp>
      <p:cxnSp>
        <p:nvCxnSpPr>
          <p:cNvPr id="91" name="Straight Arrow Connector 90">
            <a:extLst>
              <a:ext uri="{FF2B5EF4-FFF2-40B4-BE49-F238E27FC236}">
                <a16:creationId xmlns:a16="http://schemas.microsoft.com/office/drawing/2014/main" id="{2D9BF56C-24CF-64F3-E651-72249284170A}"/>
              </a:ext>
            </a:extLst>
          </p:cNvPr>
          <p:cNvCxnSpPr>
            <a:cxnSpLocks/>
          </p:cNvCxnSpPr>
          <p:nvPr/>
        </p:nvCxnSpPr>
        <p:spPr>
          <a:xfrm>
            <a:off x="5858470" y="4936804"/>
            <a:ext cx="129555" cy="51470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065BAC21-37ED-F739-174F-82D3A83FBB9D}"/>
              </a:ext>
            </a:extLst>
          </p:cNvPr>
          <p:cNvSpPr txBox="1"/>
          <p:nvPr/>
        </p:nvSpPr>
        <p:spPr>
          <a:xfrm rot="4543285">
            <a:off x="5791699" y="5098821"/>
            <a:ext cx="376316" cy="184666"/>
          </a:xfrm>
          <a:prstGeom prst="rect">
            <a:avLst/>
          </a:prstGeom>
          <a:noFill/>
        </p:spPr>
        <p:txBody>
          <a:bodyPr wrap="square" rtlCol="0">
            <a:spAutoFit/>
          </a:bodyPr>
          <a:lstStyle/>
          <a:p>
            <a:r>
              <a:rPr lang="en-US" sz="600" b="1" dirty="0" err="1"/>
              <a:t>uni</a:t>
            </a:r>
            <a:endParaRPr lang="en-US" sz="600" b="1" dirty="0"/>
          </a:p>
        </p:txBody>
      </p:sp>
      <p:pic>
        <p:nvPicPr>
          <p:cNvPr id="93" name="Graphic 92" descr="Server with solid fill">
            <a:extLst>
              <a:ext uri="{FF2B5EF4-FFF2-40B4-BE49-F238E27FC236}">
                <a16:creationId xmlns:a16="http://schemas.microsoft.com/office/drawing/2014/main" id="{4EEE4EE2-EFD1-18E3-B176-2FF318BE4B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51886" y="5382105"/>
            <a:ext cx="488033" cy="488033"/>
          </a:xfrm>
          <a:prstGeom prst="rect">
            <a:avLst/>
          </a:prstGeom>
        </p:spPr>
      </p:pic>
      <p:pic>
        <p:nvPicPr>
          <p:cNvPr id="95" name="Graphic 94" descr="Server with solid fill">
            <a:extLst>
              <a:ext uri="{FF2B5EF4-FFF2-40B4-BE49-F238E27FC236}">
                <a16:creationId xmlns:a16="http://schemas.microsoft.com/office/drawing/2014/main" id="{B63F7601-1349-9869-2BC5-BE8674BBF6D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40797" y="5381682"/>
            <a:ext cx="488033" cy="488033"/>
          </a:xfrm>
          <a:prstGeom prst="rect">
            <a:avLst/>
          </a:prstGeom>
        </p:spPr>
      </p:pic>
      <p:cxnSp>
        <p:nvCxnSpPr>
          <p:cNvPr id="96" name="Straight Arrow Connector 95">
            <a:extLst>
              <a:ext uri="{FF2B5EF4-FFF2-40B4-BE49-F238E27FC236}">
                <a16:creationId xmlns:a16="http://schemas.microsoft.com/office/drawing/2014/main" id="{983C140F-F9DC-D454-B1C0-E6AB60E12E0D}"/>
              </a:ext>
            </a:extLst>
          </p:cNvPr>
          <p:cNvCxnSpPr>
            <a:cxnSpLocks/>
          </p:cNvCxnSpPr>
          <p:nvPr/>
        </p:nvCxnSpPr>
        <p:spPr>
          <a:xfrm flipH="1">
            <a:off x="6692106" y="4921410"/>
            <a:ext cx="38292" cy="52369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02614997-73AF-3B6F-D517-F77ABD0DBDD5}"/>
              </a:ext>
            </a:extLst>
          </p:cNvPr>
          <p:cNvSpPr txBox="1"/>
          <p:nvPr/>
        </p:nvSpPr>
        <p:spPr>
          <a:xfrm rot="16604311">
            <a:off x="6455199" y="5106207"/>
            <a:ext cx="350467" cy="184666"/>
          </a:xfrm>
          <a:prstGeom prst="rect">
            <a:avLst/>
          </a:prstGeom>
          <a:noFill/>
        </p:spPr>
        <p:txBody>
          <a:bodyPr wrap="square" rtlCol="0">
            <a:spAutoFit/>
          </a:bodyPr>
          <a:lstStyle/>
          <a:p>
            <a:r>
              <a:rPr lang="en-US" sz="600" b="1" dirty="0" err="1"/>
              <a:t>uni</a:t>
            </a:r>
            <a:endParaRPr lang="en-US" sz="600" b="1" dirty="0"/>
          </a:p>
        </p:txBody>
      </p:sp>
      <p:cxnSp>
        <p:nvCxnSpPr>
          <p:cNvPr id="98" name="Straight Arrow Connector 97">
            <a:extLst>
              <a:ext uri="{FF2B5EF4-FFF2-40B4-BE49-F238E27FC236}">
                <a16:creationId xmlns:a16="http://schemas.microsoft.com/office/drawing/2014/main" id="{17DB9907-FF56-A8F9-1B73-430C924890DB}"/>
              </a:ext>
            </a:extLst>
          </p:cNvPr>
          <p:cNvCxnSpPr>
            <a:cxnSpLocks/>
          </p:cNvCxnSpPr>
          <p:nvPr/>
        </p:nvCxnSpPr>
        <p:spPr>
          <a:xfrm>
            <a:off x="6928379" y="4928359"/>
            <a:ext cx="129555" cy="51470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99" name="TextBox 98">
            <a:extLst>
              <a:ext uri="{FF2B5EF4-FFF2-40B4-BE49-F238E27FC236}">
                <a16:creationId xmlns:a16="http://schemas.microsoft.com/office/drawing/2014/main" id="{D99C3301-8DD5-3188-818D-BF8C16F60F01}"/>
              </a:ext>
            </a:extLst>
          </p:cNvPr>
          <p:cNvSpPr txBox="1"/>
          <p:nvPr/>
        </p:nvSpPr>
        <p:spPr>
          <a:xfrm rot="4543285">
            <a:off x="6861608" y="5090376"/>
            <a:ext cx="376316" cy="184666"/>
          </a:xfrm>
          <a:prstGeom prst="rect">
            <a:avLst/>
          </a:prstGeom>
          <a:noFill/>
        </p:spPr>
        <p:txBody>
          <a:bodyPr wrap="square" rtlCol="0">
            <a:spAutoFit/>
          </a:bodyPr>
          <a:lstStyle/>
          <a:p>
            <a:r>
              <a:rPr lang="en-US" sz="600" b="1" dirty="0" err="1"/>
              <a:t>uni</a:t>
            </a:r>
            <a:endParaRPr lang="en-US" sz="600" b="1" dirty="0"/>
          </a:p>
        </p:txBody>
      </p:sp>
      <p:pic>
        <p:nvPicPr>
          <p:cNvPr id="100" name="Graphic 99" descr="Server with solid fill">
            <a:extLst>
              <a:ext uri="{FF2B5EF4-FFF2-40B4-BE49-F238E27FC236}">
                <a16:creationId xmlns:a16="http://schemas.microsoft.com/office/drawing/2014/main" id="{1BAE80F3-F1AF-2409-918A-9826CEA9F0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21795" y="5373660"/>
            <a:ext cx="488033" cy="488033"/>
          </a:xfrm>
          <a:prstGeom prst="rect">
            <a:avLst/>
          </a:prstGeom>
        </p:spPr>
      </p:pic>
      <p:cxnSp>
        <p:nvCxnSpPr>
          <p:cNvPr id="101" name="Straight Arrow Connector 100">
            <a:extLst>
              <a:ext uri="{FF2B5EF4-FFF2-40B4-BE49-F238E27FC236}">
                <a16:creationId xmlns:a16="http://schemas.microsoft.com/office/drawing/2014/main" id="{DB5E16FA-35F5-4928-BEE8-873DBBB89C78}"/>
              </a:ext>
            </a:extLst>
          </p:cNvPr>
          <p:cNvCxnSpPr>
            <a:cxnSpLocks/>
          </p:cNvCxnSpPr>
          <p:nvPr/>
        </p:nvCxnSpPr>
        <p:spPr>
          <a:xfrm flipH="1">
            <a:off x="4431582" y="4285101"/>
            <a:ext cx="642618" cy="44348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CD1DA523-44CD-2166-C8DD-F0413B937482}"/>
              </a:ext>
            </a:extLst>
          </p:cNvPr>
          <p:cNvCxnSpPr>
            <a:cxnSpLocks/>
          </p:cNvCxnSpPr>
          <p:nvPr/>
        </p:nvCxnSpPr>
        <p:spPr>
          <a:xfrm>
            <a:off x="5408582" y="4285101"/>
            <a:ext cx="54082" cy="44931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C6EEE2B8-DBD4-CCBF-C6B9-12C90C7BFA47}"/>
              </a:ext>
            </a:extLst>
          </p:cNvPr>
          <p:cNvCxnSpPr>
            <a:cxnSpLocks/>
          </p:cNvCxnSpPr>
          <p:nvPr/>
        </p:nvCxnSpPr>
        <p:spPr>
          <a:xfrm>
            <a:off x="6042397" y="4285101"/>
            <a:ext cx="696438" cy="43853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10" name="TextBox 109">
            <a:extLst>
              <a:ext uri="{FF2B5EF4-FFF2-40B4-BE49-F238E27FC236}">
                <a16:creationId xmlns:a16="http://schemas.microsoft.com/office/drawing/2014/main" id="{4D1025A7-C4F3-3FA7-8912-BCECCD2F3714}"/>
              </a:ext>
            </a:extLst>
          </p:cNvPr>
          <p:cNvSpPr txBox="1"/>
          <p:nvPr/>
        </p:nvSpPr>
        <p:spPr>
          <a:xfrm rot="2198837">
            <a:off x="6320746" y="4399063"/>
            <a:ext cx="317052" cy="184666"/>
          </a:xfrm>
          <a:prstGeom prst="rect">
            <a:avLst/>
          </a:prstGeom>
          <a:noFill/>
        </p:spPr>
        <p:txBody>
          <a:bodyPr wrap="square" rtlCol="0">
            <a:spAutoFit/>
          </a:bodyPr>
          <a:lstStyle/>
          <a:p>
            <a:r>
              <a:rPr lang="en-US" sz="600" b="1" dirty="0" err="1"/>
              <a:t>nni</a:t>
            </a:r>
            <a:endParaRPr lang="en-US" sz="600" b="1" dirty="0"/>
          </a:p>
        </p:txBody>
      </p:sp>
      <p:sp>
        <p:nvSpPr>
          <p:cNvPr id="112" name="TextBox 111">
            <a:extLst>
              <a:ext uri="{FF2B5EF4-FFF2-40B4-BE49-F238E27FC236}">
                <a16:creationId xmlns:a16="http://schemas.microsoft.com/office/drawing/2014/main" id="{3D8A2411-C6ED-7529-F985-D1CB57CFDF46}"/>
              </a:ext>
            </a:extLst>
          </p:cNvPr>
          <p:cNvSpPr txBox="1"/>
          <p:nvPr/>
        </p:nvSpPr>
        <p:spPr>
          <a:xfrm rot="5029868">
            <a:off x="5323234" y="4462229"/>
            <a:ext cx="340953" cy="184666"/>
          </a:xfrm>
          <a:prstGeom prst="rect">
            <a:avLst/>
          </a:prstGeom>
          <a:noFill/>
        </p:spPr>
        <p:txBody>
          <a:bodyPr wrap="square" rtlCol="0">
            <a:spAutoFit/>
          </a:bodyPr>
          <a:lstStyle/>
          <a:p>
            <a:r>
              <a:rPr lang="en-US" sz="600" b="1" dirty="0" err="1"/>
              <a:t>nni</a:t>
            </a:r>
            <a:endParaRPr lang="en-US" sz="600" b="1" dirty="0"/>
          </a:p>
        </p:txBody>
      </p:sp>
      <p:sp>
        <p:nvSpPr>
          <p:cNvPr id="113" name="TextBox 112">
            <a:extLst>
              <a:ext uri="{FF2B5EF4-FFF2-40B4-BE49-F238E27FC236}">
                <a16:creationId xmlns:a16="http://schemas.microsoft.com/office/drawing/2014/main" id="{79ACFDB6-61F3-D6EA-BC97-EA671273002B}"/>
              </a:ext>
            </a:extLst>
          </p:cNvPr>
          <p:cNvSpPr txBox="1"/>
          <p:nvPr/>
        </p:nvSpPr>
        <p:spPr>
          <a:xfrm rot="19507298">
            <a:off x="4559828" y="4373027"/>
            <a:ext cx="301199" cy="184666"/>
          </a:xfrm>
          <a:prstGeom prst="rect">
            <a:avLst/>
          </a:prstGeom>
          <a:noFill/>
        </p:spPr>
        <p:txBody>
          <a:bodyPr wrap="square" rtlCol="0">
            <a:spAutoFit/>
          </a:bodyPr>
          <a:lstStyle/>
          <a:p>
            <a:r>
              <a:rPr lang="en-US" sz="600" b="1" dirty="0" err="1"/>
              <a:t>nni</a:t>
            </a:r>
            <a:endParaRPr lang="en-US" sz="600" b="1" dirty="0"/>
          </a:p>
        </p:txBody>
      </p:sp>
      <p:sp>
        <p:nvSpPr>
          <p:cNvPr id="116" name="Rectangle: Rounded Corners 103">
            <a:extLst>
              <a:ext uri="{FF2B5EF4-FFF2-40B4-BE49-F238E27FC236}">
                <a16:creationId xmlns:a16="http://schemas.microsoft.com/office/drawing/2014/main" id="{6FF77329-23E1-E473-A92F-DDD1A1439712}"/>
              </a:ext>
            </a:extLst>
          </p:cNvPr>
          <p:cNvSpPr/>
          <p:nvPr/>
        </p:nvSpPr>
        <p:spPr>
          <a:xfrm>
            <a:off x="4828996" y="3554619"/>
            <a:ext cx="1450340" cy="201189"/>
          </a:xfrm>
          <a:prstGeom prst="roundRect">
            <a:avLst/>
          </a:prstGeom>
          <a:ln w="3175"/>
        </p:spPr>
        <p:style>
          <a:lnRef idx="3">
            <a:schemeClr val="lt1"/>
          </a:lnRef>
          <a:fillRef idx="1">
            <a:schemeClr val="accent3"/>
          </a:fillRef>
          <a:effectRef idx="1">
            <a:schemeClr val="accent3"/>
          </a:effectRef>
          <a:fontRef idx="minor">
            <a:schemeClr val="lt1"/>
          </a:fontRef>
        </p:style>
        <p:txBody>
          <a:bodyPr rtlCol="0" anchor="t"/>
          <a:lstStyle/>
          <a:p>
            <a:pPr algn="ctr"/>
            <a:r>
              <a:rPr lang="en-US" sz="600" dirty="0">
                <a:solidFill>
                  <a:schemeClr val="bg1"/>
                </a:solidFill>
              </a:rPr>
              <a:t>PON Control Plane</a:t>
            </a:r>
          </a:p>
        </p:txBody>
      </p:sp>
      <p:cxnSp>
        <p:nvCxnSpPr>
          <p:cNvPr id="118" name="Straight Arrow Connector 117">
            <a:extLst>
              <a:ext uri="{FF2B5EF4-FFF2-40B4-BE49-F238E27FC236}">
                <a16:creationId xmlns:a16="http://schemas.microsoft.com/office/drawing/2014/main" id="{B143345B-C298-AA24-91DC-6095BCA86890}"/>
              </a:ext>
            </a:extLst>
          </p:cNvPr>
          <p:cNvCxnSpPr>
            <a:cxnSpLocks/>
          </p:cNvCxnSpPr>
          <p:nvPr/>
        </p:nvCxnSpPr>
        <p:spPr>
          <a:xfrm>
            <a:off x="6009422" y="3655213"/>
            <a:ext cx="0" cy="52929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20" name="Straight Arrow Connector 119">
            <a:extLst>
              <a:ext uri="{FF2B5EF4-FFF2-40B4-BE49-F238E27FC236}">
                <a16:creationId xmlns:a16="http://schemas.microsoft.com/office/drawing/2014/main" id="{1E27C95E-0A3E-E506-EEF4-65FC63E1A9D2}"/>
              </a:ext>
            </a:extLst>
          </p:cNvPr>
          <p:cNvCxnSpPr>
            <a:cxnSpLocks/>
          </p:cNvCxnSpPr>
          <p:nvPr/>
        </p:nvCxnSpPr>
        <p:spPr>
          <a:xfrm>
            <a:off x="5923247" y="3655212"/>
            <a:ext cx="0" cy="118016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22" name="TextBox 121">
            <a:extLst>
              <a:ext uri="{FF2B5EF4-FFF2-40B4-BE49-F238E27FC236}">
                <a16:creationId xmlns:a16="http://schemas.microsoft.com/office/drawing/2014/main" id="{080C744B-D999-3250-22AA-9C14D874184B}"/>
              </a:ext>
            </a:extLst>
          </p:cNvPr>
          <p:cNvSpPr txBox="1"/>
          <p:nvPr/>
        </p:nvSpPr>
        <p:spPr>
          <a:xfrm>
            <a:off x="9288295" y="4697238"/>
            <a:ext cx="2728632" cy="1107996"/>
          </a:xfrm>
          <a:prstGeom prst="rect">
            <a:avLst/>
          </a:prstGeom>
          <a:noFill/>
        </p:spPr>
        <p:txBody>
          <a:bodyPr wrap="none" rtlCol="0">
            <a:spAutoFit/>
          </a:bodyPr>
          <a:lstStyle/>
          <a:p>
            <a:r>
              <a:rPr lang="en-US" sz="1100" dirty="0"/>
              <a:t>The PON control plane interacts</a:t>
            </a:r>
          </a:p>
          <a:p>
            <a:r>
              <a:rPr lang="en-US" sz="1100" dirty="0"/>
              <a:t>with PON components through various</a:t>
            </a:r>
          </a:p>
          <a:p>
            <a:r>
              <a:rPr lang="en-US" sz="1100" dirty="0"/>
              <a:t>protocols such as ONU Management</a:t>
            </a:r>
          </a:p>
          <a:p>
            <a:r>
              <a:rPr lang="en-US" sz="1100" dirty="0"/>
              <a:t>and Control Interface (OMCI).  These</a:t>
            </a:r>
          </a:p>
          <a:p>
            <a:r>
              <a:rPr lang="en-US" sz="1100" dirty="0"/>
              <a:t>may need to be trapped to/from the router</a:t>
            </a:r>
          </a:p>
          <a:p>
            <a:r>
              <a:rPr lang="en-US" sz="1100" dirty="0"/>
              <a:t>hardware forwarding plane.</a:t>
            </a:r>
          </a:p>
        </p:txBody>
      </p:sp>
    </p:spTree>
    <p:extLst>
      <p:ext uri="{BB962C8B-B14F-4D97-AF65-F5344CB8AC3E}">
        <p14:creationId xmlns:p14="http://schemas.microsoft.com/office/powerpoint/2010/main" val="2226636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104">
            <a:extLst>
              <a:ext uri="{FF2B5EF4-FFF2-40B4-BE49-F238E27FC236}">
                <a16:creationId xmlns:a16="http://schemas.microsoft.com/office/drawing/2014/main" id="{8389BEA0-2885-11CE-6759-755670C3CD60}"/>
              </a:ext>
            </a:extLst>
          </p:cNvPr>
          <p:cNvSpPr/>
          <p:nvPr/>
        </p:nvSpPr>
        <p:spPr>
          <a:xfrm>
            <a:off x="5483418" y="2189022"/>
            <a:ext cx="1915873" cy="1485663"/>
          </a:xfrm>
          <a:prstGeom prst="roundRect">
            <a:avLst/>
          </a:prstGeom>
          <a:noFill/>
          <a:ln w="28575" cap="flat" cmpd="sng" algn="ctr">
            <a:solidFill>
              <a:srgbClr val="0070C0"/>
            </a:solidFill>
            <a:prstDash val="solid"/>
            <a:miter lim="800000"/>
          </a:ln>
          <a:effectLst/>
        </p:spPr>
        <p:txBody>
          <a:bodyPr rtlCol="0" anchor="t">
            <a:noAutofit/>
          </a:bodyPr>
          <a:lstStyle/>
          <a:p>
            <a:pPr marL="0" marR="0" indent="0" defTabSz="228520" eaLnBrk="1" fontAlgn="auto" latinLnBrk="0" hangingPunct="1">
              <a:lnSpc>
                <a:spcPct val="100000"/>
              </a:lnSpc>
              <a:spcBef>
                <a:spcPts val="0"/>
              </a:spcBef>
              <a:spcAft>
                <a:spcPts val="0"/>
              </a:spcAft>
              <a:buClrTx/>
              <a:buSzTx/>
              <a:buFontTx/>
              <a:buNone/>
              <a:tabLst/>
            </a:pPr>
            <a:r>
              <a:rPr kumimoji="0" lang="en-CA" sz="1000" b="1" i="0" u="none" strike="noStrike" kern="0" cap="none" spc="0" normalizeH="0" baseline="0" noProof="0">
                <a:ln>
                  <a:noFill/>
                </a:ln>
                <a:solidFill>
                  <a:srgbClr val="0070C0"/>
                </a:solidFill>
                <a:effectLst/>
                <a:uLnTx/>
                <a:uFillTx/>
                <a:latin typeface="+mj-lt"/>
                <a:ea typeface="+mn-ea"/>
                <a:cs typeface="+mn-cs"/>
              </a:rPr>
              <a:t>SWSS</a:t>
            </a:r>
            <a:endParaRPr kumimoji="0" lang="en-CA" sz="1000" i="0" u="none" strike="noStrike" kern="0" cap="none" spc="0" normalizeH="0" baseline="0" noProof="0">
              <a:ln>
                <a:noFill/>
              </a:ln>
              <a:solidFill>
                <a:srgbClr val="0070C0"/>
              </a:solidFill>
              <a:effectLst/>
              <a:uLnTx/>
              <a:uFillTx/>
              <a:latin typeface="+mj-lt"/>
              <a:ea typeface="+mn-ea"/>
              <a:cs typeface="+mn-cs"/>
            </a:endParaRPr>
          </a:p>
        </p:txBody>
      </p:sp>
      <p:sp>
        <p:nvSpPr>
          <p:cNvPr id="5" name="Can 4">
            <a:extLst>
              <a:ext uri="{FF2B5EF4-FFF2-40B4-BE49-F238E27FC236}">
                <a16:creationId xmlns:a16="http://schemas.microsoft.com/office/drawing/2014/main" id="{30747092-208E-81FE-BF4F-FDA4A69863FD}"/>
              </a:ext>
            </a:extLst>
          </p:cNvPr>
          <p:cNvSpPr/>
          <p:nvPr/>
        </p:nvSpPr>
        <p:spPr>
          <a:xfrm>
            <a:off x="3792266" y="2374222"/>
            <a:ext cx="1315108" cy="283581"/>
          </a:xfrm>
          <a:prstGeom prst="can">
            <a:avLst/>
          </a:prstGeom>
          <a:ln>
            <a:solidFill>
              <a:srgbClr val="0070C0"/>
            </a:solidFill>
          </a:ln>
        </p:spPr>
        <p:style>
          <a:lnRef idx="2">
            <a:schemeClr val="accent4"/>
          </a:lnRef>
          <a:fillRef idx="1">
            <a:schemeClr val="lt1"/>
          </a:fillRef>
          <a:effectRef idx="0">
            <a:schemeClr val="accent4"/>
          </a:effectRef>
          <a:fontRef idx="minor">
            <a:schemeClr val="dk1"/>
          </a:fontRef>
        </p:style>
        <p:txBody>
          <a:bodyPr rtlCol="0" anchor="ctr">
            <a:noAutofit/>
          </a:bodyPr>
          <a:lstStyle/>
          <a:p>
            <a:pPr marL="0" marR="0" indent="0" algn="ctr" defTabSz="228520" eaLnBrk="1" fontAlgn="auto" latinLnBrk="0" hangingPunct="1">
              <a:lnSpc>
                <a:spcPct val="100000"/>
              </a:lnSpc>
              <a:spcBef>
                <a:spcPts val="0"/>
              </a:spcBef>
              <a:spcAft>
                <a:spcPts val="0"/>
              </a:spcAft>
              <a:buClrTx/>
              <a:buSzTx/>
              <a:buFontTx/>
              <a:buNone/>
              <a:tabLst/>
            </a:pPr>
            <a:r>
              <a:rPr kumimoji="0" lang="en-US" sz="900" b="0" i="0" u="none" strike="noStrike" kern="0" cap="none" spc="0" normalizeH="0" baseline="0" noProof="0">
                <a:ln>
                  <a:noFill/>
                </a:ln>
                <a:solidFill>
                  <a:schemeClr val="tx1"/>
                </a:solidFill>
                <a:effectLst/>
                <a:uLnTx/>
                <a:uFillTx/>
                <a:latin typeface="+mj-lt"/>
                <a:ea typeface="+mn-ea"/>
                <a:cs typeface="+mn-cs"/>
              </a:rPr>
              <a:t>CONF_DB</a:t>
            </a:r>
          </a:p>
        </p:txBody>
      </p:sp>
      <p:sp>
        <p:nvSpPr>
          <p:cNvPr id="6" name="Rectangle: Rounded Corners 104">
            <a:extLst>
              <a:ext uri="{FF2B5EF4-FFF2-40B4-BE49-F238E27FC236}">
                <a16:creationId xmlns:a16="http://schemas.microsoft.com/office/drawing/2014/main" id="{E7BA36CF-91E0-A967-D043-E71FB509845D}"/>
              </a:ext>
            </a:extLst>
          </p:cNvPr>
          <p:cNvSpPr/>
          <p:nvPr/>
        </p:nvSpPr>
        <p:spPr>
          <a:xfrm>
            <a:off x="2536223" y="1396539"/>
            <a:ext cx="2839338" cy="3891989"/>
          </a:xfrm>
          <a:prstGeom prst="roundRect">
            <a:avLst/>
          </a:prstGeom>
          <a:noFill/>
          <a:ln w="28575" cap="flat" cmpd="sng" algn="ctr">
            <a:solidFill>
              <a:srgbClr val="0070C0"/>
            </a:solidFill>
            <a:prstDash val="solid"/>
            <a:miter lim="800000"/>
          </a:ln>
          <a:effectLst/>
        </p:spPr>
        <p:txBody>
          <a:bodyPr rtlCol="0" anchor="t">
            <a:noAutofit/>
          </a:bodyPr>
          <a:lstStyle/>
          <a:p>
            <a:pPr marL="0" marR="0" indent="0" defTabSz="228520" eaLnBrk="1" fontAlgn="auto" latinLnBrk="0" hangingPunct="1">
              <a:lnSpc>
                <a:spcPct val="100000"/>
              </a:lnSpc>
              <a:spcBef>
                <a:spcPts val="0"/>
              </a:spcBef>
              <a:spcAft>
                <a:spcPts val="0"/>
              </a:spcAft>
              <a:buClrTx/>
              <a:buSzTx/>
              <a:buFontTx/>
              <a:buNone/>
              <a:tabLst/>
            </a:pPr>
            <a:r>
              <a:rPr kumimoji="0" lang="en-CA" sz="1000" b="1" i="0" u="none" strike="noStrike" kern="0" cap="none" spc="0" normalizeH="0" baseline="0" noProof="0">
                <a:ln>
                  <a:noFill/>
                </a:ln>
                <a:solidFill>
                  <a:srgbClr val="0070C0"/>
                </a:solidFill>
                <a:effectLst/>
                <a:uLnTx/>
                <a:uFillTx/>
                <a:latin typeface="+mj-lt"/>
                <a:ea typeface="+mn-ea"/>
                <a:cs typeface="+mn-cs"/>
              </a:rPr>
              <a:t>Rest of </a:t>
            </a:r>
            <a:r>
              <a:rPr kumimoji="0" lang="en-CA" sz="1000" b="1" i="0" u="none" strike="noStrike" kern="0" cap="none" spc="0" normalizeH="0" baseline="0" noProof="0" err="1">
                <a:ln>
                  <a:noFill/>
                </a:ln>
                <a:solidFill>
                  <a:srgbClr val="0070C0"/>
                </a:solidFill>
                <a:effectLst/>
                <a:uLnTx/>
                <a:uFillTx/>
                <a:latin typeface="+mj-lt"/>
                <a:ea typeface="+mn-ea"/>
                <a:cs typeface="+mn-cs"/>
              </a:rPr>
              <a:t>SONiC</a:t>
            </a:r>
            <a:endParaRPr kumimoji="0" lang="en-CA" sz="1000" i="0" u="none" strike="noStrike" kern="0" cap="none" spc="0" normalizeH="0" baseline="0" noProof="0">
              <a:ln>
                <a:noFill/>
              </a:ln>
              <a:solidFill>
                <a:srgbClr val="0070C0"/>
              </a:solidFill>
              <a:effectLst/>
              <a:uLnTx/>
              <a:uFillTx/>
              <a:latin typeface="+mj-lt"/>
              <a:ea typeface="+mn-ea"/>
              <a:cs typeface="+mn-cs"/>
            </a:endParaRPr>
          </a:p>
        </p:txBody>
      </p:sp>
      <p:pic>
        <p:nvPicPr>
          <p:cNvPr id="7" name="Picture 2" descr="SONiC, the Leading Open Source Network Operating System ...">
            <a:extLst>
              <a:ext uri="{FF2B5EF4-FFF2-40B4-BE49-F238E27FC236}">
                <a16:creationId xmlns:a16="http://schemas.microsoft.com/office/drawing/2014/main" id="{370F293C-CE3C-CCDF-B936-4706676C9E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9953" y="1501631"/>
            <a:ext cx="488392" cy="255833"/>
          </a:xfrm>
          <a:prstGeom prst="rect">
            <a:avLst/>
          </a:prstGeom>
          <a:noFill/>
          <a:extLst>
            <a:ext uri="{909E8E84-426E-40DD-AFC4-6F175D3DCCD1}">
              <a14:hiddenFill xmlns:a14="http://schemas.microsoft.com/office/drawing/2010/main">
                <a:solidFill>
                  <a:srgbClr val="FFFFFF"/>
                </a:solidFill>
              </a14:hiddenFill>
            </a:ext>
          </a:extLst>
        </p:spPr>
      </p:pic>
      <p:sp>
        <p:nvSpPr>
          <p:cNvPr id="8" name="Document 7">
            <a:extLst>
              <a:ext uri="{FF2B5EF4-FFF2-40B4-BE49-F238E27FC236}">
                <a16:creationId xmlns:a16="http://schemas.microsoft.com/office/drawing/2014/main" id="{389F0AAB-7BF9-E5B7-8289-55BC8A9A2011}"/>
              </a:ext>
            </a:extLst>
          </p:cNvPr>
          <p:cNvSpPr/>
          <p:nvPr/>
        </p:nvSpPr>
        <p:spPr>
          <a:xfrm>
            <a:off x="954067" y="2282597"/>
            <a:ext cx="914400" cy="466830"/>
          </a:xfrm>
          <a:prstGeom prst="flowChartDocument">
            <a:avLst/>
          </a:prstGeom>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noAutofit/>
          </a:bodyPr>
          <a:lstStyle/>
          <a:p>
            <a:pPr marL="0" marR="0" indent="0" algn="ctr" defTabSz="228520" eaLnBrk="1" fontAlgn="auto" latinLnBrk="0" hangingPunct="1">
              <a:lnSpc>
                <a:spcPct val="100000"/>
              </a:lnSpc>
              <a:spcBef>
                <a:spcPts val="0"/>
              </a:spcBef>
              <a:spcAft>
                <a:spcPts val="0"/>
              </a:spcAft>
              <a:buClrTx/>
              <a:buSzTx/>
              <a:buFontTx/>
              <a:buNone/>
              <a:tabLst/>
            </a:pPr>
            <a:r>
              <a:rPr kumimoji="0" lang="en-US" sz="1200" b="0" i="0" u="none" strike="noStrike" kern="0" cap="none" spc="0" normalizeH="0" baseline="0" noProof="0">
                <a:ln>
                  <a:noFill/>
                </a:ln>
                <a:solidFill>
                  <a:schemeClr val="bg1"/>
                </a:solidFill>
                <a:effectLst/>
                <a:uLnTx/>
                <a:uFillTx/>
                <a:latin typeface="+mj-lt"/>
                <a:ea typeface="+mn-ea"/>
                <a:cs typeface="+mn-cs"/>
              </a:rPr>
              <a:t>PON models</a:t>
            </a:r>
          </a:p>
        </p:txBody>
      </p:sp>
      <p:cxnSp>
        <p:nvCxnSpPr>
          <p:cNvPr id="9" name="Straight Arrow Connector 8">
            <a:extLst>
              <a:ext uri="{FF2B5EF4-FFF2-40B4-BE49-F238E27FC236}">
                <a16:creationId xmlns:a16="http://schemas.microsoft.com/office/drawing/2014/main" id="{6AD571EB-8B8F-BD64-EB8B-86D106695A0A}"/>
              </a:ext>
            </a:extLst>
          </p:cNvPr>
          <p:cNvCxnSpPr>
            <a:cxnSpLocks/>
            <a:stCxn id="8" idx="3"/>
            <a:endCxn id="5" idx="2"/>
          </p:cNvCxnSpPr>
          <p:nvPr/>
        </p:nvCxnSpPr>
        <p:spPr>
          <a:xfrm>
            <a:off x="1868467" y="2516012"/>
            <a:ext cx="1923799" cy="1"/>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 name="Can 9">
            <a:extLst>
              <a:ext uri="{FF2B5EF4-FFF2-40B4-BE49-F238E27FC236}">
                <a16:creationId xmlns:a16="http://schemas.microsoft.com/office/drawing/2014/main" id="{42BE5095-659E-DDE9-36B0-24D8072FB544}"/>
              </a:ext>
            </a:extLst>
          </p:cNvPr>
          <p:cNvSpPr/>
          <p:nvPr/>
        </p:nvSpPr>
        <p:spPr>
          <a:xfrm>
            <a:off x="3793196" y="4016930"/>
            <a:ext cx="1315108" cy="283581"/>
          </a:xfrm>
          <a:prstGeom prst="can">
            <a:avLst/>
          </a:prstGeom>
          <a:ln>
            <a:solidFill>
              <a:srgbClr val="0070C0"/>
            </a:solidFill>
          </a:ln>
        </p:spPr>
        <p:style>
          <a:lnRef idx="2">
            <a:schemeClr val="accent4"/>
          </a:lnRef>
          <a:fillRef idx="1">
            <a:schemeClr val="lt1"/>
          </a:fillRef>
          <a:effectRef idx="0">
            <a:schemeClr val="accent4"/>
          </a:effectRef>
          <a:fontRef idx="minor">
            <a:schemeClr val="dk1"/>
          </a:fontRef>
        </p:style>
        <p:txBody>
          <a:bodyPr rtlCol="0" anchor="ctr">
            <a:noAutofit/>
          </a:bodyPr>
          <a:lstStyle/>
          <a:p>
            <a:pPr marL="0" marR="0" indent="0" algn="ctr" defTabSz="228520" eaLnBrk="1" fontAlgn="auto" latinLnBrk="0" hangingPunct="1">
              <a:lnSpc>
                <a:spcPct val="100000"/>
              </a:lnSpc>
              <a:spcBef>
                <a:spcPts val="0"/>
              </a:spcBef>
              <a:spcAft>
                <a:spcPts val="0"/>
              </a:spcAft>
              <a:buClrTx/>
              <a:buSzTx/>
              <a:buFontTx/>
              <a:buNone/>
              <a:tabLst/>
            </a:pPr>
            <a:r>
              <a:rPr kumimoji="0" lang="en-US" sz="900" b="0" i="0" u="none" strike="noStrike" kern="0" cap="none" spc="0" normalizeH="0" baseline="0" noProof="0">
                <a:ln>
                  <a:noFill/>
                </a:ln>
                <a:solidFill>
                  <a:schemeClr val="tx1"/>
                </a:solidFill>
                <a:effectLst/>
                <a:uLnTx/>
                <a:uFillTx/>
                <a:latin typeface="+mj-lt"/>
                <a:ea typeface="+mn-ea"/>
                <a:cs typeface="+mn-cs"/>
              </a:rPr>
              <a:t>STATE_DB</a:t>
            </a:r>
          </a:p>
        </p:txBody>
      </p:sp>
      <p:sp>
        <p:nvSpPr>
          <p:cNvPr id="11" name="Rounded Rectangle 10">
            <a:extLst>
              <a:ext uri="{FF2B5EF4-FFF2-40B4-BE49-F238E27FC236}">
                <a16:creationId xmlns:a16="http://schemas.microsoft.com/office/drawing/2014/main" id="{101B7728-FE2F-ED2C-941B-B3464DB85135}"/>
              </a:ext>
            </a:extLst>
          </p:cNvPr>
          <p:cNvSpPr/>
          <p:nvPr/>
        </p:nvSpPr>
        <p:spPr>
          <a:xfrm>
            <a:off x="585088" y="3155681"/>
            <a:ext cx="1780684" cy="263450"/>
          </a:xfrm>
          <a:prstGeom prst="roundRect">
            <a:avLst/>
          </a:prstGeom>
          <a:solidFill>
            <a:srgbClr val="92D050"/>
          </a:solidFill>
          <a:ln w="12700" cap="flat" cmpd="sng" algn="ctr">
            <a:noFill/>
            <a:prstDash val="solid"/>
            <a:miter lim="800000"/>
          </a:ln>
          <a:effectLst/>
        </p:spPr>
        <p:txBody>
          <a:bodyPr rtlCol="0" anchor="ctr">
            <a:noAutofit/>
          </a:bodyPr>
          <a:lstStyle/>
          <a:p>
            <a:pPr marL="0" marR="0" indent="0" algn="ctr" defTabSz="228520" eaLnBrk="1" fontAlgn="auto" latinLnBrk="0" hangingPunct="1">
              <a:lnSpc>
                <a:spcPct val="100000"/>
              </a:lnSpc>
              <a:spcBef>
                <a:spcPts val="0"/>
              </a:spcBef>
              <a:spcAft>
                <a:spcPts val="0"/>
              </a:spcAft>
              <a:buClrTx/>
              <a:buSzTx/>
              <a:buFontTx/>
              <a:buNone/>
              <a:tabLst/>
            </a:pPr>
            <a:r>
              <a:rPr kumimoji="0" lang="en-US" sz="1000" b="0" i="0" u="none" strike="noStrike" kern="0" cap="none" spc="0" normalizeH="0" baseline="0" noProof="0">
                <a:ln>
                  <a:noFill/>
                </a:ln>
                <a:solidFill>
                  <a:schemeClr val="bg1"/>
                </a:solidFill>
                <a:effectLst/>
                <a:uLnTx/>
                <a:uFillTx/>
                <a:latin typeface="+mj-lt"/>
                <a:ea typeface="+mn-ea"/>
                <a:cs typeface="+mn-cs"/>
              </a:rPr>
              <a:t>monitoring systems</a:t>
            </a:r>
          </a:p>
        </p:txBody>
      </p:sp>
      <p:sp>
        <p:nvSpPr>
          <p:cNvPr id="12" name="Can 11">
            <a:extLst>
              <a:ext uri="{FF2B5EF4-FFF2-40B4-BE49-F238E27FC236}">
                <a16:creationId xmlns:a16="http://schemas.microsoft.com/office/drawing/2014/main" id="{CE19C331-B3A9-0074-7DE9-BF3E1A88EB0E}"/>
              </a:ext>
            </a:extLst>
          </p:cNvPr>
          <p:cNvSpPr/>
          <p:nvPr/>
        </p:nvSpPr>
        <p:spPr>
          <a:xfrm>
            <a:off x="3792266" y="2763102"/>
            <a:ext cx="1315108" cy="283581"/>
          </a:xfrm>
          <a:prstGeom prst="can">
            <a:avLst/>
          </a:prstGeom>
          <a:ln>
            <a:solidFill>
              <a:srgbClr val="0070C0"/>
            </a:solidFill>
          </a:ln>
        </p:spPr>
        <p:style>
          <a:lnRef idx="2">
            <a:schemeClr val="accent4"/>
          </a:lnRef>
          <a:fillRef idx="1">
            <a:schemeClr val="lt1"/>
          </a:fillRef>
          <a:effectRef idx="0">
            <a:schemeClr val="accent4"/>
          </a:effectRef>
          <a:fontRef idx="minor">
            <a:schemeClr val="dk1"/>
          </a:fontRef>
        </p:style>
        <p:txBody>
          <a:bodyPr rtlCol="0" anchor="ctr">
            <a:noAutofit/>
          </a:bodyPr>
          <a:lstStyle/>
          <a:p>
            <a:pPr marL="0" marR="0" indent="0" algn="ctr" defTabSz="228520" eaLnBrk="1" fontAlgn="auto" latinLnBrk="0" hangingPunct="1">
              <a:lnSpc>
                <a:spcPct val="100000"/>
              </a:lnSpc>
              <a:spcBef>
                <a:spcPts val="0"/>
              </a:spcBef>
              <a:spcAft>
                <a:spcPts val="0"/>
              </a:spcAft>
              <a:buClrTx/>
              <a:buSzTx/>
              <a:buFontTx/>
              <a:buNone/>
              <a:tabLst/>
            </a:pPr>
            <a:r>
              <a:rPr kumimoji="0" lang="en-US" sz="900" b="0" i="0" u="none" strike="noStrike" kern="0" cap="none" spc="0" normalizeH="0" baseline="0" noProof="0">
                <a:ln>
                  <a:noFill/>
                </a:ln>
                <a:solidFill>
                  <a:schemeClr val="tx1"/>
                </a:solidFill>
                <a:effectLst/>
                <a:uLnTx/>
                <a:uFillTx/>
                <a:latin typeface="+mj-lt"/>
                <a:ea typeface="+mn-ea"/>
                <a:cs typeface="+mn-cs"/>
              </a:rPr>
              <a:t>APPL_DB</a:t>
            </a:r>
          </a:p>
        </p:txBody>
      </p:sp>
      <p:cxnSp>
        <p:nvCxnSpPr>
          <p:cNvPr id="13" name="Elbow Connector 12">
            <a:extLst>
              <a:ext uri="{FF2B5EF4-FFF2-40B4-BE49-F238E27FC236}">
                <a16:creationId xmlns:a16="http://schemas.microsoft.com/office/drawing/2014/main" id="{77132524-456C-7540-9530-382996F3CCEF}"/>
              </a:ext>
            </a:extLst>
          </p:cNvPr>
          <p:cNvCxnSpPr>
            <a:cxnSpLocks/>
            <a:stCxn id="5" idx="4"/>
            <a:endCxn id="15" idx="0"/>
          </p:cNvCxnSpPr>
          <p:nvPr/>
        </p:nvCxnSpPr>
        <p:spPr>
          <a:xfrm>
            <a:off x="5107374" y="2516013"/>
            <a:ext cx="3369852" cy="132456"/>
          </a:xfrm>
          <a:prstGeom prst="bent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3">
            <a:extLst>
              <a:ext uri="{FF2B5EF4-FFF2-40B4-BE49-F238E27FC236}">
                <a16:creationId xmlns:a16="http://schemas.microsoft.com/office/drawing/2014/main" id="{90D89397-3A46-D306-7C5E-CE759BBF2D06}"/>
              </a:ext>
            </a:extLst>
          </p:cNvPr>
          <p:cNvCxnSpPr>
            <a:cxnSpLocks/>
            <a:stCxn id="15" idx="2"/>
            <a:endCxn id="12" idx="4"/>
          </p:cNvCxnSpPr>
          <p:nvPr/>
        </p:nvCxnSpPr>
        <p:spPr>
          <a:xfrm rot="5400000">
            <a:off x="6766942" y="1194608"/>
            <a:ext cx="50717" cy="3369852"/>
          </a:xfrm>
          <a:prstGeom prst="bent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03">
            <a:extLst>
              <a:ext uri="{FF2B5EF4-FFF2-40B4-BE49-F238E27FC236}">
                <a16:creationId xmlns:a16="http://schemas.microsoft.com/office/drawing/2014/main" id="{3595AFCB-0A5A-8DB6-A1B6-3BA3083598DC}"/>
              </a:ext>
            </a:extLst>
          </p:cNvPr>
          <p:cNvSpPr/>
          <p:nvPr/>
        </p:nvSpPr>
        <p:spPr>
          <a:xfrm>
            <a:off x="7641604" y="2648469"/>
            <a:ext cx="1671243" cy="205707"/>
          </a:xfrm>
          <a:prstGeom prst="roundRect">
            <a:avLst/>
          </a:prstGeom>
          <a:solidFill>
            <a:srgbClr val="0070C0"/>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000" err="1">
                <a:solidFill>
                  <a:schemeClr val="bg1"/>
                </a:solidFill>
              </a:rPr>
              <a:t>ponmgrd</a:t>
            </a:r>
            <a:endParaRPr lang="en-US" sz="1000">
              <a:solidFill>
                <a:schemeClr val="bg1"/>
              </a:solidFill>
            </a:endParaRPr>
          </a:p>
        </p:txBody>
      </p:sp>
      <p:sp>
        <p:nvSpPr>
          <p:cNvPr id="16" name="Rectangle: Rounded Corners 104">
            <a:extLst>
              <a:ext uri="{FF2B5EF4-FFF2-40B4-BE49-F238E27FC236}">
                <a16:creationId xmlns:a16="http://schemas.microsoft.com/office/drawing/2014/main" id="{9A99447A-1CDF-3F4E-80F4-2E8DA3B7384E}"/>
              </a:ext>
            </a:extLst>
          </p:cNvPr>
          <p:cNvSpPr/>
          <p:nvPr/>
        </p:nvSpPr>
        <p:spPr>
          <a:xfrm>
            <a:off x="7507149" y="1396539"/>
            <a:ext cx="1915873" cy="1760029"/>
          </a:xfrm>
          <a:prstGeom prst="roundRect">
            <a:avLst/>
          </a:prstGeom>
          <a:noFill/>
          <a:ln w="28575" cap="flat" cmpd="sng" algn="ctr">
            <a:solidFill>
              <a:srgbClr val="0070C0"/>
            </a:solidFill>
            <a:prstDash val="dash"/>
            <a:miter lim="800000"/>
          </a:ln>
          <a:effectLst/>
        </p:spPr>
        <p:txBody>
          <a:bodyPr rtlCol="0" anchor="t">
            <a:noAutofit/>
          </a:bodyPr>
          <a:lstStyle/>
          <a:p>
            <a:pPr marL="0" marR="0" indent="0" defTabSz="228520" eaLnBrk="1" fontAlgn="auto" latinLnBrk="0" hangingPunct="1">
              <a:lnSpc>
                <a:spcPct val="100000"/>
              </a:lnSpc>
              <a:spcBef>
                <a:spcPts val="0"/>
              </a:spcBef>
              <a:spcAft>
                <a:spcPts val="0"/>
              </a:spcAft>
              <a:buClrTx/>
              <a:buSzTx/>
              <a:buFontTx/>
              <a:buNone/>
              <a:tabLst/>
            </a:pPr>
            <a:r>
              <a:rPr kumimoji="0" lang="en-CA" sz="1000" b="1" i="0" u="none" strike="noStrike" kern="0" cap="none" spc="0" normalizeH="0" baseline="0" noProof="0">
                <a:ln>
                  <a:noFill/>
                </a:ln>
                <a:solidFill>
                  <a:srgbClr val="0070C0"/>
                </a:solidFill>
                <a:effectLst/>
                <a:uLnTx/>
                <a:uFillTx/>
                <a:latin typeface="+mj-lt"/>
                <a:ea typeface="+mn-ea"/>
                <a:cs typeface="+mn-cs"/>
              </a:rPr>
              <a:t>docker-</a:t>
            </a:r>
            <a:r>
              <a:rPr kumimoji="0" lang="en-CA" sz="1000" b="1" i="0" u="none" strike="noStrike" kern="0" cap="none" spc="0" normalizeH="0" baseline="0" noProof="0" err="1">
                <a:ln>
                  <a:noFill/>
                </a:ln>
                <a:solidFill>
                  <a:srgbClr val="0070C0"/>
                </a:solidFill>
                <a:effectLst/>
                <a:uLnTx/>
                <a:uFillTx/>
                <a:latin typeface="+mj-lt"/>
                <a:ea typeface="+mn-ea"/>
                <a:cs typeface="+mn-cs"/>
              </a:rPr>
              <a:t>pon</a:t>
            </a:r>
            <a:r>
              <a:rPr kumimoji="0" lang="en-CA" sz="1000" b="1" i="0" u="none" strike="noStrike" kern="0" cap="none" spc="0" normalizeH="0" baseline="0" noProof="0">
                <a:ln>
                  <a:noFill/>
                </a:ln>
                <a:solidFill>
                  <a:srgbClr val="0070C0"/>
                </a:solidFill>
                <a:effectLst/>
                <a:uLnTx/>
                <a:uFillTx/>
                <a:latin typeface="+mj-lt"/>
                <a:ea typeface="+mn-ea"/>
                <a:cs typeface="+mn-cs"/>
              </a:rPr>
              <a:t>-manager</a:t>
            </a:r>
            <a:endParaRPr kumimoji="0" lang="en-CA" sz="1000" i="0" u="none" strike="noStrike" kern="0" cap="none" spc="0" normalizeH="0" baseline="0" noProof="0">
              <a:ln>
                <a:noFill/>
              </a:ln>
              <a:solidFill>
                <a:srgbClr val="0070C0"/>
              </a:solidFill>
              <a:effectLst/>
              <a:uLnTx/>
              <a:uFillTx/>
              <a:latin typeface="+mj-lt"/>
              <a:ea typeface="+mn-ea"/>
              <a:cs typeface="+mn-cs"/>
            </a:endParaRPr>
          </a:p>
        </p:txBody>
      </p:sp>
      <p:sp>
        <p:nvSpPr>
          <p:cNvPr id="17" name="Can 16">
            <a:extLst>
              <a:ext uri="{FF2B5EF4-FFF2-40B4-BE49-F238E27FC236}">
                <a16:creationId xmlns:a16="http://schemas.microsoft.com/office/drawing/2014/main" id="{1CFE70DE-BECA-BBB9-C453-71E59FFA15EF}"/>
              </a:ext>
            </a:extLst>
          </p:cNvPr>
          <p:cNvSpPr/>
          <p:nvPr/>
        </p:nvSpPr>
        <p:spPr>
          <a:xfrm>
            <a:off x="3788971" y="3674685"/>
            <a:ext cx="1315108" cy="283581"/>
          </a:xfrm>
          <a:prstGeom prst="can">
            <a:avLst/>
          </a:prstGeom>
          <a:ln>
            <a:solidFill>
              <a:srgbClr val="0070C0"/>
            </a:solidFill>
          </a:ln>
        </p:spPr>
        <p:style>
          <a:lnRef idx="2">
            <a:schemeClr val="accent4"/>
          </a:lnRef>
          <a:fillRef idx="1">
            <a:schemeClr val="lt1"/>
          </a:fillRef>
          <a:effectRef idx="0">
            <a:schemeClr val="accent4"/>
          </a:effectRef>
          <a:fontRef idx="minor">
            <a:schemeClr val="dk1"/>
          </a:fontRef>
        </p:style>
        <p:txBody>
          <a:bodyPr rtlCol="0" anchor="ctr">
            <a:noAutofit/>
          </a:bodyPr>
          <a:lstStyle/>
          <a:p>
            <a:pPr marL="0" marR="0" indent="0" algn="ctr" defTabSz="228520" eaLnBrk="1" fontAlgn="auto" latinLnBrk="0" hangingPunct="1">
              <a:lnSpc>
                <a:spcPct val="100000"/>
              </a:lnSpc>
              <a:spcBef>
                <a:spcPts val="0"/>
              </a:spcBef>
              <a:spcAft>
                <a:spcPts val="0"/>
              </a:spcAft>
              <a:buClrTx/>
              <a:buSzTx/>
              <a:buFontTx/>
              <a:buNone/>
              <a:tabLst/>
            </a:pPr>
            <a:r>
              <a:rPr lang="en-US" sz="900" kern="0" dirty="0">
                <a:solidFill>
                  <a:schemeClr val="tx1"/>
                </a:solidFill>
                <a:latin typeface="+mj-lt"/>
              </a:rPr>
              <a:t>PON_</a:t>
            </a:r>
            <a:r>
              <a:rPr kumimoji="0" lang="en-US" sz="900" b="0" i="0" u="none" strike="noStrike" kern="0" cap="none" spc="0" normalizeH="0" baseline="0" noProof="0" dirty="0">
                <a:ln>
                  <a:noFill/>
                </a:ln>
                <a:solidFill>
                  <a:schemeClr val="tx1"/>
                </a:solidFill>
                <a:effectLst/>
                <a:uLnTx/>
                <a:uFillTx/>
                <a:latin typeface="+mj-lt"/>
                <a:ea typeface="+mn-ea"/>
                <a:cs typeface="+mn-cs"/>
              </a:rPr>
              <a:t>ASIC_DB</a:t>
            </a:r>
          </a:p>
        </p:txBody>
      </p:sp>
      <p:sp>
        <p:nvSpPr>
          <p:cNvPr id="18" name="Rectangle: Rounded Corners 103">
            <a:extLst>
              <a:ext uri="{FF2B5EF4-FFF2-40B4-BE49-F238E27FC236}">
                <a16:creationId xmlns:a16="http://schemas.microsoft.com/office/drawing/2014/main" id="{E60462FD-E7E7-F9F3-39D3-C3C1D2A5C3F2}"/>
              </a:ext>
            </a:extLst>
          </p:cNvPr>
          <p:cNvSpPr/>
          <p:nvPr/>
        </p:nvSpPr>
        <p:spPr>
          <a:xfrm>
            <a:off x="5610705" y="2977828"/>
            <a:ext cx="1671244" cy="471779"/>
          </a:xfrm>
          <a:prstGeom prst="roundRect">
            <a:avLst/>
          </a:prstGeom>
          <a:ln>
            <a:solidFill>
              <a:srgbClr val="0070C0"/>
            </a:solidFill>
          </a:ln>
        </p:spPr>
        <p:style>
          <a:lnRef idx="2">
            <a:schemeClr val="accent4"/>
          </a:lnRef>
          <a:fillRef idx="1">
            <a:schemeClr val="lt1"/>
          </a:fillRef>
          <a:effectRef idx="0">
            <a:schemeClr val="accent4"/>
          </a:effectRef>
          <a:fontRef idx="minor">
            <a:schemeClr val="dk1"/>
          </a:fontRef>
        </p:style>
        <p:txBody>
          <a:bodyPr rtlCol="0" anchor="t"/>
          <a:lstStyle/>
          <a:p>
            <a:pPr algn="ctr"/>
            <a:r>
              <a:rPr lang="en-US" sz="1000" err="1">
                <a:solidFill>
                  <a:schemeClr val="tx1"/>
                </a:solidFill>
              </a:rPr>
              <a:t>orchagent</a:t>
            </a:r>
            <a:endParaRPr lang="en-US" sz="1000">
              <a:solidFill>
                <a:schemeClr val="tx1"/>
              </a:solidFill>
            </a:endParaRPr>
          </a:p>
        </p:txBody>
      </p:sp>
      <p:sp>
        <p:nvSpPr>
          <p:cNvPr id="19" name="Rectangle: Rounded Corners 103">
            <a:extLst>
              <a:ext uri="{FF2B5EF4-FFF2-40B4-BE49-F238E27FC236}">
                <a16:creationId xmlns:a16="http://schemas.microsoft.com/office/drawing/2014/main" id="{EF779558-E674-98FA-4988-8063C03283CB}"/>
              </a:ext>
            </a:extLst>
          </p:cNvPr>
          <p:cNvSpPr/>
          <p:nvPr/>
        </p:nvSpPr>
        <p:spPr>
          <a:xfrm>
            <a:off x="6048549" y="3224488"/>
            <a:ext cx="785613" cy="205707"/>
          </a:xfrm>
          <a:prstGeom prst="roundRect">
            <a:avLst/>
          </a:prstGeom>
          <a:solidFill>
            <a:srgbClr val="00B0F0"/>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000" err="1">
                <a:solidFill>
                  <a:schemeClr val="bg1"/>
                </a:solidFill>
              </a:rPr>
              <a:t>PonOrch</a:t>
            </a:r>
            <a:endParaRPr lang="en-US" sz="1000">
              <a:solidFill>
                <a:schemeClr val="bg1"/>
              </a:solidFill>
            </a:endParaRPr>
          </a:p>
        </p:txBody>
      </p:sp>
      <p:cxnSp>
        <p:nvCxnSpPr>
          <p:cNvPr id="20" name="Elbow Connector 19">
            <a:extLst>
              <a:ext uri="{FF2B5EF4-FFF2-40B4-BE49-F238E27FC236}">
                <a16:creationId xmlns:a16="http://schemas.microsoft.com/office/drawing/2014/main" id="{AB64ADCC-E886-DCE1-B537-43BAF4C967D4}"/>
              </a:ext>
            </a:extLst>
          </p:cNvPr>
          <p:cNvCxnSpPr>
            <a:cxnSpLocks/>
            <a:stCxn id="12" idx="3"/>
            <a:endCxn id="19" idx="1"/>
          </p:cNvCxnSpPr>
          <p:nvPr/>
        </p:nvCxnSpPr>
        <p:spPr>
          <a:xfrm rot="16200000" flipH="1">
            <a:off x="5108855" y="2387647"/>
            <a:ext cx="280659" cy="1598729"/>
          </a:xfrm>
          <a:prstGeom prst="bent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EB266972-4028-FF4F-C14D-539D6D78CDF1}"/>
              </a:ext>
            </a:extLst>
          </p:cNvPr>
          <p:cNvCxnSpPr>
            <a:cxnSpLocks/>
            <a:stCxn id="19" idx="2"/>
            <a:endCxn id="17" idx="1"/>
          </p:cNvCxnSpPr>
          <p:nvPr/>
        </p:nvCxnSpPr>
        <p:spPr>
          <a:xfrm rot="5400000">
            <a:off x="5321696" y="2555025"/>
            <a:ext cx="244490" cy="1994831"/>
          </a:xfrm>
          <a:prstGeom prst="bentConnector3">
            <a:avLst>
              <a:gd name="adj1" fmla="val 50000"/>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103">
            <a:extLst>
              <a:ext uri="{FF2B5EF4-FFF2-40B4-BE49-F238E27FC236}">
                <a16:creationId xmlns:a16="http://schemas.microsoft.com/office/drawing/2014/main" id="{49B95FB2-B913-4468-7B1D-B00CAF10F330}"/>
              </a:ext>
            </a:extLst>
          </p:cNvPr>
          <p:cNvSpPr/>
          <p:nvPr/>
        </p:nvSpPr>
        <p:spPr>
          <a:xfrm>
            <a:off x="7641605" y="3548634"/>
            <a:ext cx="1671244" cy="1302877"/>
          </a:xfrm>
          <a:prstGeom prst="roundRect">
            <a:avLst/>
          </a:prstGeom>
          <a:solidFill>
            <a:srgbClr val="0070C0"/>
          </a:solidFill>
          <a:ln/>
        </p:spPr>
        <p:style>
          <a:lnRef idx="3">
            <a:schemeClr val="lt1"/>
          </a:lnRef>
          <a:fillRef idx="1">
            <a:schemeClr val="accent4"/>
          </a:fillRef>
          <a:effectRef idx="1">
            <a:schemeClr val="accent4"/>
          </a:effectRef>
          <a:fontRef idx="minor">
            <a:schemeClr val="lt1"/>
          </a:fontRef>
        </p:style>
        <p:txBody>
          <a:bodyPr rtlCol="0" anchor="t"/>
          <a:lstStyle/>
          <a:p>
            <a:pPr algn="ctr"/>
            <a:r>
              <a:rPr lang="en-US" sz="1000">
                <a:solidFill>
                  <a:schemeClr val="bg1"/>
                </a:solidFill>
              </a:rPr>
              <a:t>dcpon-syncd</a:t>
            </a:r>
          </a:p>
        </p:txBody>
      </p:sp>
      <p:sp>
        <p:nvSpPr>
          <p:cNvPr id="23" name="Rectangle: Rounded Corners 103">
            <a:extLst>
              <a:ext uri="{FF2B5EF4-FFF2-40B4-BE49-F238E27FC236}">
                <a16:creationId xmlns:a16="http://schemas.microsoft.com/office/drawing/2014/main" id="{448C0658-EB9A-64A5-5EB4-F4625F14D4DB}"/>
              </a:ext>
            </a:extLst>
          </p:cNvPr>
          <p:cNvSpPr/>
          <p:nvPr/>
        </p:nvSpPr>
        <p:spPr>
          <a:xfrm>
            <a:off x="4834149" y="3454861"/>
            <a:ext cx="918741" cy="136921"/>
          </a:xfrm>
          <a:prstGeom prst="roundRect">
            <a:avLst/>
          </a:prstGeom>
          <a:solidFill>
            <a:srgbClr val="00B0F0"/>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800" err="1">
                <a:solidFill>
                  <a:schemeClr val="bg1"/>
                </a:solidFill>
              </a:rPr>
              <a:t>sai_pon_api_t</a:t>
            </a:r>
            <a:endParaRPr lang="en-US" sz="800">
              <a:solidFill>
                <a:schemeClr val="bg1"/>
              </a:solidFill>
            </a:endParaRPr>
          </a:p>
        </p:txBody>
      </p:sp>
      <p:cxnSp>
        <p:nvCxnSpPr>
          <p:cNvPr id="24" name="Elbow Connector 23">
            <a:extLst>
              <a:ext uri="{FF2B5EF4-FFF2-40B4-BE49-F238E27FC236}">
                <a16:creationId xmlns:a16="http://schemas.microsoft.com/office/drawing/2014/main" id="{14A0780E-DE60-6EF7-79C3-347CEDD431C4}"/>
              </a:ext>
            </a:extLst>
          </p:cNvPr>
          <p:cNvCxnSpPr>
            <a:cxnSpLocks/>
            <a:stCxn id="17" idx="4"/>
            <a:endCxn id="34" idx="0"/>
          </p:cNvCxnSpPr>
          <p:nvPr/>
        </p:nvCxnSpPr>
        <p:spPr>
          <a:xfrm>
            <a:off x="5104079" y="3816476"/>
            <a:ext cx="3747673" cy="540920"/>
          </a:xfrm>
          <a:prstGeom prst="bent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a:extLst>
              <a:ext uri="{FF2B5EF4-FFF2-40B4-BE49-F238E27FC236}">
                <a16:creationId xmlns:a16="http://schemas.microsoft.com/office/drawing/2014/main" id="{497032E3-BDDE-DEB5-CAA0-24F2A5EB7064}"/>
              </a:ext>
            </a:extLst>
          </p:cNvPr>
          <p:cNvCxnSpPr>
            <a:cxnSpLocks/>
            <a:stCxn id="33" idx="0"/>
            <a:endCxn id="10" idx="4"/>
          </p:cNvCxnSpPr>
          <p:nvPr/>
        </p:nvCxnSpPr>
        <p:spPr>
          <a:xfrm rot="16200000" flipV="1">
            <a:off x="6544525" y="2722501"/>
            <a:ext cx="203929" cy="3076370"/>
          </a:xfrm>
          <a:prstGeom prst="bentConnector2">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6" name="Can 25">
            <a:extLst>
              <a:ext uri="{FF2B5EF4-FFF2-40B4-BE49-F238E27FC236}">
                <a16:creationId xmlns:a16="http://schemas.microsoft.com/office/drawing/2014/main" id="{39686A82-3414-28CB-7B69-713BB6BD6F59}"/>
              </a:ext>
            </a:extLst>
          </p:cNvPr>
          <p:cNvSpPr/>
          <p:nvPr/>
        </p:nvSpPr>
        <p:spPr>
          <a:xfrm>
            <a:off x="3788971" y="4503152"/>
            <a:ext cx="1315108" cy="283581"/>
          </a:xfrm>
          <a:prstGeom prst="can">
            <a:avLst/>
          </a:prstGeom>
          <a:ln>
            <a:solidFill>
              <a:srgbClr val="0070C0"/>
            </a:solidFill>
          </a:ln>
        </p:spPr>
        <p:style>
          <a:lnRef idx="2">
            <a:schemeClr val="accent4"/>
          </a:lnRef>
          <a:fillRef idx="1">
            <a:schemeClr val="lt1"/>
          </a:fillRef>
          <a:effectRef idx="0">
            <a:schemeClr val="accent4"/>
          </a:effectRef>
          <a:fontRef idx="minor">
            <a:schemeClr val="dk1"/>
          </a:fontRef>
        </p:style>
        <p:txBody>
          <a:bodyPr rtlCol="0" anchor="ctr">
            <a:noAutofit/>
          </a:bodyPr>
          <a:lstStyle/>
          <a:p>
            <a:pPr marL="0" marR="0" indent="0" algn="ctr" defTabSz="228520" eaLnBrk="1" fontAlgn="auto" latinLnBrk="0" hangingPunct="1">
              <a:lnSpc>
                <a:spcPct val="100000"/>
              </a:lnSpc>
              <a:spcBef>
                <a:spcPts val="0"/>
              </a:spcBef>
              <a:spcAft>
                <a:spcPts val="0"/>
              </a:spcAft>
              <a:buClrTx/>
              <a:buSzTx/>
              <a:buFontTx/>
              <a:buNone/>
              <a:tabLst/>
            </a:pPr>
            <a:r>
              <a:rPr kumimoji="0" lang="en-US" sz="900" b="0" i="0" u="none" strike="noStrike" kern="0" cap="none" spc="0" normalizeH="0" baseline="0" noProof="0" dirty="0">
                <a:ln>
                  <a:noFill/>
                </a:ln>
                <a:solidFill>
                  <a:schemeClr val="tx1"/>
                </a:solidFill>
                <a:effectLst/>
                <a:uLnTx/>
                <a:uFillTx/>
                <a:latin typeface="+mj-lt"/>
                <a:ea typeface="+mn-ea"/>
                <a:cs typeface="+mn-cs"/>
              </a:rPr>
              <a:t>PON_COUNTERS_DB</a:t>
            </a:r>
          </a:p>
        </p:txBody>
      </p:sp>
      <p:sp>
        <p:nvSpPr>
          <p:cNvPr id="27" name="Rectangle: Rounded Corners 103">
            <a:extLst>
              <a:ext uri="{FF2B5EF4-FFF2-40B4-BE49-F238E27FC236}">
                <a16:creationId xmlns:a16="http://schemas.microsoft.com/office/drawing/2014/main" id="{ED13A021-6B94-7E25-9A01-3D3333943A32}"/>
              </a:ext>
            </a:extLst>
          </p:cNvPr>
          <p:cNvSpPr/>
          <p:nvPr/>
        </p:nvSpPr>
        <p:spPr>
          <a:xfrm>
            <a:off x="7641604" y="1811530"/>
            <a:ext cx="1671243" cy="312417"/>
          </a:xfrm>
          <a:prstGeom prst="roundRect">
            <a:avLst/>
          </a:prstGeom>
          <a:solidFill>
            <a:srgbClr val="0070C0"/>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000" err="1">
                <a:solidFill>
                  <a:schemeClr val="bg1"/>
                </a:solidFill>
              </a:rPr>
              <a:t>ponprotd</a:t>
            </a:r>
            <a:endParaRPr lang="en-US" sz="1000">
              <a:solidFill>
                <a:schemeClr val="bg1"/>
              </a:solidFill>
            </a:endParaRPr>
          </a:p>
        </p:txBody>
      </p:sp>
      <p:cxnSp>
        <p:nvCxnSpPr>
          <p:cNvPr id="28" name="Straight Arrow Connector 27">
            <a:extLst>
              <a:ext uri="{FF2B5EF4-FFF2-40B4-BE49-F238E27FC236}">
                <a16:creationId xmlns:a16="http://schemas.microsoft.com/office/drawing/2014/main" id="{54B04F95-3B18-EEB0-89F3-9CA4A5289BD0}"/>
              </a:ext>
            </a:extLst>
          </p:cNvPr>
          <p:cNvCxnSpPr>
            <a:cxnSpLocks/>
          </p:cNvCxnSpPr>
          <p:nvPr/>
        </p:nvCxnSpPr>
        <p:spPr>
          <a:xfrm>
            <a:off x="8873331" y="4768784"/>
            <a:ext cx="0" cy="33728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Parallelogram 28">
            <a:extLst>
              <a:ext uri="{FF2B5EF4-FFF2-40B4-BE49-F238E27FC236}">
                <a16:creationId xmlns:a16="http://schemas.microsoft.com/office/drawing/2014/main" id="{7695A98D-DE48-4CE7-B7A6-7486DCB9E4FF}"/>
              </a:ext>
            </a:extLst>
          </p:cNvPr>
          <p:cNvSpPr/>
          <p:nvPr/>
        </p:nvSpPr>
        <p:spPr>
          <a:xfrm>
            <a:off x="3758637" y="1835458"/>
            <a:ext cx="1319708" cy="264237"/>
          </a:xfrm>
          <a:prstGeom prst="parallelogram">
            <a:avLst/>
          </a:prstGeom>
          <a:solidFill>
            <a:srgbClr val="0070C0"/>
          </a:solidFill>
          <a:ln w="12700" cap="flat" cmpd="sng" algn="ctr">
            <a:noFill/>
            <a:prstDash val="solid"/>
            <a:miter lim="800000"/>
          </a:ln>
          <a:effectLst/>
        </p:spPr>
        <p:txBody>
          <a:bodyPr rtlCol="0" anchor="ctr">
            <a:noAutofit/>
          </a:bodyPr>
          <a:lstStyle/>
          <a:p>
            <a:pPr marL="0" marR="0" indent="0" algn="ctr" defTabSz="228520" eaLnBrk="1" fontAlgn="auto" latinLnBrk="0" hangingPunct="1">
              <a:lnSpc>
                <a:spcPct val="100000"/>
              </a:lnSpc>
              <a:spcBef>
                <a:spcPts val="0"/>
              </a:spcBef>
              <a:spcAft>
                <a:spcPts val="0"/>
              </a:spcAft>
              <a:buClrTx/>
              <a:buSzTx/>
              <a:buFontTx/>
              <a:buNone/>
              <a:tabLst/>
            </a:pPr>
            <a:r>
              <a:rPr kumimoji="0" lang="en-US" sz="800" b="0" i="0" u="none" strike="noStrike" kern="0" cap="none" spc="0" normalizeH="0" baseline="0" noProof="0" dirty="0">
                <a:ln>
                  <a:noFill/>
                </a:ln>
                <a:solidFill>
                  <a:schemeClr val="bg1"/>
                </a:solidFill>
                <a:effectLst/>
                <a:uLnTx/>
                <a:uFillTx/>
                <a:latin typeface="+mj-lt"/>
                <a:ea typeface="+mn-ea"/>
                <a:cs typeface="+mn-cs"/>
              </a:rPr>
              <a:t>Dual-Homed PON Gateway</a:t>
            </a:r>
          </a:p>
        </p:txBody>
      </p:sp>
      <p:cxnSp>
        <p:nvCxnSpPr>
          <p:cNvPr id="30" name="Elbow Connector 29">
            <a:extLst>
              <a:ext uri="{FF2B5EF4-FFF2-40B4-BE49-F238E27FC236}">
                <a16:creationId xmlns:a16="http://schemas.microsoft.com/office/drawing/2014/main" id="{BF54E9FB-7A42-BC68-D1CC-E5F08BDD229F}"/>
              </a:ext>
            </a:extLst>
          </p:cNvPr>
          <p:cNvCxnSpPr>
            <a:cxnSpLocks/>
            <a:stCxn id="27" idx="1"/>
            <a:endCxn id="29" idx="2"/>
          </p:cNvCxnSpPr>
          <p:nvPr/>
        </p:nvCxnSpPr>
        <p:spPr>
          <a:xfrm rot="10800000">
            <a:off x="5045316" y="1967577"/>
            <a:ext cx="2596289" cy="162"/>
          </a:xfrm>
          <a:prstGeom prst="bentConnector3">
            <a:avLst>
              <a:gd name="adj1" fmla="val 50000"/>
            </a:avLst>
          </a:prstGeom>
          <a:ln w="28575">
            <a:solidFill>
              <a:schemeClr val="tx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F369A63-AC5B-0AB8-5411-51E94EB85709}"/>
              </a:ext>
            </a:extLst>
          </p:cNvPr>
          <p:cNvCxnSpPr>
            <a:cxnSpLocks/>
          </p:cNvCxnSpPr>
          <p:nvPr/>
        </p:nvCxnSpPr>
        <p:spPr>
          <a:xfrm flipV="1">
            <a:off x="8147888" y="4777695"/>
            <a:ext cx="0" cy="328369"/>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BF5B3660-5024-BB28-B5FE-6B9995C73B71}"/>
              </a:ext>
            </a:extLst>
          </p:cNvPr>
          <p:cNvSpPr/>
          <p:nvPr/>
        </p:nvSpPr>
        <p:spPr>
          <a:xfrm>
            <a:off x="7823517" y="4515489"/>
            <a:ext cx="1393402" cy="262206"/>
          </a:xfrm>
          <a:prstGeom prst="roundRect">
            <a:avLst/>
          </a:prstGeom>
          <a:solidFill>
            <a:schemeClr val="accent3"/>
          </a:solidFill>
          <a:ln w="12700" cap="flat" cmpd="sng" algn="ctr">
            <a:noFill/>
            <a:prstDash val="solid"/>
            <a:miter lim="800000"/>
          </a:ln>
          <a:effectLst/>
        </p:spPr>
        <p:txBody>
          <a:bodyPr rtlCol="0" anchor="ctr">
            <a:noAutofit/>
          </a:bodyPr>
          <a:lstStyle/>
          <a:p>
            <a:pPr marL="0" marR="0" indent="0" algn="ctr" defTabSz="228520" eaLnBrk="1" fontAlgn="auto" latinLnBrk="0" hangingPunct="1">
              <a:lnSpc>
                <a:spcPct val="100000"/>
              </a:lnSpc>
              <a:spcBef>
                <a:spcPts val="0"/>
              </a:spcBef>
              <a:spcAft>
                <a:spcPts val="0"/>
              </a:spcAft>
              <a:buClrTx/>
              <a:buSzTx/>
              <a:buFontTx/>
              <a:buNone/>
              <a:tabLst/>
            </a:pPr>
            <a:r>
              <a:rPr kumimoji="0" lang="en-US" sz="1100" b="0" i="0" u="none" strike="noStrike" kern="0" cap="none" spc="0" normalizeH="0" baseline="0" noProof="0">
                <a:ln>
                  <a:noFill/>
                </a:ln>
                <a:solidFill>
                  <a:schemeClr val="bg1"/>
                </a:solidFill>
                <a:effectLst/>
                <a:uLnTx/>
                <a:uFillTx/>
                <a:latin typeface="+mj-lt"/>
                <a:ea typeface="+mn-ea"/>
                <a:cs typeface="+mn-cs"/>
              </a:rPr>
              <a:t>Vendor SDK</a:t>
            </a:r>
          </a:p>
        </p:txBody>
      </p:sp>
      <p:sp>
        <p:nvSpPr>
          <p:cNvPr id="33" name="Rectangle: Rounded Corners 103">
            <a:extLst>
              <a:ext uri="{FF2B5EF4-FFF2-40B4-BE49-F238E27FC236}">
                <a16:creationId xmlns:a16="http://schemas.microsoft.com/office/drawing/2014/main" id="{3A3FBF4A-9139-C454-4241-04AD26BE1005}"/>
              </a:ext>
            </a:extLst>
          </p:cNvPr>
          <p:cNvSpPr/>
          <p:nvPr/>
        </p:nvSpPr>
        <p:spPr>
          <a:xfrm>
            <a:off x="7897091" y="4362650"/>
            <a:ext cx="575165" cy="205707"/>
          </a:xfrm>
          <a:prstGeom prst="roundRect">
            <a:avLst/>
          </a:prstGeom>
          <a:solidFill>
            <a:srgbClr val="00B0F0"/>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800" err="1">
                <a:solidFill>
                  <a:schemeClr val="bg1"/>
                </a:solidFill>
              </a:rPr>
              <a:t>dcsai</a:t>
            </a:r>
            <a:r>
              <a:rPr lang="en-US" sz="800">
                <a:solidFill>
                  <a:schemeClr val="bg1"/>
                </a:solidFill>
              </a:rPr>
              <a:t> poll</a:t>
            </a:r>
          </a:p>
        </p:txBody>
      </p:sp>
      <p:sp>
        <p:nvSpPr>
          <p:cNvPr id="34" name="Rectangle: Rounded Corners 103">
            <a:extLst>
              <a:ext uri="{FF2B5EF4-FFF2-40B4-BE49-F238E27FC236}">
                <a16:creationId xmlns:a16="http://schemas.microsoft.com/office/drawing/2014/main" id="{5C5A417B-A716-7836-4F74-7F8B1452921B}"/>
              </a:ext>
            </a:extLst>
          </p:cNvPr>
          <p:cNvSpPr/>
          <p:nvPr/>
        </p:nvSpPr>
        <p:spPr>
          <a:xfrm>
            <a:off x="8564169" y="4357396"/>
            <a:ext cx="575165" cy="205707"/>
          </a:xfrm>
          <a:prstGeom prst="roundRect">
            <a:avLst/>
          </a:prstGeom>
          <a:solidFill>
            <a:srgbClr val="00B0F0"/>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700" err="1">
                <a:solidFill>
                  <a:schemeClr val="bg1"/>
                </a:solidFill>
              </a:rPr>
              <a:t>dcsai</a:t>
            </a:r>
            <a:r>
              <a:rPr lang="en-US" sz="700">
                <a:solidFill>
                  <a:schemeClr val="bg1"/>
                </a:solidFill>
              </a:rPr>
              <a:t> crud</a:t>
            </a:r>
          </a:p>
        </p:txBody>
      </p:sp>
      <p:sp>
        <p:nvSpPr>
          <p:cNvPr id="35" name="Rectangle: Rounded Corners 104">
            <a:extLst>
              <a:ext uri="{FF2B5EF4-FFF2-40B4-BE49-F238E27FC236}">
                <a16:creationId xmlns:a16="http://schemas.microsoft.com/office/drawing/2014/main" id="{7FFB7763-24AB-9CDA-1546-DB1C1232AC5C}"/>
              </a:ext>
            </a:extLst>
          </p:cNvPr>
          <p:cNvSpPr/>
          <p:nvPr/>
        </p:nvSpPr>
        <p:spPr>
          <a:xfrm>
            <a:off x="7505004" y="3244490"/>
            <a:ext cx="1915873" cy="2227023"/>
          </a:xfrm>
          <a:prstGeom prst="roundRect">
            <a:avLst/>
          </a:prstGeom>
          <a:noFill/>
          <a:ln w="28575" cap="flat" cmpd="sng" algn="ctr">
            <a:solidFill>
              <a:srgbClr val="0070C0"/>
            </a:solidFill>
            <a:prstDash val="dash"/>
            <a:miter lim="800000"/>
          </a:ln>
          <a:effectLst/>
        </p:spPr>
        <p:txBody>
          <a:bodyPr rtlCol="0" anchor="t">
            <a:noAutofit/>
          </a:bodyPr>
          <a:lstStyle/>
          <a:p>
            <a:pPr marL="0" marR="0" indent="0" defTabSz="228520" eaLnBrk="1" fontAlgn="auto" latinLnBrk="0" hangingPunct="1">
              <a:lnSpc>
                <a:spcPct val="100000"/>
              </a:lnSpc>
              <a:spcBef>
                <a:spcPts val="0"/>
              </a:spcBef>
              <a:spcAft>
                <a:spcPts val="0"/>
              </a:spcAft>
              <a:buClrTx/>
              <a:buSzTx/>
              <a:buFontTx/>
              <a:buNone/>
              <a:tabLst/>
            </a:pPr>
            <a:r>
              <a:rPr kumimoji="0" lang="en-CA" sz="1000" b="1" i="0" u="none" strike="noStrike" kern="0" cap="none" spc="0" normalizeH="0" baseline="0" noProof="0">
                <a:ln>
                  <a:noFill/>
                </a:ln>
                <a:solidFill>
                  <a:srgbClr val="0070C0"/>
                </a:solidFill>
                <a:effectLst/>
                <a:uLnTx/>
                <a:uFillTx/>
                <a:latin typeface="+mj-lt"/>
                <a:ea typeface="+mn-ea"/>
                <a:cs typeface="+mn-cs"/>
              </a:rPr>
              <a:t>docker-</a:t>
            </a:r>
            <a:r>
              <a:rPr kumimoji="0" lang="en-CA" sz="1000" b="1" i="0" u="none" strike="noStrike" kern="0" cap="none" spc="0" normalizeH="0" baseline="0" noProof="0" err="1">
                <a:ln>
                  <a:noFill/>
                </a:ln>
                <a:solidFill>
                  <a:srgbClr val="0070C0"/>
                </a:solidFill>
                <a:effectLst/>
                <a:uLnTx/>
                <a:uFillTx/>
                <a:latin typeface="+mj-lt"/>
                <a:ea typeface="+mn-ea"/>
                <a:cs typeface="+mn-cs"/>
              </a:rPr>
              <a:t>pon</a:t>
            </a:r>
            <a:r>
              <a:rPr kumimoji="0" lang="en-CA" sz="1000" b="1" i="0" u="none" strike="noStrike" kern="0" cap="none" spc="0" normalizeH="0" baseline="0" noProof="0">
                <a:ln>
                  <a:noFill/>
                </a:ln>
                <a:solidFill>
                  <a:srgbClr val="0070C0"/>
                </a:solidFill>
                <a:effectLst/>
                <a:uLnTx/>
                <a:uFillTx/>
                <a:latin typeface="+mj-lt"/>
                <a:ea typeface="+mn-ea"/>
                <a:cs typeface="+mn-cs"/>
              </a:rPr>
              <a:t>-</a:t>
            </a:r>
            <a:r>
              <a:rPr kumimoji="0" lang="en-CA" sz="1000" b="1" i="0" u="none" strike="noStrike" kern="0" cap="none" spc="0" normalizeH="0" baseline="0" noProof="0" err="1">
                <a:ln>
                  <a:noFill/>
                </a:ln>
                <a:solidFill>
                  <a:srgbClr val="0070C0"/>
                </a:solidFill>
                <a:effectLst/>
                <a:uLnTx/>
                <a:uFillTx/>
                <a:latin typeface="+mj-lt"/>
                <a:ea typeface="+mn-ea"/>
                <a:cs typeface="+mn-cs"/>
              </a:rPr>
              <a:t>syncd</a:t>
            </a:r>
            <a:endParaRPr kumimoji="0" lang="en-CA" sz="1000" i="0" u="none" strike="noStrike" kern="0" cap="none" spc="0" normalizeH="0" baseline="0" noProof="0">
              <a:ln>
                <a:noFill/>
              </a:ln>
              <a:solidFill>
                <a:srgbClr val="0070C0"/>
              </a:solidFill>
              <a:effectLst/>
              <a:uLnTx/>
              <a:uFillTx/>
              <a:latin typeface="+mj-lt"/>
              <a:ea typeface="+mn-ea"/>
              <a:cs typeface="+mn-cs"/>
            </a:endParaRPr>
          </a:p>
        </p:txBody>
      </p:sp>
      <p:sp>
        <p:nvSpPr>
          <p:cNvPr id="36" name="Rectangle: Rounded Corners 103">
            <a:extLst>
              <a:ext uri="{FF2B5EF4-FFF2-40B4-BE49-F238E27FC236}">
                <a16:creationId xmlns:a16="http://schemas.microsoft.com/office/drawing/2014/main" id="{973EF642-166C-7766-4A4B-7D69CB49FCB3}"/>
              </a:ext>
            </a:extLst>
          </p:cNvPr>
          <p:cNvSpPr/>
          <p:nvPr/>
        </p:nvSpPr>
        <p:spPr>
          <a:xfrm>
            <a:off x="7823516" y="5155656"/>
            <a:ext cx="1393397" cy="244384"/>
          </a:xfrm>
          <a:prstGeom prst="roundRect">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000">
                <a:solidFill>
                  <a:schemeClr val="bg1"/>
                </a:solidFill>
              </a:rPr>
              <a:t>Vendor stack</a:t>
            </a:r>
          </a:p>
        </p:txBody>
      </p:sp>
      <p:sp>
        <p:nvSpPr>
          <p:cNvPr id="37" name="Rectangle: Rounded Corners 103">
            <a:extLst>
              <a:ext uri="{FF2B5EF4-FFF2-40B4-BE49-F238E27FC236}">
                <a16:creationId xmlns:a16="http://schemas.microsoft.com/office/drawing/2014/main" id="{41B0064A-852C-0F38-D165-D5B17836B561}"/>
              </a:ext>
            </a:extLst>
          </p:cNvPr>
          <p:cNvSpPr/>
          <p:nvPr/>
        </p:nvSpPr>
        <p:spPr>
          <a:xfrm>
            <a:off x="2670875" y="3157758"/>
            <a:ext cx="1060569" cy="263450"/>
          </a:xfrm>
          <a:prstGeom prst="roundRect">
            <a:avLst/>
          </a:prstGeom>
          <a:ln>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000" err="1">
                <a:solidFill>
                  <a:schemeClr val="tx1"/>
                </a:solidFill>
              </a:rPr>
              <a:t>gNMI</a:t>
            </a:r>
            <a:endParaRPr lang="en-US" sz="1000">
              <a:solidFill>
                <a:schemeClr val="tx1"/>
              </a:solidFill>
            </a:endParaRPr>
          </a:p>
        </p:txBody>
      </p:sp>
      <p:cxnSp>
        <p:nvCxnSpPr>
          <p:cNvPr id="38" name="Elbow Connector 37">
            <a:extLst>
              <a:ext uri="{FF2B5EF4-FFF2-40B4-BE49-F238E27FC236}">
                <a16:creationId xmlns:a16="http://schemas.microsoft.com/office/drawing/2014/main" id="{4F7D6F98-A448-C1DC-8D59-2AB7A6BE812A}"/>
              </a:ext>
            </a:extLst>
          </p:cNvPr>
          <p:cNvCxnSpPr>
            <a:cxnSpLocks/>
            <a:stCxn id="10" idx="2"/>
          </p:cNvCxnSpPr>
          <p:nvPr/>
        </p:nvCxnSpPr>
        <p:spPr>
          <a:xfrm rot="10800000">
            <a:off x="3464600" y="3419131"/>
            <a:ext cx="328596" cy="739590"/>
          </a:xfrm>
          <a:prstGeom prst="bent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78850F9A-DFFE-3B3F-8E4D-7908D0C7FB2F}"/>
              </a:ext>
            </a:extLst>
          </p:cNvPr>
          <p:cNvCxnSpPr>
            <a:cxnSpLocks/>
            <a:stCxn id="26" idx="2"/>
          </p:cNvCxnSpPr>
          <p:nvPr/>
        </p:nvCxnSpPr>
        <p:spPr>
          <a:xfrm rot="10800000">
            <a:off x="2849165" y="3419131"/>
            <a:ext cx="939806" cy="1225812"/>
          </a:xfrm>
          <a:prstGeom prst="bent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474F22E-3DDE-7232-337B-07D6B5423287}"/>
              </a:ext>
            </a:extLst>
          </p:cNvPr>
          <p:cNvCxnSpPr>
            <a:cxnSpLocks/>
            <a:stCxn id="37" idx="1"/>
            <a:endCxn id="11" idx="3"/>
          </p:cNvCxnSpPr>
          <p:nvPr/>
        </p:nvCxnSpPr>
        <p:spPr>
          <a:xfrm flipH="1" flipV="1">
            <a:off x="2365772" y="3287406"/>
            <a:ext cx="305103" cy="2077"/>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Rounded Corners 103">
            <a:extLst>
              <a:ext uri="{FF2B5EF4-FFF2-40B4-BE49-F238E27FC236}">
                <a16:creationId xmlns:a16="http://schemas.microsoft.com/office/drawing/2014/main" id="{16460989-98C7-DCC2-E6DD-BA5A134C1C99}"/>
              </a:ext>
            </a:extLst>
          </p:cNvPr>
          <p:cNvSpPr/>
          <p:nvPr/>
        </p:nvSpPr>
        <p:spPr>
          <a:xfrm>
            <a:off x="3033694" y="3622863"/>
            <a:ext cx="724943" cy="186513"/>
          </a:xfrm>
          <a:prstGeom prst="roundRect">
            <a:avLst/>
          </a:prstGeom>
          <a:solidFill>
            <a:srgbClr val="00B0F0"/>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700">
                <a:solidFill>
                  <a:schemeClr val="bg1"/>
                </a:solidFill>
              </a:rPr>
              <a:t>state </a:t>
            </a:r>
            <a:r>
              <a:rPr lang="en-US" sz="700" err="1">
                <a:solidFill>
                  <a:schemeClr val="bg1"/>
                </a:solidFill>
              </a:rPr>
              <a:t>xpaths</a:t>
            </a:r>
            <a:endParaRPr lang="en-US" sz="700">
              <a:solidFill>
                <a:schemeClr val="bg1"/>
              </a:solidFill>
            </a:endParaRPr>
          </a:p>
        </p:txBody>
      </p:sp>
      <p:sp>
        <p:nvSpPr>
          <p:cNvPr id="42" name="Rectangle: Rounded Corners 103">
            <a:extLst>
              <a:ext uri="{FF2B5EF4-FFF2-40B4-BE49-F238E27FC236}">
                <a16:creationId xmlns:a16="http://schemas.microsoft.com/office/drawing/2014/main" id="{61A0415C-0F19-90F2-B4BD-E08312D64CDF}"/>
              </a:ext>
            </a:extLst>
          </p:cNvPr>
          <p:cNvSpPr/>
          <p:nvPr/>
        </p:nvSpPr>
        <p:spPr>
          <a:xfrm>
            <a:off x="3033827" y="3814172"/>
            <a:ext cx="724943" cy="186513"/>
          </a:xfrm>
          <a:prstGeom prst="roundRect">
            <a:avLst/>
          </a:prstGeom>
          <a:solidFill>
            <a:srgbClr val="00B0F0"/>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700">
                <a:solidFill>
                  <a:schemeClr val="bg1"/>
                </a:solidFill>
              </a:rPr>
              <a:t>state alarms</a:t>
            </a:r>
          </a:p>
        </p:txBody>
      </p:sp>
      <p:sp>
        <p:nvSpPr>
          <p:cNvPr id="43" name="Rectangle: Rounded Corners 103">
            <a:extLst>
              <a:ext uri="{FF2B5EF4-FFF2-40B4-BE49-F238E27FC236}">
                <a16:creationId xmlns:a16="http://schemas.microsoft.com/office/drawing/2014/main" id="{34693BED-3381-616F-14F0-6AB06A0D5271}"/>
              </a:ext>
            </a:extLst>
          </p:cNvPr>
          <p:cNvSpPr/>
          <p:nvPr/>
        </p:nvSpPr>
        <p:spPr>
          <a:xfrm>
            <a:off x="2608035" y="4153806"/>
            <a:ext cx="724943" cy="186513"/>
          </a:xfrm>
          <a:prstGeom prst="roundRect">
            <a:avLst/>
          </a:prstGeom>
          <a:solidFill>
            <a:srgbClr val="00B0F0"/>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700">
                <a:solidFill>
                  <a:schemeClr val="bg1"/>
                </a:solidFill>
              </a:rPr>
              <a:t>stat </a:t>
            </a:r>
            <a:r>
              <a:rPr lang="en-US" sz="700" err="1">
                <a:solidFill>
                  <a:schemeClr val="bg1"/>
                </a:solidFill>
              </a:rPr>
              <a:t>xpaths</a:t>
            </a:r>
            <a:endParaRPr lang="en-US" sz="700">
              <a:solidFill>
                <a:schemeClr val="bg1"/>
              </a:solidFill>
            </a:endParaRPr>
          </a:p>
        </p:txBody>
      </p:sp>
      <p:sp>
        <p:nvSpPr>
          <p:cNvPr id="44" name="Rectangle: Rounded Corners 103">
            <a:extLst>
              <a:ext uri="{FF2B5EF4-FFF2-40B4-BE49-F238E27FC236}">
                <a16:creationId xmlns:a16="http://schemas.microsoft.com/office/drawing/2014/main" id="{00AC1ED0-6ACE-59B0-23C8-CE600BE5BDDB}"/>
              </a:ext>
            </a:extLst>
          </p:cNvPr>
          <p:cNvSpPr/>
          <p:nvPr/>
        </p:nvSpPr>
        <p:spPr>
          <a:xfrm>
            <a:off x="9860350" y="1331243"/>
            <a:ext cx="466592" cy="140721"/>
          </a:xfrm>
          <a:prstGeom prst="roundRect">
            <a:avLst/>
          </a:prstGeom>
          <a:solidFill>
            <a:srgbClr val="0070C0"/>
          </a:solidFill>
          <a:ln>
            <a:solidFill>
              <a:srgbClr val="0070C0"/>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sz="1000">
              <a:solidFill>
                <a:schemeClr val="bg1"/>
              </a:solidFill>
            </a:endParaRPr>
          </a:p>
        </p:txBody>
      </p:sp>
      <p:sp>
        <p:nvSpPr>
          <p:cNvPr id="45" name="TextBox 44">
            <a:extLst>
              <a:ext uri="{FF2B5EF4-FFF2-40B4-BE49-F238E27FC236}">
                <a16:creationId xmlns:a16="http://schemas.microsoft.com/office/drawing/2014/main" id="{5821CED1-941C-5688-D09E-9F7AA4EA9165}"/>
              </a:ext>
            </a:extLst>
          </p:cNvPr>
          <p:cNvSpPr txBox="1"/>
          <p:nvPr/>
        </p:nvSpPr>
        <p:spPr>
          <a:xfrm>
            <a:off x="10337372" y="1296511"/>
            <a:ext cx="990977" cy="200055"/>
          </a:xfrm>
          <a:prstGeom prst="rect">
            <a:avLst/>
          </a:prstGeom>
          <a:noFill/>
        </p:spPr>
        <p:txBody>
          <a:bodyPr wrap="none" rtlCol="0">
            <a:spAutoFit/>
          </a:bodyPr>
          <a:lstStyle/>
          <a:p>
            <a:r>
              <a:rPr lang="en-US" sz="700"/>
              <a:t>new </a:t>
            </a:r>
            <a:r>
              <a:rPr lang="en-US" sz="700" err="1"/>
              <a:t>SONiC</a:t>
            </a:r>
            <a:r>
              <a:rPr lang="en-US" sz="700"/>
              <a:t> process</a:t>
            </a:r>
          </a:p>
        </p:txBody>
      </p:sp>
      <p:sp>
        <p:nvSpPr>
          <p:cNvPr id="46" name="Rectangle: Rounded Corners 103">
            <a:extLst>
              <a:ext uri="{FF2B5EF4-FFF2-40B4-BE49-F238E27FC236}">
                <a16:creationId xmlns:a16="http://schemas.microsoft.com/office/drawing/2014/main" id="{FD8E8884-4A9A-DE96-EAD1-F0A0766155CB}"/>
              </a:ext>
            </a:extLst>
          </p:cNvPr>
          <p:cNvSpPr/>
          <p:nvPr/>
        </p:nvSpPr>
        <p:spPr>
          <a:xfrm>
            <a:off x="9860350" y="1554998"/>
            <a:ext cx="466592" cy="140721"/>
          </a:xfrm>
          <a:prstGeom prst="roundRect">
            <a:avLst/>
          </a:prstGeom>
          <a:solidFill>
            <a:schemeClr val="bg1"/>
          </a:solidFill>
          <a:ln>
            <a:solidFill>
              <a:srgbClr val="0070C0"/>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sz="1000">
              <a:solidFill>
                <a:schemeClr val="bg1"/>
              </a:solidFill>
            </a:endParaRPr>
          </a:p>
        </p:txBody>
      </p:sp>
      <p:sp>
        <p:nvSpPr>
          <p:cNvPr id="47" name="TextBox 46">
            <a:extLst>
              <a:ext uri="{FF2B5EF4-FFF2-40B4-BE49-F238E27FC236}">
                <a16:creationId xmlns:a16="http://schemas.microsoft.com/office/drawing/2014/main" id="{9F318714-5F56-5542-9BD0-A1BB63A6C0F4}"/>
              </a:ext>
            </a:extLst>
          </p:cNvPr>
          <p:cNvSpPr txBox="1"/>
          <p:nvPr/>
        </p:nvSpPr>
        <p:spPr>
          <a:xfrm>
            <a:off x="10337372" y="1526390"/>
            <a:ext cx="1130438" cy="200055"/>
          </a:xfrm>
          <a:prstGeom prst="rect">
            <a:avLst/>
          </a:prstGeom>
          <a:noFill/>
        </p:spPr>
        <p:txBody>
          <a:bodyPr wrap="none" rtlCol="0">
            <a:spAutoFit/>
          </a:bodyPr>
          <a:lstStyle/>
          <a:p>
            <a:r>
              <a:rPr lang="en-US" sz="700"/>
              <a:t>existing </a:t>
            </a:r>
            <a:r>
              <a:rPr lang="en-US" sz="700" err="1"/>
              <a:t>SONiC</a:t>
            </a:r>
            <a:r>
              <a:rPr lang="en-US" sz="700"/>
              <a:t> process</a:t>
            </a:r>
          </a:p>
        </p:txBody>
      </p:sp>
      <p:sp>
        <p:nvSpPr>
          <p:cNvPr id="48" name="Rectangle: Rounded Corners 103">
            <a:extLst>
              <a:ext uri="{FF2B5EF4-FFF2-40B4-BE49-F238E27FC236}">
                <a16:creationId xmlns:a16="http://schemas.microsoft.com/office/drawing/2014/main" id="{8C423492-237E-D641-49D7-ACA61EE4274E}"/>
              </a:ext>
            </a:extLst>
          </p:cNvPr>
          <p:cNvSpPr/>
          <p:nvPr/>
        </p:nvSpPr>
        <p:spPr>
          <a:xfrm>
            <a:off x="9860350" y="1778753"/>
            <a:ext cx="466592" cy="140721"/>
          </a:xfrm>
          <a:prstGeom prst="roundRect">
            <a:avLst/>
          </a:prstGeom>
          <a:solidFill>
            <a:schemeClr val="bg1"/>
          </a:solidFill>
          <a:ln>
            <a:solidFill>
              <a:srgbClr val="0070C0"/>
            </a:solidFill>
            <a:prstDash val="dash"/>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sz="1000">
              <a:solidFill>
                <a:schemeClr val="bg1"/>
              </a:solidFill>
            </a:endParaRPr>
          </a:p>
        </p:txBody>
      </p:sp>
      <p:sp>
        <p:nvSpPr>
          <p:cNvPr id="49" name="TextBox 48">
            <a:extLst>
              <a:ext uri="{FF2B5EF4-FFF2-40B4-BE49-F238E27FC236}">
                <a16:creationId xmlns:a16="http://schemas.microsoft.com/office/drawing/2014/main" id="{19ABA8ED-3460-75AD-FE5A-7BA9E5C12586}"/>
              </a:ext>
            </a:extLst>
          </p:cNvPr>
          <p:cNvSpPr txBox="1"/>
          <p:nvPr/>
        </p:nvSpPr>
        <p:spPr>
          <a:xfrm>
            <a:off x="10337372" y="1743462"/>
            <a:ext cx="1043876" cy="200055"/>
          </a:xfrm>
          <a:prstGeom prst="rect">
            <a:avLst/>
          </a:prstGeom>
          <a:noFill/>
        </p:spPr>
        <p:txBody>
          <a:bodyPr wrap="none" rtlCol="0">
            <a:spAutoFit/>
          </a:bodyPr>
          <a:lstStyle/>
          <a:p>
            <a:r>
              <a:rPr lang="en-US" sz="700" dirty="0"/>
              <a:t>new </a:t>
            </a:r>
            <a:r>
              <a:rPr lang="en-US" sz="700" dirty="0" err="1"/>
              <a:t>SONiC</a:t>
            </a:r>
            <a:r>
              <a:rPr lang="en-US" sz="700" dirty="0"/>
              <a:t> container</a:t>
            </a:r>
          </a:p>
        </p:txBody>
      </p:sp>
      <p:sp>
        <p:nvSpPr>
          <p:cNvPr id="50" name="Rectangle: Rounded Corners 103">
            <a:extLst>
              <a:ext uri="{FF2B5EF4-FFF2-40B4-BE49-F238E27FC236}">
                <a16:creationId xmlns:a16="http://schemas.microsoft.com/office/drawing/2014/main" id="{3B3807BE-9F3A-D1F4-CBBF-E2FC720EB770}"/>
              </a:ext>
            </a:extLst>
          </p:cNvPr>
          <p:cNvSpPr/>
          <p:nvPr/>
        </p:nvSpPr>
        <p:spPr>
          <a:xfrm>
            <a:off x="9860350" y="2002509"/>
            <a:ext cx="487447" cy="186513"/>
          </a:xfrm>
          <a:prstGeom prst="roundRect">
            <a:avLst/>
          </a:prstGeom>
          <a:solidFill>
            <a:srgbClr val="00B0F0"/>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sz="700">
              <a:solidFill>
                <a:schemeClr val="bg1"/>
              </a:solidFill>
            </a:endParaRPr>
          </a:p>
        </p:txBody>
      </p:sp>
      <p:sp>
        <p:nvSpPr>
          <p:cNvPr id="51" name="TextBox 50">
            <a:extLst>
              <a:ext uri="{FF2B5EF4-FFF2-40B4-BE49-F238E27FC236}">
                <a16:creationId xmlns:a16="http://schemas.microsoft.com/office/drawing/2014/main" id="{2D8D6C3A-26D5-67C8-AB07-32BC0EBCAC23}"/>
              </a:ext>
            </a:extLst>
          </p:cNvPr>
          <p:cNvSpPr txBox="1"/>
          <p:nvPr/>
        </p:nvSpPr>
        <p:spPr>
          <a:xfrm>
            <a:off x="10337372" y="1995737"/>
            <a:ext cx="1309974" cy="200055"/>
          </a:xfrm>
          <a:prstGeom prst="rect">
            <a:avLst/>
          </a:prstGeom>
          <a:noFill/>
        </p:spPr>
        <p:txBody>
          <a:bodyPr wrap="none" rtlCol="0">
            <a:spAutoFit/>
          </a:bodyPr>
          <a:lstStyle/>
          <a:p>
            <a:r>
              <a:rPr lang="en-US" sz="700"/>
              <a:t>new </a:t>
            </a:r>
            <a:r>
              <a:rPr lang="en-US" sz="700" err="1"/>
              <a:t>SONiC</a:t>
            </a:r>
            <a:r>
              <a:rPr lang="en-US" sz="700"/>
              <a:t> API/model/code</a:t>
            </a:r>
          </a:p>
        </p:txBody>
      </p:sp>
      <p:sp>
        <p:nvSpPr>
          <p:cNvPr id="52" name="Rectangle: Rounded Corners 103">
            <a:extLst>
              <a:ext uri="{FF2B5EF4-FFF2-40B4-BE49-F238E27FC236}">
                <a16:creationId xmlns:a16="http://schemas.microsoft.com/office/drawing/2014/main" id="{53455CFD-B3E8-5B7C-8096-F1536146B634}"/>
              </a:ext>
            </a:extLst>
          </p:cNvPr>
          <p:cNvSpPr/>
          <p:nvPr/>
        </p:nvSpPr>
        <p:spPr>
          <a:xfrm>
            <a:off x="9860350" y="2265794"/>
            <a:ext cx="487447" cy="186513"/>
          </a:xfrm>
          <a:prstGeom prst="roundRect">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sz="700">
              <a:solidFill>
                <a:schemeClr val="bg1"/>
              </a:solidFill>
            </a:endParaRPr>
          </a:p>
        </p:txBody>
      </p:sp>
      <p:sp>
        <p:nvSpPr>
          <p:cNvPr id="53" name="TextBox 52">
            <a:extLst>
              <a:ext uri="{FF2B5EF4-FFF2-40B4-BE49-F238E27FC236}">
                <a16:creationId xmlns:a16="http://schemas.microsoft.com/office/drawing/2014/main" id="{CB02EC5B-AFBD-C400-D9EB-5A041FE71F40}"/>
              </a:ext>
            </a:extLst>
          </p:cNvPr>
          <p:cNvSpPr txBox="1"/>
          <p:nvPr/>
        </p:nvSpPr>
        <p:spPr>
          <a:xfrm>
            <a:off x="10355080" y="2259022"/>
            <a:ext cx="1117614" cy="200055"/>
          </a:xfrm>
          <a:prstGeom prst="rect">
            <a:avLst/>
          </a:prstGeom>
          <a:noFill/>
        </p:spPr>
        <p:txBody>
          <a:bodyPr wrap="none" rtlCol="0">
            <a:spAutoFit/>
          </a:bodyPr>
          <a:lstStyle/>
          <a:p>
            <a:r>
              <a:rPr lang="en-US" sz="700"/>
              <a:t>new vendor component</a:t>
            </a:r>
          </a:p>
        </p:txBody>
      </p:sp>
      <p:cxnSp>
        <p:nvCxnSpPr>
          <p:cNvPr id="54" name="Elbow Connector 53">
            <a:extLst>
              <a:ext uri="{FF2B5EF4-FFF2-40B4-BE49-F238E27FC236}">
                <a16:creationId xmlns:a16="http://schemas.microsoft.com/office/drawing/2014/main" id="{99502498-AC2E-A272-BC58-43E93AB2EEEB}"/>
              </a:ext>
            </a:extLst>
          </p:cNvPr>
          <p:cNvCxnSpPr>
            <a:cxnSpLocks/>
            <a:stCxn id="33" idx="0"/>
            <a:endCxn id="26" idx="4"/>
          </p:cNvCxnSpPr>
          <p:nvPr/>
        </p:nvCxnSpPr>
        <p:spPr>
          <a:xfrm rot="16200000" flipH="1" flipV="1">
            <a:off x="6503230" y="2963498"/>
            <a:ext cx="282293" cy="3080595"/>
          </a:xfrm>
          <a:prstGeom prst="bentConnector4">
            <a:avLst>
              <a:gd name="adj1" fmla="val -71564"/>
              <a:gd name="adj2" fmla="val 54668"/>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5" name="Rectangle: Rounded Corners 103">
            <a:extLst>
              <a:ext uri="{FF2B5EF4-FFF2-40B4-BE49-F238E27FC236}">
                <a16:creationId xmlns:a16="http://schemas.microsoft.com/office/drawing/2014/main" id="{6E64A0DE-7DDE-4922-2D05-ED56F937308C}"/>
              </a:ext>
            </a:extLst>
          </p:cNvPr>
          <p:cNvSpPr/>
          <p:nvPr/>
        </p:nvSpPr>
        <p:spPr>
          <a:xfrm>
            <a:off x="2608034" y="4340319"/>
            <a:ext cx="724943" cy="186513"/>
          </a:xfrm>
          <a:prstGeom prst="roundRect">
            <a:avLst/>
          </a:prstGeom>
          <a:solidFill>
            <a:srgbClr val="00B0F0"/>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700">
                <a:solidFill>
                  <a:schemeClr val="bg1"/>
                </a:solidFill>
              </a:rPr>
              <a:t>stats alarms</a:t>
            </a:r>
          </a:p>
        </p:txBody>
      </p:sp>
      <p:sp>
        <p:nvSpPr>
          <p:cNvPr id="57" name="Title 1">
            <a:extLst>
              <a:ext uri="{FF2B5EF4-FFF2-40B4-BE49-F238E27FC236}">
                <a16:creationId xmlns:a16="http://schemas.microsoft.com/office/drawing/2014/main" id="{45624514-1E34-F393-3018-76B12F88272F}"/>
              </a:ext>
            </a:extLst>
          </p:cNvPr>
          <p:cNvSpPr>
            <a:spLocks noGrp="1"/>
          </p:cNvSpPr>
          <p:nvPr>
            <p:ph type="title"/>
          </p:nvPr>
        </p:nvSpPr>
        <p:spPr>
          <a:xfrm>
            <a:off x="1051560" y="0"/>
            <a:ext cx="10471034" cy="1014984"/>
          </a:xfrm>
        </p:spPr>
        <p:txBody>
          <a:bodyPr>
            <a:normAutofit/>
          </a:bodyPr>
          <a:lstStyle/>
          <a:p>
            <a:pPr>
              <a:defRPr sz="3600"/>
            </a:pPr>
            <a:r>
              <a:rPr lang="en-US" sz="3600" err="1"/>
              <a:t>SONiC</a:t>
            </a:r>
            <a:r>
              <a:rPr lang="en-US" sz="3600"/>
              <a:t> PON Integration – High-Level Architecture</a:t>
            </a:r>
          </a:p>
        </p:txBody>
      </p:sp>
      <p:sp>
        <p:nvSpPr>
          <p:cNvPr id="58" name="Can 57">
            <a:extLst>
              <a:ext uri="{FF2B5EF4-FFF2-40B4-BE49-F238E27FC236}">
                <a16:creationId xmlns:a16="http://schemas.microsoft.com/office/drawing/2014/main" id="{9A75F59A-6BD0-D833-3B6F-E21A10101CAC}"/>
              </a:ext>
            </a:extLst>
          </p:cNvPr>
          <p:cNvSpPr/>
          <p:nvPr/>
        </p:nvSpPr>
        <p:spPr>
          <a:xfrm>
            <a:off x="3788971" y="4863157"/>
            <a:ext cx="1315108" cy="283581"/>
          </a:xfrm>
          <a:prstGeom prst="can">
            <a:avLst/>
          </a:prstGeom>
          <a:ln>
            <a:solidFill>
              <a:srgbClr val="0070C0"/>
            </a:solidFill>
          </a:ln>
        </p:spPr>
        <p:style>
          <a:lnRef idx="2">
            <a:schemeClr val="accent4"/>
          </a:lnRef>
          <a:fillRef idx="1">
            <a:schemeClr val="lt1"/>
          </a:fillRef>
          <a:effectRef idx="0">
            <a:schemeClr val="accent4"/>
          </a:effectRef>
          <a:fontRef idx="minor">
            <a:schemeClr val="dk1"/>
          </a:fontRef>
        </p:style>
        <p:txBody>
          <a:bodyPr rtlCol="0" anchor="ctr">
            <a:noAutofit/>
          </a:bodyPr>
          <a:lstStyle/>
          <a:p>
            <a:pPr marL="0" marR="0" indent="0" algn="ctr" defTabSz="228520" eaLnBrk="1" fontAlgn="auto" latinLnBrk="0" hangingPunct="1">
              <a:lnSpc>
                <a:spcPct val="100000"/>
              </a:lnSpc>
              <a:spcBef>
                <a:spcPts val="0"/>
              </a:spcBef>
              <a:spcAft>
                <a:spcPts val="0"/>
              </a:spcAft>
              <a:buClrTx/>
              <a:buSzTx/>
              <a:buFontTx/>
              <a:buNone/>
              <a:tabLst/>
            </a:pPr>
            <a:r>
              <a:rPr kumimoji="0" lang="en-US" sz="800" b="0" i="0" u="none" strike="noStrike" kern="0" cap="none" spc="0" normalizeH="0" baseline="0" noProof="0" dirty="0">
                <a:ln>
                  <a:noFill/>
                </a:ln>
                <a:solidFill>
                  <a:schemeClr val="tx1"/>
                </a:solidFill>
                <a:effectLst/>
                <a:uLnTx/>
                <a:uFillTx/>
                <a:latin typeface="+mj-lt"/>
                <a:ea typeface="+mn-ea"/>
                <a:cs typeface="+mn-cs"/>
              </a:rPr>
              <a:t>PON_FLEX_COUNTER_DB</a:t>
            </a:r>
          </a:p>
        </p:txBody>
      </p:sp>
      <p:cxnSp>
        <p:nvCxnSpPr>
          <p:cNvPr id="59" name="Elbow Connector 58">
            <a:extLst>
              <a:ext uri="{FF2B5EF4-FFF2-40B4-BE49-F238E27FC236}">
                <a16:creationId xmlns:a16="http://schemas.microsoft.com/office/drawing/2014/main" id="{296788F3-9E98-004A-BEA8-22EBC1F28C2B}"/>
              </a:ext>
            </a:extLst>
          </p:cNvPr>
          <p:cNvCxnSpPr>
            <a:cxnSpLocks/>
            <a:stCxn id="33" idx="0"/>
            <a:endCxn id="58" idx="4"/>
          </p:cNvCxnSpPr>
          <p:nvPr/>
        </p:nvCxnSpPr>
        <p:spPr>
          <a:xfrm rot="16200000" flipH="1" flipV="1">
            <a:off x="6323228" y="3143501"/>
            <a:ext cx="642298" cy="3080595"/>
          </a:xfrm>
          <a:prstGeom prst="bentConnector4">
            <a:avLst>
              <a:gd name="adj1" fmla="val -32181"/>
              <a:gd name="adj2" fmla="val 54668"/>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0988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ACEFC-97FD-7CDC-0FD4-BDA6C65C05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5203D-3A9D-782F-7F7F-D78876F5D0C9}"/>
              </a:ext>
            </a:extLst>
          </p:cNvPr>
          <p:cNvSpPr>
            <a:spLocks noGrp="1"/>
          </p:cNvSpPr>
          <p:nvPr>
            <p:ph type="title"/>
          </p:nvPr>
        </p:nvSpPr>
        <p:spPr/>
        <p:txBody>
          <a:bodyPr>
            <a:normAutofit/>
          </a:bodyPr>
          <a:lstStyle/>
          <a:p>
            <a:pPr>
              <a:defRPr sz="3600"/>
            </a:pPr>
            <a:r>
              <a:rPr lang="en-US" sz="3600"/>
              <a:t>Architectural Goals</a:t>
            </a:r>
          </a:p>
        </p:txBody>
      </p:sp>
      <p:sp>
        <p:nvSpPr>
          <p:cNvPr id="3" name="Content Placeholder 2">
            <a:extLst>
              <a:ext uri="{FF2B5EF4-FFF2-40B4-BE49-F238E27FC236}">
                <a16:creationId xmlns:a16="http://schemas.microsoft.com/office/drawing/2014/main" id="{29915B3E-3616-02BC-6C85-356697899A57}"/>
              </a:ext>
            </a:extLst>
          </p:cNvPr>
          <p:cNvSpPr>
            <a:spLocks noGrp="1"/>
          </p:cNvSpPr>
          <p:nvPr>
            <p:ph idx="1"/>
          </p:nvPr>
        </p:nvSpPr>
        <p:spPr>
          <a:xfrm>
            <a:off x="838200" y="1690688"/>
            <a:ext cx="10515600" cy="4351338"/>
          </a:xfrm>
        </p:spPr>
        <p:txBody>
          <a:bodyPr>
            <a:normAutofit fontScale="70000" lnSpcReduction="20000"/>
          </a:bodyPr>
          <a:lstStyle/>
          <a:p>
            <a:r>
              <a:rPr lang="en-US" dirty="0"/>
              <a:t>Introduce PON capabilities with no impact on non-PON deployments</a:t>
            </a:r>
          </a:p>
          <a:p>
            <a:pPr lvl="1"/>
            <a:r>
              <a:rPr lang="en-US" dirty="0"/>
              <a:t>Minimal changes to existing code</a:t>
            </a:r>
          </a:p>
          <a:p>
            <a:pPr lvl="1"/>
            <a:r>
              <a:rPr lang="en-US" dirty="0"/>
              <a:t>Zero resource cost for deployments that don’t need PON</a:t>
            </a:r>
          </a:p>
          <a:p>
            <a:pPr lvl="2"/>
            <a:r>
              <a:rPr lang="en-US" dirty="0"/>
              <a:t>Optional containers</a:t>
            </a:r>
          </a:p>
          <a:p>
            <a:pPr lvl="2"/>
            <a:r>
              <a:rPr lang="en-US" dirty="0"/>
              <a:t>No system resources used unless PON enabled</a:t>
            </a:r>
          </a:p>
          <a:p>
            <a:r>
              <a:rPr lang="en-US" dirty="0"/>
              <a:t>Full PON – residential broadband, </a:t>
            </a:r>
            <a:r>
              <a:rPr lang="en-US" dirty="0" err="1"/>
              <a:t>etc</a:t>
            </a:r>
            <a:r>
              <a:rPr lang="en-US" dirty="0"/>
              <a:t> – includes a large feature set.  This project aims to enable only the subset that’s relevant to datacenter applications, specifically out of band management networks for GPUs, servers, and other infrastructure.</a:t>
            </a:r>
          </a:p>
          <a:p>
            <a:r>
              <a:rPr lang="en-US" dirty="0"/>
              <a:t>Note on scaling: PON topologies scale in the number of OLT interfaces and the number of ONUs per interface.</a:t>
            </a:r>
          </a:p>
          <a:p>
            <a:pPr lvl="1"/>
            <a:r>
              <a:rPr lang="en-US" dirty="0"/>
              <a:t>There are various tradeoffs involved (fiber plant size, splitter density, TDM versus bandwidth, </a:t>
            </a:r>
            <a:r>
              <a:rPr lang="en-US" dirty="0" err="1"/>
              <a:t>etc</a:t>
            </a:r>
            <a:r>
              <a:rPr lang="en-US" dirty="0"/>
              <a:t>).</a:t>
            </a:r>
          </a:p>
          <a:p>
            <a:pPr lvl="1"/>
            <a:r>
              <a:rPr lang="en-US" dirty="0"/>
              <a:t>The specific scaling behavior of any given platform will depend on the deployment requirements for that platform.</a:t>
            </a:r>
          </a:p>
          <a:p>
            <a:pPr lvl="1"/>
            <a:r>
              <a:rPr lang="en-US" dirty="0"/>
              <a:t>As an example, current realistic deployment models use 36-48 OLT interfaces, with 76-128 ONUs per OLT interface.</a:t>
            </a:r>
          </a:p>
          <a:p>
            <a:pPr lvl="1"/>
            <a:r>
              <a:rPr lang="en-US" dirty="0"/>
              <a:t>The platform’s compute capacity will need to be sized accordingly – this is a vendor or system design constraint.</a:t>
            </a:r>
          </a:p>
        </p:txBody>
      </p:sp>
    </p:spTree>
    <p:extLst>
      <p:ext uri="{BB962C8B-B14F-4D97-AF65-F5344CB8AC3E}">
        <p14:creationId xmlns:p14="http://schemas.microsoft.com/office/powerpoint/2010/main" val="3997022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35E70-FB75-DA32-80B1-1AE5D70671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BFEE0-C80F-ED32-7195-C0DBF8E3A8D4}"/>
              </a:ext>
            </a:extLst>
          </p:cNvPr>
          <p:cNvSpPr>
            <a:spLocks noGrp="1"/>
          </p:cNvSpPr>
          <p:nvPr>
            <p:ph type="title"/>
          </p:nvPr>
        </p:nvSpPr>
        <p:spPr/>
        <p:txBody>
          <a:bodyPr>
            <a:normAutofit/>
          </a:bodyPr>
          <a:lstStyle/>
          <a:p>
            <a:pPr>
              <a:defRPr sz="3600"/>
            </a:pPr>
            <a:r>
              <a:rPr lang="en-US" sz="3600"/>
              <a:t>Container: docker-</a:t>
            </a:r>
            <a:r>
              <a:rPr lang="en-US" sz="3600" err="1"/>
              <a:t>pon</a:t>
            </a:r>
            <a:r>
              <a:rPr lang="en-US" sz="3600"/>
              <a:t>-manager</a:t>
            </a:r>
          </a:p>
        </p:txBody>
      </p:sp>
      <p:sp>
        <p:nvSpPr>
          <p:cNvPr id="3" name="Content Placeholder 2">
            <a:extLst>
              <a:ext uri="{FF2B5EF4-FFF2-40B4-BE49-F238E27FC236}">
                <a16:creationId xmlns:a16="http://schemas.microsoft.com/office/drawing/2014/main" id="{362CE933-43D9-234A-C5AF-47D6C33F0D09}"/>
              </a:ext>
            </a:extLst>
          </p:cNvPr>
          <p:cNvSpPr>
            <a:spLocks noGrp="1"/>
          </p:cNvSpPr>
          <p:nvPr>
            <p:ph idx="1"/>
          </p:nvPr>
        </p:nvSpPr>
        <p:spPr/>
        <p:txBody>
          <a:bodyPr>
            <a:normAutofit/>
          </a:bodyPr>
          <a:lstStyle/>
          <a:p>
            <a:pPr>
              <a:defRPr sz="1960"/>
            </a:pPr>
            <a:r>
              <a:rPr lang="en-US" sz="1960"/>
              <a:t>Houses </a:t>
            </a:r>
            <a:r>
              <a:rPr lang="en-US" sz="1960" err="1"/>
              <a:t>ponmgrd</a:t>
            </a:r>
            <a:r>
              <a:rPr lang="en-US" sz="1960"/>
              <a:t> which handles CONF_DB -&gt; APPL_DB.  Vendor agnostic.</a:t>
            </a:r>
          </a:p>
          <a:p>
            <a:pPr lvl="1">
              <a:defRPr sz="1680"/>
            </a:pPr>
            <a:r>
              <a:rPr lang="en-US" sz="1680"/>
              <a:t>All new tables – no modifications to existing tables.  Table prefix PON_* (PON_CONTROLLER, PON_OLT_INTF, </a:t>
            </a:r>
            <a:r>
              <a:rPr lang="en-US" sz="1680" err="1"/>
              <a:t>etc</a:t>
            </a:r>
            <a:r>
              <a:rPr lang="en-US" sz="1680"/>
              <a:t>)</a:t>
            </a:r>
          </a:p>
          <a:p>
            <a:pPr>
              <a:defRPr sz="1960"/>
            </a:pPr>
            <a:r>
              <a:rPr lang="en-US" sz="1960"/>
              <a:t>Also houses </a:t>
            </a:r>
            <a:r>
              <a:rPr lang="en-US" sz="1960" err="1"/>
              <a:t>ponprotd</a:t>
            </a:r>
            <a:r>
              <a:rPr lang="en-US" sz="1960"/>
              <a:t>, which handles the Dual Homed PON Gateway function – details for this are covered by another HLD</a:t>
            </a:r>
          </a:p>
        </p:txBody>
      </p:sp>
    </p:spTree>
    <p:extLst>
      <p:ext uri="{BB962C8B-B14F-4D97-AF65-F5344CB8AC3E}">
        <p14:creationId xmlns:p14="http://schemas.microsoft.com/office/powerpoint/2010/main" val="3505004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8A9E1-4A5F-3058-A2E4-752164EB1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5DFC0-D487-C24D-1F71-075B4AED9682}"/>
              </a:ext>
            </a:extLst>
          </p:cNvPr>
          <p:cNvSpPr>
            <a:spLocks noGrp="1"/>
          </p:cNvSpPr>
          <p:nvPr>
            <p:ph type="title"/>
          </p:nvPr>
        </p:nvSpPr>
        <p:spPr/>
        <p:txBody>
          <a:bodyPr>
            <a:normAutofit/>
          </a:bodyPr>
          <a:lstStyle/>
          <a:p>
            <a:pPr>
              <a:defRPr sz="3600"/>
            </a:pPr>
            <a:r>
              <a:rPr lang="en-US" sz="3600" err="1"/>
              <a:t>PonOrch</a:t>
            </a:r>
            <a:endParaRPr lang="en-US"/>
          </a:p>
        </p:txBody>
      </p:sp>
      <p:sp>
        <p:nvSpPr>
          <p:cNvPr id="3" name="Content Placeholder 2">
            <a:extLst>
              <a:ext uri="{FF2B5EF4-FFF2-40B4-BE49-F238E27FC236}">
                <a16:creationId xmlns:a16="http://schemas.microsoft.com/office/drawing/2014/main" id="{0E3428C5-5F9C-2C40-22D5-629BD872B2B7}"/>
              </a:ext>
            </a:extLst>
          </p:cNvPr>
          <p:cNvSpPr>
            <a:spLocks noGrp="1"/>
          </p:cNvSpPr>
          <p:nvPr>
            <p:ph idx="1"/>
          </p:nvPr>
        </p:nvSpPr>
        <p:spPr/>
        <p:txBody>
          <a:bodyPr>
            <a:normAutofit/>
          </a:bodyPr>
          <a:lstStyle/>
          <a:p>
            <a:pPr>
              <a:defRPr sz="1960"/>
            </a:pPr>
            <a:r>
              <a:rPr lang="en-US" sz="1960"/>
              <a:t>Orch subclass responsible for APPL_DB -&gt; </a:t>
            </a:r>
            <a:r>
              <a:rPr lang="en-US" sz="1960" err="1"/>
              <a:t>sairedis</a:t>
            </a:r>
            <a:r>
              <a:rPr lang="en-US" sz="1960"/>
              <a:t> interaction for APPL_DB PON_* tables</a:t>
            </a:r>
          </a:p>
          <a:p>
            <a:pPr>
              <a:defRPr sz="1960"/>
            </a:pPr>
            <a:r>
              <a:rPr lang="en-US" sz="1960"/>
              <a:t>This code will reside in SWSS along side other </a:t>
            </a:r>
            <a:r>
              <a:rPr lang="en-US" sz="1960" err="1"/>
              <a:t>orch</a:t>
            </a:r>
            <a:r>
              <a:rPr lang="en-US" sz="1960"/>
              <a:t> components, dormant outside of PON deployments</a:t>
            </a:r>
          </a:p>
          <a:p>
            <a:pPr>
              <a:defRPr sz="1960"/>
            </a:pPr>
            <a:r>
              <a:rPr lang="en-US" sz="1960"/>
              <a:t>Vendor agnostic</a:t>
            </a:r>
          </a:p>
          <a:p>
            <a:pPr lvl="1">
              <a:defRPr sz="1680"/>
            </a:pPr>
            <a:r>
              <a:rPr lang="en-US" sz="1680"/>
              <a:t>Will use </a:t>
            </a:r>
            <a:r>
              <a:rPr lang="en-US" sz="1680" err="1"/>
              <a:t>sai_query_attribute_capability</a:t>
            </a:r>
            <a:r>
              <a:rPr lang="en-US" sz="1680"/>
              <a:t>() to determine which optional or vendor-specific SAI attributes are supported</a:t>
            </a:r>
          </a:p>
        </p:txBody>
      </p:sp>
    </p:spTree>
    <p:extLst>
      <p:ext uri="{BB962C8B-B14F-4D97-AF65-F5344CB8AC3E}">
        <p14:creationId xmlns:p14="http://schemas.microsoft.com/office/powerpoint/2010/main" val="3607297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84B4D-7F66-8B03-1462-D4BB2EABE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AF81E-B4B5-FC68-BDDD-F6074CD5A127}"/>
              </a:ext>
            </a:extLst>
          </p:cNvPr>
          <p:cNvSpPr>
            <a:spLocks noGrp="1"/>
          </p:cNvSpPr>
          <p:nvPr>
            <p:ph type="title"/>
          </p:nvPr>
        </p:nvSpPr>
        <p:spPr/>
        <p:txBody>
          <a:bodyPr>
            <a:normAutofit/>
          </a:bodyPr>
          <a:lstStyle/>
          <a:p>
            <a:pPr>
              <a:defRPr sz="3600"/>
            </a:pPr>
            <a:r>
              <a:rPr lang="en-US" sz="3600"/>
              <a:t>Container: docker-</a:t>
            </a:r>
            <a:r>
              <a:rPr lang="en-US" sz="3600" err="1"/>
              <a:t>pon</a:t>
            </a:r>
            <a:r>
              <a:rPr lang="en-US" sz="3600"/>
              <a:t>-</a:t>
            </a:r>
            <a:r>
              <a:rPr lang="en-US" sz="3600" err="1"/>
              <a:t>syncd</a:t>
            </a:r>
            <a:endParaRPr lang="en-US"/>
          </a:p>
        </p:txBody>
      </p:sp>
      <p:sp>
        <p:nvSpPr>
          <p:cNvPr id="3" name="Content Placeholder 2">
            <a:extLst>
              <a:ext uri="{FF2B5EF4-FFF2-40B4-BE49-F238E27FC236}">
                <a16:creationId xmlns:a16="http://schemas.microsoft.com/office/drawing/2014/main" id="{75B95029-B091-81E8-81DC-1E154293F6EC}"/>
              </a:ext>
            </a:extLst>
          </p:cNvPr>
          <p:cNvSpPr>
            <a:spLocks noGrp="1"/>
          </p:cNvSpPr>
          <p:nvPr>
            <p:ph idx="1"/>
          </p:nvPr>
        </p:nvSpPr>
        <p:spPr>
          <a:xfrm>
            <a:off x="838200" y="1606607"/>
            <a:ext cx="10515600" cy="4351338"/>
          </a:xfrm>
        </p:spPr>
        <p:txBody>
          <a:bodyPr>
            <a:normAutofit/>
          </a:bodyPr>
          <a:lstStyle/>
          <a:p>
            <a:pPr>
              <a:defRPr sz="1960"/>
            </a:pPr>
            <a:r>
              <a:rPr lang="en-US" sz="1960"/>
              <a:t>Houses </a:t>
            </a:r>
            <a:r>
              <a:rPr lang="en-US" sz="1960" err="1"/>
              <a:t>dcpon-syncd</a:t>
            </a:r>
            <a:endParaRPr lang="en-US" sz="2000"/>
          </a:p>
          <a:p>
            <a:pPr lvl="1">
              <a:defRPr sz="1680"/>
            </a:pPr>
            <a:r>
              <a:rPr lang="en-US" sz="1680"/>
              <a:t>Similar to gearbox – this is a separate instance of the </a:t>
            </a:r>
            <a:r>
              <a:rPr lang="en-US" sz="1680" err="1"/>
              <a:t>syncd</a:t>
            </a:r>
            <a:r>
              <a:rPr lang="en-US" sz="1680"/>
              <a:t> binary, dedicated to the PON HW interaction</a:t>
            </a:r>
          </a:p>
          <a:p>
            <a:pPr>
              <a:defRPr sz="1960"/>
            </a:pPr>
            <a:r>
              <a:rPr lang="en-US" sz="1960"/>
              <a:t>Loads vendor-specific PON SAI extension library</a:t>
            </a:r>
          </a:p>
          <a:p>
            <a:pPr>
              <a:defRPr sz="1960"/>
            </a:pPr>
            <a:r>
              <a:rPr lang="en-US" sz="1960"/>
              <a:t>Consumes </a:t>
            </a:r>
            <a:r>
              <a:rPr lang="en-US" sz="1960" err="1"/>
              <a:t>sai-redis</a:t>
            </a:r>
            <a:r>
              <a:rPr lang="en-US" sz="1960"/>
              <a:t> from PON_ASIC_DB</a:t>
            </a:r>
          </a:p>
          <a:p>
            <a:pPr>
              <a:defRPr sz="1960"/>
            </a:pPr>
            <a:r>
              <a:rPr lang="en-US" sz="1960"/>
              <a:t>Maintains flex counters in PON_COUNTERS_DB and PON_FLEX_COUNTER_DB</a:t>
            </a:r>
          </a:p>
          <a:p>
            <a:pPr>
              <a:defRPr sz="1960"/>
            </a:pPr>
            <a:r>
              <a:rPr lang="en-US" sz="1960"/>
              <a:t>Will use subclasses and other existing extension mechanisms to incorporate PON-specific behaviors – dormant outside of PON deployments</a:t>
            </a:r>
          </a:p>
        </p:txBody>
      </p:sp>
    </p:spTree>
    <p:extLst>
      <p:ext uri="{BB962C8B-B14F-4D97-AF65-F5344CB8AC3E}">
        <p14:creationId xmlns:p14="http://schemas.microsoft.com/office/powerpoint/2010/main" val="4127919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841B6-5F49-6047-DB45-05BF6AD488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AE440-4650-E028-2926-1A083F4AAC17}"/>
              </a:ext>
            </a:extLst>
          </p:cNvPr>
          <p:cNvSpPr>
            <a:spLocks noGrp="1"/>
          </p:cNvSpPr>
          <p:nvPr>
            <p:ph type="title"/>
          </p:nvPr>
        </p:nvSpPr>
        <p:spPr/>
        <p:txBody>
          <a:bodyPr>
            <a:normAutofit/>
          </a:bodyPr>
          <a:lstStyle/>
          <a:p>
            <a:pPr>
              <a:defRPr sz="3600"/>
            </a:pPr>
            <a:r>
              <a:rPr lang="en-US" sz="3600"/>
              <a:t>High Level Container and Deployment Architecture</a:t>
            </a:r>
          </a:p>
        </p:txBody>
      </p:sp>
      <p:sp>
        <p:nvSpPr>
          <p:cNvPr id="3" name="Content Placeholder 2">
            <a:extLst>
              <a:ext uri="{FF2B5EF4-FFF2-40B4-BE49-F238E27FC236}">
                <a16:creationId xmlns:a16="http://schemas.microsoft.com/office/drawing/2014/main" id="{0C61A261-AB72-BE44-2745-00173C8EA09B}"/>
              </a:ext>
            </a:extLst>
          </p:cNvPr>
          <p:cNvSpPr>
            <a:spLocks noGrp="1"/>
          </p:cNvSpPr>
          <p:nvPr>
            <p:ph idx="1"/>
          </p:nvPr>
        </p:nvSpPr>
        <p:spPr/>
        <p:txBody>
          <a:bodyPr>
            <a:normAutofit/>
          </a:bodyPr>
          <a:lstStyle/>
          <a:p>
            <a:pPr>
              <a:defRPr sz="1960"/>
            </a:pPr>
            <a:r>
              <a:rPr lang="en-US" sz="1960"/>
              <a:t>PON functionality will be encapsulated in the two new PON containers</a:t>
            </a:r>
          </a:p>
          <a:p>
            <a:pPr>
              <a:defRPr sz="1960"/>
            </a:pPr>
            <a:r>
              <a:rPr lang="en-US" sz="1960"/>
              <a:t>The docker-</a:t>
            </a:r>
            <a:r>
              <a:rPr lang="en-US" sz="1960" err="1"/>
              <a:t>pon</a:t>
            </a:r>
            <a:r>
              <a:rPr lang="en-US" sz="1960"/>
              <a:t>-manager container is vendor agnostic</a:t>
            </a:r>
          </a:p>
          <a:p>
            <a:pPr>
              <a:defRPr sz="1960"/>
            </a:pPr>
            <a:r>
              <a:rPr lang="en-US" sz="1960"/>
              <a:t>The docker-</a:t>
            </a:r>
            <a:r>
              <a:rPr lang="en-US" sz="1960" err="1"/>
              <a:t>pon</a:t>
            </a:r>
            <a:r>
              <a:rPr lang="en-US" sz="1960"/>
              <a:t>-</a:t>
            </a:r>
            <a:r>
              <a:rPr lang="en-US" sz="1960" err="1"/>
              <a:t>syncd</a:t>
            </a:r>
            <a:r>
              <a:rPr lang="en-US" sz="1960"/>
              <a:t> container is vendor specific, populated with the vendor SAI SDK extension at build time</a:t>
            </a:r>
          </a:p>
          <a:p>
            <a:pPr>
              <a:defRPr sz="1960"/>
            </a:pPr>
            <a:r>
              <a:rPr lang="en-US" sz="1960"/>
              <a:t>The lifecycles of these two containers are coupled – they are only launched on deployments that require them (see next slide)</a:t>
            </a:r>
          </a:p>
        </p:txBody>
      </p:sp>
    </p:spTree>
    <p:extLst>
      <p:ext uri="{BB962C8B-B14F-4D97-AF65-F5344CB8AC3E}">
        <p14:creationId xmlns:p14="http://schemas.microsoft.com/office/powerpoint/2010/main" val="2800312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AFEC-5F9A-ADA7-1681-A351BE8245EF}"/>
              </a:ext>
            </a:extLst>
          </p:cNvPr>
          <p:cNvSpPr>
            <a:spLocks noGrp="1"/>
          </p:cNvSpPr>
          <p:nvPr>
            <p:ph type="title"/>
          </p:nvPr>
        </p:nvSpPr>
        <p:spPr/>
        <p:txBody>
          <a:bodyPr>
            <a:normAutofit/>
          </a:bodyPr>
          <a:lstStyle/>
          <a:p>
            <a:pPr>
              <a:defRPr sz="3600"/>
            </a:pPr>
            <a:r>
              <a:rPr lang="en-US" sz="3600"/>
              <a:t>A Note About Hardware Architecture</a:t>
            </a:r>
          </a:p>
        </p:txBody>
      </p:sp>
      <p:sp>
        <p:nvSpPr>
          <p:cNvPr id="3" name="Content Placeholder 2">
            <a:extLst>
              <a:ext uri="{FF2B5EF4-FFF2-40B4-BE49-F238E27FC236}">
                <a16:creationId xmlns:a16="http://schemas.microsoft.com/office/drawing/2014/main" id="{B53892C8-3867-5073-1C58-F87CA20E66C4}"/>
              </a:ext>
            </a:extLst>
          </p:cNvPr>
          <p:cNvSpPr>
            <a:spLocks noGrp="1"/>
          </p:cNvSpPr>
          <p:nvPr>
            <p:ph idx="1"/>
          </p:nvPr>
        </p:nvSpPr>
        <p:spPr/>
        <p:txBody>
          <a:bodyPr>
            <a:normAutofit/>
          </a:bodyPr>
          <a:lstStyle/>
          <a:p>
            <a:pPr>
              <a:defRPr sz="1960"/>
            </a:pPr>
            <a:r>
              <a:rPr lang="en-US" sz="1960"/>
              <a:t>Some hardware platforms will include an OLT on the platform directly.  These platforms can select vendor SAI SDK based on SKU/platform, in the same way ASIC SAI SDKs are loaded.</a:t>
            </a:r>
          </a:p>
          <a:p>
            <a:pPr>
              <a:defRPr sz="1960"/>
            </a:pPr>
            <a:r>
              <a:rPr lang="en-US" sz="1960"/>
              <a:t>Other hardware platforms may not have native OLTs built into the SKU – these can still use micro-OLT (</a:t>
            </a:r>
            <a:r>
              <a:rPr lang="en-US" sz="1960" err="1"/>
              <a:t>uOLT</a:t>
            </a:r>
            <a:r>
              <a:rPr lang="en-US" sz="1960"/>
              <a:t>) to implement PON functionality</a:t>
            </a:r>
          </a:p>
          <a:p>
            <a:pPr lvl="1">
              <a:defRPr sz="1680"/>
            </a:pPr>
            <a:r>
              <a:rPr lang="en-US" sz="1680"/>
              <a:t>In this case the decision to launch the PON containers, and the decision as to which SAI SDK to load, may need to be config driven</a:t>
            </a:r>
          </a:p>
        </p:txBody>
      </p:sp>
    </p:spTree>
    <p:extLst>
      <p:ext uri="{BB962C8B-B14F-4D97-AF65-F5344CB8AC3E}">
        <p14:creationId xmlns:p14="http://schemas.microsoft.com/office/powerpoint/2010/main" val="3787046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129E3-E884-440E-5350-F2AABD865F1D}"/>
              </a:ext>
            </a:extLst>
          </p:cNvPr>
          <p:cNvSpPr>
            <a:spLocks noGrp="1"/>
          </p:cNvSpPr>
          <p:nvPr>
            <p:ph type="title"/>
          </p:nvPr>
        </p:nvSpPr>
        <p:spPr/>
        <p:txBody>
          <a:bodyPr>
            <a:normAutofit/>
          </a:bodyPr>
          <a:lstStyle/>
          <a:p>
            <a:pPr>
              <a:defRPr sz="3600"/>
            </a:pPr>
            <a:r>
              <a:rPr lang="en-US" sz="3600"/>
              <a:t>Container Launch Logic</a:t>
            </a:r>
          </a:p>
        </p:txBody>
      </p:sp>
      <p:sp>
        <p:nvSpPr>
          <p:cNvPr id="5" name="TextBox 4">
            <a:extLst>
              <a:ext uri="{FF2B5EF4-FFF2-40B4-BE49-F238E27FC236}">
                <a16:creationId xmlns:a16="http://schemas.microsoft.com/office/drawing/2014/main" id="{A6BE2966-295E-209B-C42F-8D7E355D66BC}"/>
              </a:ext>
            </a:extLst>
          </p:cNvPr>
          <p:cNvSpPr txBox="1"/>
          <p:nvPr/>
        </p:nvSpPr>
        <p:spPr>
          <a:xfrm>
            <a:off x="838200" y="2182547"/>
            <a:ext cx="10515600" cy="3416320"/>
          </a:xfrm>
          <a:prstGeom prst="rect">
            <a:avLst/>
          </a:prstGeom>
          <a:noFill/>
        </p:spPr>
        <p:txBody>
          <a:bodyPr wrap="square">
            <a:spAutoFit/>
          </a:bodyPr>
          <a:lstStyle/>
          <a:p>
            <a:pPr indent="0" algn="l">
              <a:buNone/>
              <a:defRPr sz="1960"/>
            </a:pPr>
            <a:r>
              <a:rPr lang="en-US" sz="1960" b="0" i="0">
                <a:effectLst/>
                <a:latin typeface="Menlo" panose="020B0609030804020204" pitchFamily="49" charset="0"/>
              </a:rPr>
              <a:t>PLATFORM=$(sonic-</a:t>
            </a:r>
            <a:r>
              <a:rPr lang="en-US" sz="1960" b="0" i="0" err="1">
                <a:effectLst/>
                <a:latin typeface="Menlo" panose="020B0609030804020204" pitchFamily="49" charset="0"/>
              </a:rPr>
              <a:t>cfggen</a:t>
            </a:r>
            <a:r>
              <a:rPr lang="en-US" sz="1960" b="0" i="0">
                <a:effectLst/>
                <a:latin typeface="Menlo" panose="020B0609030804020204" pitchFamily="49" charset="0"/>
              </a:rPr>
              <a:t> -H -v </a:t>
            </a:r>
            <a:r>
              <a:rPr lang="en-US" sz="1960" b="0" i="0" err="1">
                <a:effectLst/>
                <a:latin typeface="Menlo" panose="020B0609030804020204" pitchFamily="49" charset="0"/>
              </a:rPr>
              <a:t>DEVICE_METADATA.localhost.platform</a:t>
            </a:r>
            <a:r>
              <a:rPr lang="en-US" sz="1960" b="0" i="0">
                <a:effectLst/>
                <a:latin typeface="Menlo" panose="020B0609030804020204" pitchFamily="49" charset="0"/>
              </a:rPr>
              <a:t>)</a:t>
            </a:r>
          </a:p>
          <a:p>
            <a:pPr indent="0" algn="l">
              <a:buNone/>
              <a:defRPr sz="1960"/>
            </a:pPr>
            <a:r>
              <a:rPr lang="en-US" sz="1960" b="0" i="0">
                <a:effectLst/>
                <a:latin typeface="Menlo" panose="020B0609030804020204" pitchFamily="49" charset="0"/>
              </a:rPr>
              <a:t>CONFIGFILE="/</a:t>
            </a:r>
            <a:r>
              <a:rPr lang="en-US" sz="1960" b="0" i="0" err="1">
                <a:effectLst/>
                <a:latin typeface="Menlo" panose="020B0609030804020204" pitchFamily="49" charset="0"/>
              </a:rPr>
              <a:t>usr</a:t>
            </a:r>
            <a:r>
              <a:rPr lang="en-US" sz="1960" b="0" i="0">
                <a:effectLst/>
                <a:latin typeface="Menlo" panose="020B0609030804020204" pitchFamily="49" charset="0"/>
              </a:rPr>
              <a:t>/share/sonic/device/${PLATFORM}/</a:t>
            </a:r>
            <a:r>
              <a:rPr lang="en-US" sz="1960" b="0" i="0" err="1">
                <a:effectLst/>
                <a:latin typeface="Menlo" panose="020B0609030804020204" pitchFamily="49" charset="0"/>
              </a:rPr>
              <a:t>dcponsyncd.ini</a:t>
            </a:r>
            <a:r>
              <a:rPr lang="en-US" sz="1960" b="0" i="0">
                <a:effectLst/>
                <a:latin typeface="Menlo" panose="020B0609030804020204" pitchFamily="49" charset="0"/>
              </a:rPr>
              <a:t>"</a:t>
            </a:r>
          </a:p>
          <a:p>
            <a:pPr indent="0" algn="l">
              <a:buNone/>
              <a:defRPr sz="1960"/>
            </a:pPr>
            <a:endParaRPr lang="en-US" sz="2000" b="0" i="0">
              <a:effectLst/>
              <a:latin typeface="Menlo" panose="020B0609030804020204" pitchFamily="49" charset="0"/>
            </a:endParaRPr>
          </a:p>
          <a:p>
            <a:pPr indent="0" algn="l">
              <a:buNone/>
              <a:defRPr sz="1960"/>
            </a:pPr>
            <a:r>
              <a:rPr lang="en-US" sz="1960" b="0" i="0">
                <a:effectLst/>
                <a:latin typeface="Menlo" panose="020B0609030804020204" pitchFamily="49" charset="0"/>
              </a:rPr>
              <a:t>if CONFIGFILE exists:</a:t>
            </a:r>
          </a:p>
          <a:p>
            <a:pPr indent="0" algn="l">
              <a:buNone/>
              <a:defRPr sz="1960"/>
            </a:pPr>
            <a:r>
              <a:rPr lang="en-US" sz="1960" b="0" i="0">
                <a:effectLst/>
                <a:latin typeface="Menlo" panose="020B0609030804020204" pitchFamily="49" charset="0"/>
              </a:rPr>
              <a:t>    use CONFIGFILE contents to determine how to start the container pair</a:t>
            </a:r>
          </a:p>
          <a:p>
            <a:pPr indent="0" algn="l">
              <a:buNone/>
              <a:defRPr sz="1960"/>
            </a:pPr>
            <a:r>
              <a:rPr lang="en-US" sz="1960" b="0" i="0">
                <a:effectLst/>
                <a:latin typeface="Menlo" panose="020B0609030804020204" pitchFamily="49" charset="0"/>
              </a:rPr>
              <a:t>    (i.e. which vendor-specific docker-</a:t>
            </a:r>
            <a:r>
              <a:rPr lang="en-US" sz="1960" b="0" i="0" err="1">
                <a:effectLst/>
                <a:latin typeface="Menlo" panose="020B0609030804020204" pitchFamily="49" charset="0"/>
              </a:rPr>
              <a:t>pon</a:t>
            </a:r>
            <a:r>
              <a:rPr lang="en-US" sz="1960" b="0" i="0">
                <a:effectLst/>
                <a:latin typeface="Menlo" panose="020B0609030804020204" pitchFamily="49" charset="0"/>
              </a:rPr>
              <a:t>-</a:t>
            </a:r>
            <a:r>
              <a:rPr lang="en-US" sz="1960" b="0" i="0" err="1">
                <a:effectLst/>
                <a:latin typeface="Menlo" panose="020B0609030804020204" pitchFamily="49" charset="0"/>
              </a:rPr>
              <a:t>syncd</a:t>
            </a:r>
            <a:r>
              <a:rPr lang="en-US" sz="1960" b="0" i="0">
                <a:effectLst/>
                <a:latin typeface="Menlo" panose="020B0609030804020204" pitchFamily="49" charset="0"/>
              </a:rPr>
              <a:t> image to use)</a:t>
            </a:r>
          </a:p>
          <a:p>
            <a:pPr indent="0" algn="l">
              <a:buNone/>
              <a:defRPr sz="1960"/>
            </a:pPr>
            <a:r>
              <a:rPr lang="en-US" sz="1960" b="0" i="0">
                <a:effectLst/>
                <a:latin typeface="Menlo" panose="020B0609030804020204" pitchFamily="49" charset="0"/>
              </a:rPr>
              <a:t>else:</a:t>
            </a:r>
          </a:p>
          <a:p>
            <a:pPr indent="0" algn="l">
              <a:buNone/>
              <a:defRPr sz="1960"/>
            </a:pPr>
            <a:r>
              <a:rPr lang="en-US" sz="1960" b="0" i="0">
                <a:effectLst/>
                <a:latin typeface="Menlo" panose="020B0609030804020204" pitchFamily="49" charset="0"/>
              </a:rPr>
              <a:t>    use sonic-</a:t>
            </a:r>
            <a:r>
              <a:rPr lang="en-US" sz="1960" b="0" i="0" err="1">
                <a:effectLst/>
                <a:latin typeface="Menlo" panose="020B0609030804020204" pitchFamily="49" charset="0"/>
              </a:rPr>
              <a:t>cfggen</a:t>
            </a:r>
            <a:r>
              <a:rPr lang="en-US" sz="1960" b="0" i="0">
                <a:effectLst/>
                <a:latin typeface="Menlo" panose="020B0609030804020204" pitchFamily="49" charset="0"/>
              </a:rPr>
              <a:t> to check CONFIG_DB for keys that indicate the</a:t>
            </a:r>
          </a:p>
          <a:p>
            <a:pPr indent="0" algn="l">
              <a:buNone/>
              <a:defRPr sz="1960"/>
            </a:pPr>
            <a:r>
              <a:rPr lang="en-US" sz="1960" b="0" i="0">
                <a:effectLst/>
                <a:latin typeface="Menlo" panose="020B0609030804020204" pitchFamily="49" charset="0"/>
              </a:rPr>
              <a:t>    container pair should be started; specific keys or key values may</a:t>
            </a:r>
          </a:p>
          <a:p>
            <a:pPr indent="0" algn="l">
              <a:buNone/>
              <a:defRPr sz="1960"/>
            </a:pPr>
            <a:r>
              <a:rPr lang="en-US" sz="1960" b="0" i="0">
                <a:effectLst/>
                <a:latin typeface="Menlo" panose="020B0609030804020204" pitchFamily="49" charset="0"/>
              </a:rPr>
              <a:t>    also select a vendor-specific docker-</a:t>
            </a:r>
            <a:r>
              <a:rPr lang="en-US" sz="1960" b="0" i="0" err="1">
                <a:effectLst/>
                <a:latin typeface="Menlo" panose="020B0609030804020204" pitchFamily="49" charset="0"/>
              </a:rPr>
              <a:t>pon</a:t>
            </a:r>
            <a:r>
              <a:rPr lang="en-US" sz="1960" b="0" i="0">
                <a:effectLst/>
                <a:latin typeface="Menlo" panose="020B0609030804020204" pitchFamily="49" charset="0"/>
              </a:rPr>
              <a:t>-</a:t>
            </a:r>
            <a:r>
              <a:rPr lang="en-US" sz="1960" b="0" i="0" err="1">
                <a:effectLst/>
                <a:latin typeface="Menlo" panose="020B0609030804020204" pitchFamily="49" charset="0"/>
              </a:rPr>
              <a:t>syncd</a:t>
            </a:r>
            <a:r>
              <a:rPr lang="en-US" sz="1960" b="0" i="0">
                <a:effectLst/>
                <a:latin typeface="Menlo" panose="020B0609030804020204" pitchFamily="49" charset="0"/>
              </a:rPr>
              <a:t> variant</a:t>
            </a:r>
            <a:endParaRPr lang="en-US" sz="2000" b="0" i="0">
              <a:effectLst/>
              <a:latin typeface="Courier New" panose="02070309020205020404" pitchFamily="49" charset="0"/>
            </a:endParaRPr>
          </a:p>
        </p:txBody>
      </p:sp>
    </p:spTree>
    <p:extLst>
      <p:ext uri="{BB962C8B-B14F-4D97-AF65-F5344CB8AC3E}">
        <p14:creationId xmlns:p14="http://schemas.microsoft.com/office/powerpoint/2010/main" val="1156932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95FC5-24B2-6E56-60AD-AE7452C4C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E0E81-FF08-F998-9EBE-C578C6FE24B6}"/>
              </a:ext>
            </a:extLst>
          </p:cNvPr>
          <p:cNvSpPr>
            <a:spLocks noGrp="1"/>
          </p:cNvSpPr>
          <p:nvPr>
            <p:ph type="title"/>
          </p:nvPr>
        </p:nvSpPr>
        <p:spPr/>
        <p:txBody>
          <a:bodyPr>
            <a:normAutofit/>
          </a:bodyPr>
          <a:lstStyle/>
          <a:p>
            <a:pPr>
              <a:defRPr sz="3600"/>
            </a:pPr>
            <a:r>
              <a:rPr lang="en-US" sz="3600"/>
              <a:t>Data Model</a:t>
            </a:r>
          </a:p>
        </p:txBody>
      </p:sp>
      <p:sp>
        <p:nvSpPr>
          <p:cNvPr id="3" name="Content Placeholder 2">
            <a:extLst>
              <a:ext uri="{FF2B5EF4-FFF2-40B4-BE49-F238E27FC236}">
                <a16:creationId xmlns:a16="http://schemas.microsoft.com/office/drawing/2014/main" id="{29B25591-2879-2B14-ECEC-17F4201B5A43}"/>
              </a:ext>
            </a:extLst>
          </p:cNvPr>
          <p:cNvSpPr>
            <a:spLocks noGrp="1"/>
          </p:cNvSpPr>
          <p:nvPr>
            <p:ph idx="1"/>
          </p:nvPr>
        </p:nvSpPr>
        <p:spPr/>
        <p:txBody>
          <a:bodyPr>
            <a:normAutofit/>
          </a:bodyPr>
          <a:lstStyle/>
          <a:p>
            <a:pPr>
              <a:defRPr sz="1960"/>
            </a:pPr>
            <a:r>
              <a:rPr lang="en-US" sz="1960"/>
              <a:t>The </a:t>
            </a:r>
            <a:r>
              <a:rPr lang="en-US" sz="1960" err="1"/>
              <a:t>SONiC</a:t>
            </a:r>
            <a:r>
              <a:rPr lang="en-US" sz="1960"/>
              <a:t> PON data model will be based on a subset of broadband forum’s TR-385 Yang model</a:t>
            </a:r>
          </a:p>
          <a:p>
            <a:pPr lvl="1">
              <a:defRPr sz="1680"/>
            </a:pPr>
            <a:r>
              <a:rPr lang="en-US" sz="1680"/>
              <a:t>Residential broadband contains significant complexity – much of it is not needed for datacenter applications</a:t>
            </a:r>
          </a:p>
          <a:p>
            <a:pPr lvl="1">
              <a:defRPr sz="1680"/>
            </a:pPr>
            <a:r>
              <a:rPr lang="en-US" sz="1680"/>
              <a:t>We are proposing to create a community </a:t>
            </a:r>
            <a:r>
              <a:rPr lang="en-US" sz="1680" err="1"/>
              <a:t>SONiC</a:t>
            </a:r>
            <a:r>
              <a:rPr lang="en-US" sz="1680"/>
              <a:t> model that maps, rather than trying to use TR-385 directly</a:t>
            </a:r>
          </a:p>
          <a:p>
            <a:pPr lvl="1">
              <a:defRPr sz="1680"/>
            </a:pPr>
            <a:r>
              <a:rPr lang="en-US" sz="1680"/>
              <a:t>This is due to the depth and complexity of the TR-385 model – it has multi-level container structures that don’t translate readily to </a:t>
            </a:r>
            <a:r>
              <a:rPr lang="en-US" sz="1680" err="1"/>
              <a:t>SONiC’s</a:t>
            </a:r>
            <a:r>
              <a:rPr lang="en-US" sz="1680"/>
              <a:t> flatter table structure</a:t>
            </a:r>
          </a:p>
          <a:p>
            <a:pPr>
              <a:defRPr sz="1960"/>
            </a:pPr>
            <a:r>
              <a:rPr lang="en-US" sz="1960"/>
              <a:t>PON still has a large configuration/operational model area even after removing non-datacenter functionality</a:t>
            </a:r>
          </a:p>
        </p:txBody>
      </p:sp>
    </p:spTree>
    <p:extLst>
      <p:ext uri="{BB962C8B-B14F-4D97-AF65-F5344CB8AC3E}">
        <p14:creationId xmlns:p14="http://schemas.microsoft.com/office/powerpoint/2010/main" val="2345315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926C0-0CCE-7EA8-216C-5EE2BA1BD7C6}"/>
              </a:ext>
            </a:extLst>
          </p:cNvPr>
          <p:cNvSpPr>
            <a:spLocks noGrp="1"/>
          </p:cNvSpPr>
          <p:nvPr>
            <p:ph type="title"/>
          </p:nvPr>
        </p:nvSpPr>
        <p:spPr/>
        <p:txBody>
          <a:bodyPr>
            <a:normAutofit/>
          </a:bodyPr>
          <a:lstStyle/>
          <a:p>
            <a:pPr>
              <a:defRPr sz="3600"/>
            </a:pPr>
            <a:r>
              <a:rPr lang="en-US" sz="3600"/>
              <a:t>Notes on Redis DB</a:t>
            </a:r>
          </a:p>
        </p:txBody>
      </p:sp>
      <p:sp>
        <p:nvSpPr>
          <p:cNvPr id="3" name="Content Placeholder 2">
            <a:extLst>
              <a:ext uri="{FF2B5EF4-FFF2-40B4-BE49-F238E27FC236}">
                <a16:creationId xmlns:a16="http://schemas.microsoft.com/office/drawing/2014/main" id="{A5B21936-97DE-D078-9A9D-4A83FBFE5A72}"/>
              </a:ext>
            </a:extLst>
          </p:cNvPr>
          <p:cNvSpPr>
            <a:spLocks noGrp="1"/>
          </p:cNvSpPr>
          <p:nvPr>
            <p:ph idx="1"/>
          </p:nvPr>
        </p:nvSpPr>
        <p:spPr/>
        <p:txBody>
          <a:bodyPr>
            <a:normAutofit/>
          </a:bodyPr>
          <a:lstStyle/>
          <a:p>
            <a:pPr>
              <a:defRPr sz="1960"/>
            </a:pPr>
            <a:r>
              <a:rPr lang="en-US" sz="1960"/>
              <a:t>The PON architecture mimics gearbox in a few different ways</a:t>
            </a:r>
          </a:p>
          <a:p>
            <a:pPr>
              <a:defRPr sz="1960"/>
            </a:pPr>
            <a:r>
              <a:rPr lang="en-US" sz="1960"/>
              <a:t>One of these is the use of a new logical Redis instance IDs for PON_ASIC_DB, PON_COUNTERS_DB, and PON_FLEX_COUNTER_DB, plus corresponding infrastructure changes to support them (context IDs, </a:t>
            </a:r>
            <a:r>
              <a:rPr lang="en-US" sz="1960" err="1"/>
              <a:t>etc</a:t>
            </a:r>
            <a:r>
              <a:rPr lang="en-US" sz="1960"/>
              <a:t>)</a:t>
            </a:r>
          </a:p>
          <a:p>
            <a:pPr>
              <a:defRPr sz="1960"/>
            </a:pPr>
            <a:r>
              <a:rPr lang="en-US" sz="1960"/>
              <a:t>This is needed for the same reasons gearbox needs it – it allows </a:t>
            </a:r>
            <a:r>
              <a:rPr lang="en-US" sz="1960" err="1"/>
              <a:t>PonOrch</a:t>
            </a:r>
            <a:r>
              <a:rPr lang="en-US" sz="1960"/>
              <a:t> to manage the </a:t>
            </a:r>
            <a:r>
              <a:rPr lang="en-US" sz="1960" err="1"/>
              <a:t>sai-redis</a:t>
            </a:r>
            <a:r>
              <a:rPr lang="en-US" sz="1960"/>
              <a:t> interactions without interfering with the existing SWSS </a:t>
            </a:r>
            <a:r>
              <a:rPr lang="en-US" sz="1960" err="1"/>
              <a:t>sai-redis</a:t>
            </a:r>
            <a:r>
              <a:rPr lang="en-US" sz="1960"/>
              <a:t> instances</a:t>
            </a:r>
          </a:p>
        </p:txBody>
      </p:sp>
    </p:spTree>
    <p:extLst>
      <p:ext uri="{BB962C8B-B14F-4D97-AF65-F5344CB8AC3E}">
        <p14:creationId xmlns:p14="http://schemas.microsoft.com/office/powerpoint/2010/main" val="295689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3A8B0-12E8-A55F-CB40-710F9065F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9C4C1-0F29-A654-7F6E-AFC04D09427F}"/>
              </a:ext>
            </a:extLst>
          </p:cNvPr>
          <p:cNvSpPr>
            <a:spLocks noGrp="1"/>
          </p:cNvSpPr>
          <p:nvPr>
            <p:ph type="title"/>
          </p:nvPr>
        </p:nvSpPr>
        <p:spPr/>
        <p:txBody>
          <a:bodyPr>
            <a:normAutofit/>
          </a:bodyPr>
          <a:lstStyle/>
          <a:p>
            <a:pPr>
              <a:defRPr sz="3600"/>
            </a:pPr>
            <a:r>
              <a:rPr lang="en-US" sz="3600"/>
              <a:t>CLI Examples</a:t>
            </a:r>
          </a:p>
        </p:txBody>
      </p:sp>
      <p:sp>
        <p:nvSpPr>
          <p:cNvPr id="3" name="Content Placeholder 2">
            <a:extLst>
              <a:ext uri="{FF2B5EF4-FFF2-40B4-BE49-F238E27FC236}">
                <a16:creationId xmlns:a16="http://schemas.microsoft.com/office/drawing/2014/main" id="{EF52257C-8985-538D-435B-DB20CA17396F}"/>
              </a:ext>
            </a:extLst>
          </p:cNvPr>
          <p:cNvSpPr>
            <a:spLocks noGrp="1"/>
          </p:cNvSpPr>
          <p:nvPr>
            <p:ph idx="1"/>
          </p:nvPr>
        </p:nvSpPr>
        <p:spPr/>
        <p:txBody>
          <a:bodyPr/>
          <a:lstStyle/>
          <a:p>
            <a:pPr>
              <a:defRPr sz="1960"/>
            </a:pPr>
            <a:r>
              <a:rPr lang="en-US" sz="1960" err="1">
                <a:latin typeface="Courier New" panose="02070309020205020404" pitchFamily="49" charset="0"/>
                <a:cs typeface="Courier New" panose="02070309020205020404" pitchFamily="49" charset="0"/>
              </a:rPr>
              <a:t>pon</a:t>
            </a:r>
            <a:r>
              <a:rPr lang="en-US" sz="1960">
                <a:latin typeface="Courier New" panose="02070309020205020404" pitchFamily="49" charset="0"/>
                <a:cs typeface="Courier New" panose="02070309020205020404" pitchFamily="49" charset="0"/>
              </a:rPr>
              <a:t> controller controller-name CNTL-1 device-id  4c:09:97:f0:75:36 </a:t>
            </a:r>
            <a:r>
              <a:rPr lang="en-US" sz="1960" err="1">
                <a:latin typeface="Courier New" panose="02070309020205020404" pitchFamily="49" charset="0"/>
                <a:cs typeface="Courier New" panose="02070309020205020404" pitchFamily="49" charset="0"/>
              </a:rPr>
              <a:t>olt</a:t>
            </a:r>
            <a:r>
              <a:rPr lang="en-US" sz="1960">
                <a:latin typeface="Courier New" panose="02070309020205020404" pitchFamily="49" charset="0"/>
                <a:cs typeface="Courier New" panose="02070309020205020404" pitchFamily="49" charset="0"/>
              </a:rPr>
              <a:t>-timeout 360</a:t>
            </a:r>
          </a:p>
          <a:p>
            <a:pPr>
              <a:defRPr sz="1960"/>
            </a:pPr>
            <a:r>
              <a:rPr lang="en-US" sz="1960" err="1">
                <a:latin typeface="Courier New" panose="02070309020205020404" pitchFamily="49" charset="0"/>
                <a:cs typeface="Courier New" panose="02070309020205020404" pitchFamily="49" charset="0"/>
              </a:rPr>
              <a:t>pon</a:t>
            </a:r>
            <a:r>
              <a:rPr lang="en-US" sz="1960">
                <a:latin typeface="Courier New" panose="02070309020205020404" pitchFamily="49" charset="0"/>
                <a:cs typeface="Courier New" panose="02070309020205020404" pitchFamily="49" charset="0"/>
              </a:rPr>
              <a:t> </a:t>
            </a:r>
            <a:r>
              <a:rPr lang="en-US" sz="1960" err="1">
                <a:latin typeface="Courier New" panose="02070309020205020404" pitchFamily="49" charset="0"/>
                <a:cs typeface="Courier New" panose="02070309020205020404" pitchFamily="49" charset="0"/>
              </a:rPr>
              <a:t>olt-intf</a:t>
            </a:r>
            <a:r>
              <a:rPr lang="en-US" sz="1960">
                <a:latin typeface="Courier New" panose="02070309020205020404" pitchFamily="49" charset="0"/>
                <a:cs typeface="Courier New" panose="02070309020205020404" pitchFamily="49" charset="0"/>
              </a:rPr>
              <a:t> </a:t>
            </a:r>
            <a:r>
              <a:rPr lang="en-US" sz="1960" err="1">
                <a:latin typeface="Courier New" panose="02070309020205020404" pitchFamily="49" charset="0"/>
                <a:cs typeface="Courier New" panose="02070309020205020404" pitchFamily="49" charset="0"/>
              </a:rPr>
              <a:t>olt</a:t>
            </a:r>
            <a:r>
              <a:rPr lang="en-US" sz="1960">
                <a:latin typeface="Courier New" panose="02070309020205020404" pitchFamily="49" charset="0"/>
                <a:cs typeface="Courier New" panose="02070309020205020404" pitchFamily="49" charset="0"/>
              </a:rPr>
              <a:t>-</a:t>
            </a:r>
            <a:r>
              <a:rPr lang="en-US" sz="1960" err="1">
                <a:latin typeface="Courier New" panose="02070309020205020404" pitchFamily="49" charset="0"/>
                <a:cs typeface="Courier New" panose="02070309020205020404" pitchFamily="49" charset="0"/>
              </a:rPr>
              <a:t>intf</a:t>
            </a:r>
            <a:r>
              <a:rPr lang="en-US" sz="1960">
                <a:latin typeface="Courier New" panose="02070309020205020404" pitchFamily="49" charset="0"/>
                <a:cs typeface="Courier New" panose="02070309020205020404" pitchFamily="49" charset="0"/>
              </a:rPr>
              <a:t>-name OLT-1 device-id 78:5f:a4:45:8b:9a </a:t>
            </a:r>
            <a:r>
              <a:rPr lang="en-US" sz="1960" err="1">
                <a:latin typeface="Courier New" panose="02070309020205020404" pitchFamily="49" charset="0"/>
                <a:cs typeface="Courier New" panose="02070309020205020404" pitchFamily="49" charset="0"/>
              </a:rPr>
              <a:t>pon</a:t>
            </a:r>
            <a:r>
              <a:rPr lang="en-US" sz="1960">
                <a:latin typeface="Courier New" panose="02070309020205020404" pitchFamily="49" charset="0"/>
                <a:cs typeface="Courier New" panose="02070309020205020404" pitchFamily="49" charset="0"/>
              </a:rPr>
              <a:t>-enable true port-id Ethernet16</a:t>
            </a:r>
            <a:endParaRPr lang="en-US">
              <a:latin typeface="Courier New" panose="02070309020205020404" pitchFamily="49" charset="0"/>
              <a:cs typeface="Courier New" panose="02070309020205020404" pitchFamily="49" charset="0"/>
            </a:endParaRPr>
          </a:p>
          <a:p>
            <a:pPr>
              <a:defRPr sz="1960"/>
            </a:pPr>
            <a:r>
              <a:rPr lang="en-US" sz="1960">
                <a:latin typeface="Courier New" panose="02070309020205020404" pitchFamily="49" charset="0"/>
                <a:cs typeface="Courier New" panose="02070309020205020404" pitchFamily="49" charset="0"/>
              </a:rPr>
              <a:t>show </a:t>
            </a:r>
            <a:r>
              <a:rPr lang="en-US" sz="1960" err="1">
                <a:latin typeface="Courier New" panose="02070309020205020404" pitchFamily="49" charset="0"/>
                <a:cs typeface="Courier New" panose="02070309020205020404" pitchFamily="49" charset="0"/>
              </a:rPr>
              <a:t>pon</a:t>
            </a:r>
            <a:r>
              <a:rPr lang="en-US" sz="1960">
                <a:latin typeface="Courier New" panose="02070309020205020404" pitchFamily="49" charset="0"/>
                <a:cs typeface="Courier New" panose="02070309020205020404" pitchFamily="49" charset="0"/>
              </a:rPr>
              <a:t> </a:t>
            </a:r>
            <a:r>
              <a:rPr lang="en-US" sz="1960" err="1">
                <a:latin typeface="Courier New" panose="02070309020205020404" pitchFamily="49" charset="0"/>
                <a:cs typeface="Courier New" panose="02070309020205020404" pitchFamily="49" charset="0"/>
              </a:rPr>
              <a:t>olt-intf</a:t>
            </a:r>
            <a:r>
              <a:rPr lang="en-US" sz="1960">
                <a:latin typeface="Courier New" panose="02070309020205020404" pitchFamily="49" charset="0"/>
                <a:cs typeface="Courier New" panose="02070309020205020404" pitchFamily="49" charset="0"/>
              </a:rPr>
              <a:t> OLT-1</a:t>
            </a:r>
            <a:endParaRPr lang="en-US">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68529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FBC3B-AFB8-EF9F-29F6-648D9DDDF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88C18-A14A-FC72-C779-5448AC982C13}"/>
              </a:ext>
            </a:extLst>
          </p:cNvPr>
          <p:cNvSpPr>
            <a:spLocks noGrp="1"/>
          </p:cNvSpPr>
          <p:nvPr>
            <p:ph type="title"/>
          </p:nvPr>
        </p:nvSpPr>
        <p:spPr/>
        <p:txBody>
          <a:bodyPr>
            <a:normAutofit/>
          </a:bodyPr>
          <a:lstStyle/>
          <a:p>
            <a:pPr>
              <a:defRPr sz="3600"/>
            </a:pPr>
            <a:r>
              <a:rPr lang="en-US" sz="3600"/>
              <a:t>PON Counters</a:t>
            </a:r>
          </a:p>
        </p:txBody>
      </p:sp>
      <p:sp>
        <p:nvSpPr>
          <p:cNvPr id="3" name="Content Placeholder 2">
            <a:extLst>
              <a:ext uri="{FF2B5EF4-FFF2-40B4-BE49-F238E27FC236}">
                <a16:creationId xmlns:a16="http://schemas.microsoft.com/office/drawing/2014/main" id="{5EC2CD3F-9D7D-907A-C1C9-5DA7CA76DBA8}"/>
              </a:ext>
            </a:extLst>
          </p:cNvPr>
          <p:cNvSpPr>
            <a:spLocks noGrp="1"/>
          </p:cNvSpPr>
          <p:nvPr>
            <p:ph idx="1"/>
          </p:nvPr>
        </p:nvSpPr>
        <p:spPr>
          <a:xfrm>
            <a:off x="838200" y="1540902"/>
            <a:ext cx="10515600" cy="4351338"/>
          </a:xfrm>
        </p:spPr>
        <p:txBody>
          <a:bodyPr>
            <a:normAutofit/>
          </a:bodyPr>
          <a:lstStyle/>
          <a:p>
            <a:pPr>
              <a:defRPr sz="1960"/>
            </a:pPr>
            <a:r>
              <a:rPr lang="en-US" sz="1960" err="1"/>
              <a:t>dcpon-syncd</a:t>
            </a:r>
            <a:r>
              <a:rPr lang="en-US" sz="1960"/>
              <a:t> will implement flex counters for PON</a:t>
            </a:r>
          </a:p>
          <a:p>
            <a:pPr lvl="1">
              <a:defRPr sz="1680"/>
            </a:pPr>
            <a:r>
              <a:rPr lang="en-US" sz="1680"/>
              <a:t>Due to potential large scale, ONUs will be partitioned into per-OLT-interface shards – the sharding and/or thread mapping will be determined by vendor via SAI: SAI_PON_OLT_INTF_ATTR_STATS_COLLECTION_CONCURRENCY</a:t>
            </a:r>
          </a:p>
          <a:p>
            <a:pPr>
              <a:defRPr sz="1960"/>
            </a:pPr>
            <a:r>
              <a:rPr lang="en-US" sz="1960"/>
              <a:t>There are a large number of counters, so only 5 OLT tables and 2 ONU tables are proposed to be enabled by default – operators can enable additional counters using configured flex counter groups</a:t>
            </a:r>
          </a:p>
          <a:p>
            <a:pPr>
              <a:defRPr sz="1960"/>
            </a:pPr>
            <a:r>
              <a:rPr lang="en-US" sz="1960"/>
              <a:t>The default intervals are 5 minutes for OLT, 15 minutes for ONU</a:t>
            </a:r>
          </a:p>
          <a:p>
            <a:pPr>
              <a:defRPr sz="1960"/>
            </a:pPr>
            <a:r>
              <a:rPr lang="en-US" sz="1960"/>
              <a:t>Some counter sources are higher frequency and/or volume than others – platform capacity needs to be matched to PON scale</a:t>
            </a:r>
          </a:p>
        </p:txBody>
      </p:sp>
    </p:spTree>
    <p:extLst>
      <p:ext uri="{BB962C8B-B14F-4D97-AF65-F5344CB8AC3E}">
        <p14:creationId xmlns:p14="http://schemas.microsoft.com/office/powerpoint/2010/main" val="962030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C87D2-D7CF-ABFA-5717-D5F35CA7A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D9E20-0F60-3E2E-056B-A2B9FEE58C7E}"/>
              </a:ext>
            </a:extLst>
          </p:cNvPr>
          <p:cNvSpPr>
            <a:spLocks noGrp="1"/>
          </p:cNvSpPr>
          <p:nvPr>
            <p:ph type="title"/>
          </p:nvPr>
        </p:nvSpPr>
        <p:spPr/>
        <p:txBody>
          <a:bodyPr>
            <a:normAutofit/>
          </a:bodyPr>
          <a:lstStyle/>
          <a:p>
            <a:pPr>
              <a:defRPr sz="3600"/>
            </a:pPr>
            <a:r>
              <a:rPr lang="en-US" sz="3600" err="1"/>
              <a:t>ponutil</a:t>
            </a:r>
            <a:endParaRPr lang="en-US"/>
          </a:p>
        </p:txBody>
      </p:sp>
      <p:sp>
        <p:nvSpPr>
          <p:cNvPr id="3" name="Content Placeholder 2">
            <a:extLst>
              <a:ext uri="{FF2B5EF4-FFF2-40B4-BE49-F238E27FC236}">
                <a16:creationId xmlns:a16="http://schemas.microsoft.com/office/drawing/2014/main" id="{71EFE71F-3A7F-5FED-F0CA-66256548951A}"/>
              </a:ext>
            </a:extLst>
          </p:cNvPr>
          <p:cNvSpPr>
            <a:spLocks noGrp="1"/>
          </p:cNvSpPr>
          <p:nvPr>
            <p:ph idx="1"/>
          </p:nvPr>
        </p:nvSpPr>
        <p:spPr/>
        <p:txBody>
          <a:bodyPr>
            <a:normAutofit/>
          </a:bodyPr>
          <a:lstStyle/>
          <a:p>
            <a:pPr>
              <a:defRPr sz="1960"/>
            </a:pPr>
            <a:r>
              <a:rPr lang="en-US" sz="1960"/>
              <a:t>PON hardware has firmware management and action requirements</a:t>
            </a:r>
          </a:p>
          <a:p>
            <a:pPr>
              <a:defRPr sz="1960"/>
            </a:pPr>
            <a:r>
              <a:rPr lang="en-US" sz="1960"/>
              <a:t>The proposal is to introduce a ‘</a:t>
            </a:r>
            <a:r>
              <a:rPr lang="en-US" sz="1960" err="1"/>
              <a:t>ponutil</a:t>
            </a:r>
            <a:r>
              <a:rPr lang="en-US" sz="1960"/>
              <a:t>’ command for this, similar to the ‘</a:t>
            </a:r>
            <a:r>
              <a:rPr lang="en-US" sz="1960" err="1"/>
              <a:t>sfputil</a:t>
            </a:r>
            <a:r>
              <a:rPr lang="en-US" sz="1960"/>
              <a:t>’ command</a:t>
            </a:r>
          </a:p>
          <a:p>
            <a:pPr lvl="1">
              <a:defRPr sz="1680"/>
            </a:pPr>
            <a:r>
              <a:rPr lang="en-US" sz="1680" err="1"/>
              <a:t>Ponutil</a:t>
            </a:r>
            <a:r>
              <a:rPr lang="en-US" sz="1680"/>
              <a:t> will manage firmware images (download, staging, activation) for </a:t>
            </a:r>
            <a:r>
              <a:rPr lang="en-US" sz="1680" err="1"/>
              <a:t>uOLTs</a:t>
            </a:r>
            <a:r>
              <a:rPr lang="en-US" sz="1680"/>
              <a:t> and ONUs</a:t>
            </a:r>
          </a:p>
          <a:p>
            <a:pPr lvl="1">
              <a:defRPr sz="1680"/>
            </a:pPr>
            <a:r>
              <a:rPr lang="en-US" sz="1680"/>
              <a:t>It will provide action operations such as reset</a:t>
            </a:r>
          </a:p>
        </p:txBody>
      </p:sp>
    </p:spTree>
    <p:extLst>
      <p:ext uri="{BB962C8B-B14F-4D97-AF65-F5344CB8AC3E}">
        <p14:creationId xmlns:p14="http://schemas.microsoft.com/office/powerpoint/2010/main" val="4038938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AF5B7-470F-74F4-D0BB-8B5029987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ED4A90-FDA1-4C00-F42B-4969EC3BBECF}"/>
              </a:ext>
            </a:extLst>
          </p:cNvPr>
          <p:cNvSpPr>
            <a:spLocks noGrp="1"/>
          </p:cNvSpPr>
          <p:nvPr>
            <p:ph type="title"/>
          </p:nvPr>
        </p:nvSpPr>
        <p:spPr/>
        <p:txBody>
          <a:bodyPr>
            <a:normAutofit/>
          </a:bodyPr>
          <a:lstStyle/>
          <a:p>
            <a:pPr>
              <a:defRPr sz="3600"/>
            </a:pPr>
            <a:r>
              <a:rPr lang="en-US" sz="3600"/>
              <a:t>SAI</a:t>
            </a:r>
          </a:p>
        </p:txBody>
      </p:sp>
      <p:sp>
        <p:nvSpPr>
          <p:cNvPr id="3" name="Content Placeholder 2">
            <a:extLst>
              <a:ext uri="{FF2B5EF4-FFF2-40B4-BE49-F238E27FC236}">
                <a16:creationId xmlns:a16="http://schemas.microsoft.com/office/drawing/2014/main" id="{671B8F3B-4975-B303-A164-DE07F7E28F02}"/>
              </a:ext>
            </a:extLst>
          </p:cNvPr>
          <p:cNvSpPr>
            <a:spLocks noGrp="1"/>
          </p:cNvSpPr>
          <p:nvPr>
            <p:ph idx="1"/>
          </p:nvPr>
        </p:nvSpPr>
        <p:spPr/>
        <p:txBody>
          <a:bodyPr>
            <a:normAutofit/>
          </a:bodyPr>
          <a:lstStyle/>
          <a:p>
            <a:pPr>
              <a:defRPr sz="1960"/>
            </a:pPr>
            <a:r>
              <a:rPr lang="en-US" sz="1960"/>
              <a:t>The PON SAI API will be an SAI experimental API</a:t>
            </a:r>
          </a:p>
          <a:p>
            <a:pPr>
              <a:defRPr sz="1960"/>
            </a:pPr>
            <a:r>
              <a:rPr lang="en-US" sz="1960"/>
              <a:t>The proposal is for this API to mirror the Yang model more or less 1:1</a:t>
            </a:r>
          </a:p>
          <a:p>
            <a:pPr lvl="1">
              <a:defRPr sz="1680"/>
            </a:pPr>
            <a:r>
              <a:rPr lang="en-US" sz="1680"/>
              <a:t>The API will be large – there are 86 configuration tables, 25 operational state tables, and 64 counter tables in the proposed Yang model, and most if not all the attributes there map onto the PON control plane and so must be mapped into the SAI API</a:t>
            </a:r>
          </a:p>
        </p:txBody>
      </p:sp>
    </p:spTree>
    <p:extLst>
      <p:ext uri="{BB962C8B-B14F-4D97-AF65-F5344CB8AC3E}">
        <p14:creationId xmlns:p14="http://schemas.microsoft.com/office/powerpoint/2010/main" val="2393338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6C834-962C-EDD2-96E0-66E4CA5FE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9133C-6992-6E8D-0119-61F4FF26AB06}"/>
              </a:ext>
            </a:extLst>
          </p:cNvPr>
          <p:cNvSpPr>
            <a:spLocks noGrp="1"/>
          </p:cNvSpPr>
          <p:nvPr>
            <p:ph type="title"/>
          </p:nvPr>
        </p:nvSpPr>
        <p:spPr/>
        <p:txBody>
          <a:bodyPr>
            <a:normAutofit/>
          </a:bodyPr>
          <a:lstStyle/>
          <a:p>
            <a:pPr>
              <a:defRPr sz="3600"/>
            </a:pPr>
            <a:r>
              <a:rPr lang="en-US" sz="3600"/>
              <a:t>1904.2 Frame Handling</a:t>
            </a:r>
          </a:p>
        </p:txBody>
      </p:sp>
      <p:sp>
        <p:nvSpPr>
          <p:cNvPr id="3" name="Content Placeholder 2">
            <a:extLst>
              <a:ext uri="{FF2B5EF4-FFF2-40B4-BE49-F238E27FC236}">
                <a16:creationId xmlns:a16="http://schemas.microsoft.com/office/drawing/2014/main" id="{FB94F7CD-FEB3-B346-EAE4-02D42EBE2BB3}"/>
              </a:ext>
            </a:extLst>
          </p:cNvPr>
          <p:cNvSpPr>
            <a:spLocks noGrp="1"/>
          </p:cNvSpPr>
          <p:nvPr>
            <p:ph idx="1"/>
          </p:nvPr>
        </p:nvSpPr>
        <p:spPr>
          <a:xfrm>
            <a:off x="838200" y="1690688"/>
            <a:ext cx="10515600" cy="4351338"/>
          </a:xfrm>
        </p:spPr>
        <p:txBody>
          <a:bodyPr>
            <a:normAutofit/>
          </a:bodyPr>
          <a:lstStyle/>
          <a:p>
            <a:pPr>
              <a:defRPr sz="1960"/>
            </a:pPr>
            <a:r>
              <a:rPr lang="en-US" sz="1960"/>
              <a:t>The PON control plane protocols (OMCI, </a:t>
            </a:r>
            <a:r>
              <a:rPr lang="en-US" sz="1960" err="1"/>
              <a:t>etc</a:t>
            </a:r>
            <a:r>
              <a:rPr lang="en-US" sz="1960"/>
              <a:t>) are carried on IEEE 1904.2 frames.</a:t>
            </a:r>
          </a:p>
          <a:p>
            <a:pPr>
              <a:defRPr sz="1960"/>
            </a:pPr>
            <a:r>
              <a:rPr lang="en-US" sz="1960"/>
              <a:t>These frames need to be injected/extracted on the router CPU</a:t>
            </a:r>
          </a:p>
          <a:p>
            <a:pPr>
              <a:defRPr sz="1960"/>
            </a:pPr>
            <a:r>
              <a:rPr lang="en-US" sz="1960"/>
              <a:t>Because they are control frames, they will need appropriate </a:t>
            </a:r>
            <a:r>
              <a:rPr lang="en-US" sz="1960" err="1"/>
              <a:t>CoS</a:t>
            </a:r>
            <a:r>
              <a:rPr lang="en-US" sz="1960"/>
              <a:t> treatment so that they do not get dropped due to fast path congestion, </a:t>
            </a:r>
            <a:r>
              <a:rPr lang="en-US" sz="1960" err="1"/>
              <a:t>etc</a:t>
            </a:r>
            <a:endParaRPr lang="en-US" sz="2000"/>
          </a:p>
          <a:p>
            <a:pPr>
              <a:defRPr sz="1960"/>
            </a:pPr>
            <a:r>
              <a:rPr lang="en-US" sz="1960"/>
              <a:t>As part of the SAI submission, we will be proposing to leverage the COPP framework to trap these packets and direct them to the desired queue/policer.</a:t>
            </a:r>
          </a:p>
          <a:p>
            <a:pPr>
              <a:defRPr sz="1960"/>
            </a:pPr>
            <a:r>
              <a:rPr lang="en-US" sz="1960"/>
              <a:t>This approach requires ASIC SAI vendors to add support to their SDK for this trap type.</a:t>
            </a:r>
          </a:p>
          <a:p>
            <a:pPr>
              <a:defRPr sz="1960"/>
            </a:pPr>
            <a:r>
              <a:rPr lang="en-US" sz="1960"/>
              <a:t>In the interim, we are proposing to add code to </a:t>
            </a:r>
            <a:r>
              <a:rPr lang="en-US" sz="1960" err="1"/>
              <a:t>PonOrch</a:t>
            </a:r>
            <a:r>
              <a:rPr lang="en-US" sz="1960"/>
              <a:t>, gated on whether PON is deployed, that will check for the ASIC trap capability, and if it is not present, use existing SAI APIs to add a custom trap.</a:t>
            </a:r>
          </a:p>
        </p:txBody>
      </p:sp>
    </p:spTree>
    <p:extLst>
      <p:ext uri="{BB962C8B-B14F-4D97-AF65-F5344CB8AC3E}">
        <p14:creationId xmlns:p14="http://schemas.microsoft.com/office/powerpoint/2010/main" val="1960498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C527F-A588-A4A1-2163-DA571FBE7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A08F4-3823-EBAD-9E65-12A7C2555820}"/>
              </a:ext>
            </a:extLst>
          </p:cNvPr>
          <p:cNvSpPr>
            <a:spLocks noGrp="1"/>
          </p:cNvSpPr>
          <p:nvPr>
            <p:ph type="title"/>
          </p:nvPr>
        </p:nvSpPr>
        <p:spPr/>
        <p:txBody>
          <a:bodyPr>
            <a:normAutofit/>
          </a:bodyPr>
          <a:lstStyle/>
          <a:p>
            <a:pPr>
              <a:defRPr sz="3600"/>
            </a:pPr>
            <a:r>
              <a:rPr lang="en-US" sz="3600"/>
              <a:t>Performance</a:t>
            </a:r>
          </a:p>
        </p:txBody>
      </p:sp>
      <p:sp>
        <p:nvSpPr>
          <p:cNvPr id="3" name="Content Placeholder 2">
            <a:extLst>
              <a:ext uri="{FF2B5EF4-FFF2-40B4-BE49-F238E27FC236}">
                <a16:creationId xmlns:a16="http://schemas.microsoft.com/office/drawing/2014/main" id="{2F80A7FB-0553-F7E7-5A47-313E4AD98C0A}"/>
              </a:ext>
            </a:extLst>
          </p:cNvPr>
          <p:cNvSpPr>
            <a:spLocks noGrp="1"/>
          </p:cNvSpPr>
          <p:nvPr>
            <p:ph idx="1"/>
          </p:nvPr>
        </p:nvSpPr>
        <p:spPr>
          <a:xfrm>
            <a:off x="838200" y="1453295"/>
            <a:ext cx="10515600" cy="4351338"/>
          </a:xfrm>
        </p:spPr>
        <p:txBody>
          <a:bodyPr>
            <a:normAutofit/>
          </a:bodyPr>
          <a:lstStyle/>
          <a:p>
            <a:pPr>
              <a:defRPr sz="1960"/>
            </a:pPr>
            <a:r>
              <a:rPr lang="en-US" sz="1960"/>
              <a:t>Memory consumption</a:t>
            </a:r>
          </a:p>
          <a:p>
            <a:pPr lvl="1">
              <a:defRPr sz="1680"/>
            </a:pPr>
            <a:r>
              <a:rPr lang="en-US" sz="1680"/>
              <a:t>No memory required unless PON is activated on the platform</a:t>
            </a:r>
          </a:p>
          <a:p>
            <a:pPr lvl="1">
              <a:defRPr sz="1680"/>
            </a:pPr>
            <a:r>
              <a:rPr lang="en-US" sz="1680"/>
              <a:t>Per-container infrastructure for 2 new containers</a:t>
            </a:r>
          </a:p>
          <a:p>
            <a:pPr lvl="1">
              <a:defRPr sz="1680"/>
            </a:pPr>
            <a:r>
              <a:rPr lang="en-US" sz="1680"/>
              <a:t>3 additional processes, baseline 50MB or less per process, plus per-object cache scaling for PON configuration</a:t>
            </a:r>
          </a:p>
          <a:p>
            <a:pPr lvl="1">
              <a:defRPr sz="1680"/>
            </a:pPr>
            <a:r>
              <a:rPr lang="en-US" sz="1680"/>
              <a:t>Redis memory scales predominantly with ONUs (to a lesser extent with OLTs)</a:t>
            </a:r>
          </a:p>
          <a:p>
            <a:pPr lvl="2">
              <a:defRPr sz="1400"/>
            </a:pPr>
            <a:r>
              <a:rPr lang="en-US" sz="1400"/>
              <a:t>Per ONU across all tables expected to be less than 1MB</a:t>
            </a:r>
          </a:p>
          <a:p>
            <a:pPr lvl="2">
              <a:defRPr sz="1400"/>
            </a:pPr>
            <a:r>
              <a:rPr lang="en-US" sz="1400"/>
              <a:t>Per OLT across all tables expected to be less than 100KB</a:t>
            </a:r>
          </a:p>
          <a:p>
            <a:pPr>
              <a:defRPr sz="1960"/>
            </a:pPr>
            <a:r>
              <a:rPr lang="en-US" sz="1960"/>
              <a:t>Redis load</a:t>
            </a:r>
          </a:p>
          <a:p>
            <a:pPr lvl="1">
              <a:defRPr sz="1680"/>
            </a:pPr>
            <a:r>
              <a:rPr lang="en-US" sz="1680"/>
              <a:t>The bulk of the </a:t>
            </a:r>
            <a:r>
              <a:rPr lang="en-US" sz="1680" err="1"/>
              <a:t>redis</a:t>
            </a:r>
            <a:r>
              <a:rPr lang="en-US" sz="1680"/>
              <a:t> load will come from counters.</a:t>
            </a:r>
          </a:p>
          <a:p>
            <a:pPr lvl="1">
              <a:defRPr sz="1680"/>
            </a:pPr>
            <a:r>
              <a:rPr lang="en-US" sz="1680"/>
              <a:t>With the default collections, OLTs need 5904 HSETs per cycle globally, 123 per shard if sharding 48 OLTs</a:t>
            </a:r>
          </a:p>
          <a:p>
            <a:pPr lvl="1">
              <a:defRPr sz="1680"/>
            </a:pPr>
            <a:r>
              <a:rPr lang="en-US" sz="1680"/>
              <a:t>ONUs need 65K HSETs per cycle globally, 1368 per shard if sharding 48 OLTs</a:t>
            </a:r>
          </a:p>
          <a:p>
            <a:pPr lvl="1">
              <a:defRPr sz="1680"/>
            </a:pPr>
            <a:endParaRPr lang="en-US" sz="1800"/>
          </a:p>
        </p:txBody>
      </p:sp>
    </p:spTree>
    <p:extLst>
      <p:ext uri="{BB962C8B-B14F-4D97-AF65-F5344CB8AC3E}">
        <p14:creationId xmlns:p14="http://schemas.microsoft.com/office/powerpoint/2010/main" val="6821373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10102</TotalTime>
  <Words>1625</Words>
  <Application>Microsoft Macintosh PowerPoint</Application>
  <PresentationFormat>Widescreen</PresentationFormat>
  <Paragraphs>170</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-apple-system</vt:lpstr>
      <vt:lpstr>Aptos</vt:lpstr>
      <vt:lpstr>Aptos Display</vt:lpstr>
      <vt:lpstr>Arial</vt:lpstr>
      <vt:lpstr>Courier New</vt:lpstr>
      <vt:lpstr>Menlo</vt:lpstr>
      <vt:lpstr>Office Theme</vt:lpstr>
      <vt:lpstr>SONiC PON HLD Summary</vt:lpstr>
      <vt:lpstr>Brief Overview of PON</vt:lpstr>
      <vt:lpstr>SONiC PON Integration – High-Level Architecture</vt:lpstr>
      <vt:lpstr>Architectural Goals</vt:lpstr>
      <vt:lpstr>Container: docker-pon-manager</vt:lpstr>
      <vt:lpstr>PonOrch</vt:lpstr>
      <vt:lpstr>Container: docker-pon-syncd</vt:lpstr>
      <vt:lpstr>High Level Container and Deployment Architecture</vt:lpstr>
      <vt:lpstr>A Note About Hardware Architecture</vt:lpstr>
      <vt:lpstr>Container Launch Logic</vt:lpstr>
      <vt:lpstr>Data Model</vt:lpstr>
      <vt:lpstr>Notes on Redis DB</vt:lpstr>
      <vt:lpstr>CLI Examples</vt:lpstr>
      <vt:lpstr>PON Counters</vt:lpstr>
      <vt:lpstr>ponutil</vt:lpstr>
      <vt:lpstr>SAI</vt:lpstr>
      <vt:lpstr>1904.2 Frame Handling</vt:lpstr>
      <vt:lpstr>Performance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Gosselin-Harris, Kyle</dc:creator>
  <cp:lastModifiedBy>Gosselin-Harris, Kyle</cp:lastModifiedBy>
  <cp:revision>2</cp:revision>
  <dcterms:created xsi:type="dcterms:W3CDTF">2026-07-28T15:41:39Z</dcterms:created>
  <dcterms:modified xsi:type="dcterms:W3CDTF">2026-08-04T16:06:03Z</dcterms:modified>
</cp:coreProperties>
</file>